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e2c783bd344b99" /><Relationship Type="http://schemas.openxmlformats.org/officeDocument/2006/relationships/extended-properties" Target="/docProps/app.xml" Id="Rc1c14516062c4c22" /><Relationship Type="http://schemas.openxmlformats.org/officeDocument/2006/relationships/officeDocument" Target="/ppt/presentation.xml" Id="R869a729692194e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194d2c74b14d2c"/>
  </p:sldMasterIdLst>
  <p:notesMasterIdLst>
    <p:notesMasterId xmlns:r="http://schemas.openxmlformats.org/officeDocument/2006/relationships" r:id="R382de55a28fc4637"/>
  </p:notesMasterIdLst>
  <p:sldIdLst>
    <p:sldId xmlns:r="http://schemas.openxmlformats.org/officeDocument/2006/relationships" id="256" r:id="Rbda48e98b8274edd"/>
    <p:sldId xmlns:r="http://schemas.openxmlformats.org/officeDocument/2006/relationships" id="257" r:id="Rcb022141d8484572"/>
    <p:sldId xmlns:r="http://schemas.openxmlformats.org/officeDocument/2006/relationships" id="258" r:id="Rfe0fc431e6264a77"/>
    <p:sldId xmlns:r="http://schemas.openxmlformats.org/officeDocument/2006/relationships" id="259" r:id="R7779df00ab8e4d5d"/>
    <p:sldId xmlns:r="http://schemas.openxmlformats.org/officeDocument/2006/relationships" id="260" r:id="R527a5b8dec6e4bd3"/>
    <p:sldId xmlns:r="http://schemas.openxmlformats.org/officeDocument/2006/relationships" id="261" r:id="Rca5f8b0c500c4d1a"/>
    <p:sldId xmlns:r="http://schemas.openxmlformats.org/officeDocument/2006/relationships" id="262" r:id="R739abc7e13e14c91"/>
    <p:sldId xmlns:r="http://schemas.openxmlformats.org/officeDocument/2006/relationships" id="263" r:id="R9bfdca5f6bd54429"/>
    <p:sldId xmlns:r="http://schemas.openxmlformats.org/officeDocument/2006/relationships" id="264" r:id="Rb49bc0eec67248dc"/>
    <p:sldId xmlns:r="http://schemas.openxmlformats.org/officeDocument/2006/relationships" id="265" r:id="R15bd298a0647416d"/>
    <p:sldId xmlns:r="http://schemas.openxmlformats.org/officeDocument/2006/relationships" id="266" r:id="R5b0e57856e1c4592"/>
    <p:sldId xmlns:r="http://schemas.openxmlformats.org/officeDocument/2006/relationships" id="267" r:id="R6115c25de6e245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793df4d4d049f6" /><Relationship Type="http://schemas.openxmlformats.org/officeDocument/2006/relationships/slideMaster" Target="/ppt/slideMasters/slideMaster1.xml" Id="R57194d2c74b14d2c" /><Relationship Type="http://schemas.openxmlformats.org/officeDocument/2006/relationships/notesMaster" Target="/ppt/notesMasters/notesMaster1.xml" Id="R382de55a28fc4637" /><Relationship Type="http://schemas.openxmlformats.org/officeDocument/2006/relationships/presProps" Target="/ppt/presProps.xml" Id="R462766bb7a6c4f55" /><Relationship Type="http://schemas.openxmlformats.org/officeDocument/2006/relationships/viewProps" Target="/ppt/viewProps.xml" Id="R14fbb1b4ec1d439f" /><Relationship Type="http://schemas.openxmlformats.org/officeDocument/2006/relationships/tableStyles" Target="/ppt/tableStyles.xml" Id="Rc2bb847238954b65" /><Relationship Type="http://schemas.openxmlformats.org/officeDocument/2006/relationships/slide" Target="/ppt/slides/slide1.xml" Id="Rbda48e98b8274edd" /><Relationship Type="http://schemas.openxmlformats.org/officeDocument/2006/relationships/slide" Target="/ppt/slides/slide2.xml" Id="Rcb022141d8484572" /><Relationship Type="http://schemas.openxmlformats.org/officeDocument/2006/relationships/slide" Target="/ppt/slides/slide3.xml" Id="Rfe0fc431e6264a77" /><Relationship Type="http://schemas.openxmlformats.org/officeDocument/2006/relationships/slide" Target="/ppt/slides/slide4.xml" Id="R7779df00ab8e4d5d" /><Relationship Type="http://schemas.openxmlformats.org/officeDocument/2006/relationships/slide" Target="/ppt/slides/slide5.xml" Id="R527a5b8dec6e4bd3" /><Relationship Type="http://schemas.openxmlformats.org/officeDocument/2006/relationships/slide" Target="/ppt/slides/slide6.xml" Id="Rca5f8b0c500c4d1a" /><Relationship Type="http://schemas.openxmlformats.org/officeDocument/2006/relationships/slide" Target="/ppt/slides/slide7.xml" Id="R739abc7e13e14c91" /><Relationship Type="http://schemas.openxmlformats.org/officeDocument/2006/relationships/slide" Target="/ppt/slides/slide8.xml" Id="R9bfdca5f6bd54429" /><Relationship Type="http://schemas.openxmlformats.org/officeDocument/2006/relationships/slide" Target="/ppt/slides/slide9.xml" Id="Rb49bc0eec67248dc" /><Relationship Type="http://schemas.openxmlformats.org/officeDocument/2006/relationships/slide" Target="/ppt/slides/slide10.xml" Id="R15bd298a0647416d" /><Relationship Type="http://schemas.openxmlformats.org/officeDocument/2006/relationships/slide" Target="/ppt/slides/slide11.xml" Id="R5b0e57856e1c4592" /><Relationship Type="http://schemas.openxmlformats.org/officeDocument/2006/relationships/slide" Target="/ppt/slides/slide12.xml" Id="R6115c25de6e2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7f8662232f45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630a733766436d" /><Relationship Type="http://schemas.openxmlformats.org/officeDocument/2006/relationships/notesMaster" Target="/ppt/notesMasters/notesMaster1.xml" Id="Rc741162613df42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3276bfe4854d79" /><Relationship Type="http://schemas.openxmlformats.org/officeDocument/2006/relationships/notesMaster" Target="/ppt/notesMasters/notesMaster1.xml" Id="R269c4e80ad0144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19318688d54a6e" /><Relationship Type="http://schemas.openxmlformats.org/officeDocument/2006/relationships/notesMaster" Target="/ppt/notesMasters/notesMaster1.xml" Id="R9be509ad8e8842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ec57eb0ca840d9" /><Relationship Type="http://schemas.openxmlformats.org/officeDocument/2006/relationships/notesMaster" Target="/ppt/notesMasters/notesMaster1.xml" Id="R2c7d8310a2354b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0d021192ac447f" /><Relationship Type="http://schemas.openxmlformats.org/officeDocument/2006/relationships/notesMaster" Target="/ppt/notesMasters/notesMaster1.xml" Id="Rcffabd6dab9e4b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a43e56e0fb4497" /><Relationship Type="http://schemas.openxmlformats.org/officeDocument/2006/relationships/notesMaster" Target="/ppt/notesMasters/notesMaster1.xml" Id="Rde0393ef851747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60a39cb752481b" /><Relationship Type="http://schemas.openxmlformats.org/officeDocument/2006/relationships/notesMaster" Target="/ppt/notesMasters/notesMaster1.xml" Id="R01619d5cebdc4a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0c5afed0a349a4" /><Relationship Type="http://schemas.openxmlformats.org/officeDocument/2006/relationships/notesMaster" Target="/ppt/notesMasters/notesMaster1.xml" Id="R7a8165bed32640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3acff3777b48ad" /><Relationship Type="http://schemas.openxmlformats.org/officeDocument/2006/relationships/notesMaster" Target="/ppt/notesMasters/notesMaster1.xml" Id="R34ef39383fb742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d2b715423a40a7" /><Relationship Type="http://schemas.openxmlformats.org/officeDocument/2006/relationships/notesMaster" Target="/ppt/notesMasters/notesMaster1.xml" Id="R59bd94d2839c4f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2362b516664599" /><Relationship Type="http://schemas.openxmlformats.org/officeDocument/2006/relationships/notesMaster" Target="/ppt/notesMasters/notesMaster1.xml" Id="Rf8f70275afc742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081783585e43b9" /><Relationship Type="http://schemas.openxmlformats.org/officeDocument/2006/relationships/notesMaster" Target="/ppt/notesMasters/notesMaster1.xml" Id="R257d1ed72d3d4b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d6458dbbe4c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908cab8dc94f83" /><Relationship Type="http://schemas.openxmlformats.org/officeDocument/2006/relationships/slideLayout" Target="/ppt/slideLayouts/slideLayout1.xml" Id="R87aa025d33cc47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aa025d33cc47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35189fc55442e" /><Relationship Type="http://schemas.openxmlformats.org/officeDocument/2006/relationships/image" Target="/ppt/media/image.jpeg" Id="Re781060f9c6547d5" /><Relationship Type="http://schemas.openxmlformats.org/officeDocument/2006/relationships/notesSlide" Target="/ppt/notesSlides/notesSlide1.xml" Id="Rb9906316ef5141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833917dbe407d" /><Relationship Type="http://schemas.openxmlformats.org/officeDocument/2006/relationships/image" Target="/ppt/media/image2.jpeg" Id="R8bd40933d80a4861" /><Relationship Type="http://schemas.openxmlformats.org/officeDocument/2006/relationships/notesSlide" Target="/ppt/notesSlides/notesSlide2.xml" Id="R2437adb7f6e04c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892be36b14205" /><Relationship Type="http://schemas.openxmlformats.org/officeDocument/2006/relationships/image" Target="/ppt/media/image3.jpeg" Id="R443a93137d664ac2" /><Relationship Type="http://schemas.openxmlformats.org/officeDocument/2006/relationships/notesSlide" Target="/ppt/notesSlides/notesSlide3.xml" Id="R6b423f2c219944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c45d383dc48fd" /><Relationship Type="http://schemas.openxmlformats.org/officeDocument/2006/relationships/image" Target="/ppt/media/image4.jpeg" Id="R3e6d65ba984a41ec" /><Relationship Type="http://schemas.openxmlformats.org/officeDocument/2006/relationships/notesSlide" Target="/ppt/notesSlides/notesSlide4.xml" Id="R027f525e9de640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cfa88951f42b1" /><Relationship Type="http://schemas.openxmlformats.org/officeDocument/2006/relationships/image" Target="/ppt/media/image5.jpeg" Id="R45298d8ee5e445f2" /><Relationship Type="http://schemas.openxmlformats.org/officeDocument/2006/relationships/notesSlide" Target="/ppt/notesSlides/notesSlide5.xml" Id="R79557bfe046448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ff57c715e4f13" /><Relationship Type="http://schemas.openxmlformats.org/officeDocument/2006/relationships/image" Target="/ppt/media/image6.jpeg" Id="Ra4a2998cd66548db" /><Relationship Type="http://schemas.openxmlformats.org/officeDocument/2006/relationships/notesSlide" Target="/ppt/notesSlides/notesSlide6.xml" Id="Rec91cb15ce954c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2f9e94d894e87" /><Relationship Type="http://schemas.openxmlformats.org/officeDocument/2006/relationships/image" Target="/ppt/media/image7.jpeg" Id="R1ee988d6bdd84221" /><Relationship Type="http://schemas.openxmlformats.org/officeDocument/2006/relationships/notesSlide" Target="/ppt/notesSlides/notesSlide7.xml" Id="R46a4ab3e70d647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3b3f405224c91" /><Relationship Type="http://schemas.openxmlformats.org/officeDocument/2006/relationships/image" Target="/ppt/media/image8.jpeg" Id="R2754039023044f66" /><Relationship Type="http://schemas.openxmlformats.org/officeDocument/2006/relationships/notesSlide" Target="/ppt/notesSlides/notesSlide8.xml" Id="Rf254182189d840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cf927b240457d" /><Relationship Type="http://schemas.openxmlformats.org/officeDocument/2006/relationships/image" Target="/ppt/media/image9.jpeg" Id="R36b2fc0b9eed458b" /><Relationship Type="http://schemas.openxmlformats.org/officeDocument/2006/relationships/notesSlide" Target="/ppt/notesSlides/notesSlide9.xml" Id="R49f33237050043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fd77798d14069" /><Relationship Type="http://schemas.openxmlformats.org/officeDocument/2006/relationships/image" Target="/ppt/media/image10.jpeg" Id="R43eca5abdf784205" /><Relationship Type="http://schemas.openxmlformats.org/officeDocument/2006/relationships/notesSlide" Target="/ppt/notesSlides/notesSlide10.xml" Id="R4042b51b051d43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c233edc25478e" /><Relationship Type="http://schemas.openxmlformats.org/officeDocument/2006/relationships/image" Target="/ppt/media/image11.jpeg" Id="R7a27a1f8a67f4fde" /><Relationship Type="http://schemas.openxmlformats.org/officeDocument/2006/relationships/notesSlide" Target="/ppt/notesSlides/notesSlide11.xml" Id="Rb5bf595afe6d44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2dc4e9bf8404f" /><Relationship Type="http://schemas.openxmlformats.org/officeDocument/2006/relationships/image" Target="/ppt/media/image12.jpeg" Id="R7dde0bb1ed9647f6" /><Relationship Type="http://schemas.openxmlformats.org/officeDocument/2006/relationships/notesSlide" Target="/ppt/notesSlides/notesSlide12.xml" Id="Rd6cf7b59ec8545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1060f9c6547d5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1040F-6B93-4A38-AC1D-CB15FB9D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46EF3-6A90-499C-8A10-0346F902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41719-5252-44EE-9521-C3476DCE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TECNOTITAN CORPORATE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B46D7-52BA-4296-A843-6DB783EE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6429B-EF73-4FB5-88EA-E9D89866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6FF"/>
          </a:solidFill>
          <a:ln xmlns:a="http://schemas.openxmlformats.org/drawingml/2006/main" w="0">
            <a:solidFill>
              <a:srgbClr val="55E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D5E9B-94A3-4FD6-A554-AA6686CF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미래를 구축해야 하는 기업을 위한 응용 기술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1F4FA-C7DE-44E3-BEA9-45AC78E8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콜롬비아에서 글로벌 시장을 향해 소프트웨어, 인공지능, 게임, 로보틱스, 기술 전환 컨설팅을 제공합니다.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ACDC6-ADB7-49BB-934F-86FC2E3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0">
              <a:alpha val="80000"/>
            </a:srgbClr>
          </a:solidFill>
          <a:ln xmlns:a="http://schemas.openxmlformats.org/drawingml/2006/main" w="9525">
            <a:solidFill>
              <a:srgbClr val="244D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4086B-9227-4118-9D5D-AE629655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David Arias Giraldo, CEO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B0665-DA9C-42F5-8A9C-BD725040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958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0">
              <a:alpha val="80000"/>
            </a:srgbClr>
          </a:solidFill>
          <a:ln xmlns:a="http://schemas.openxmlformats.org/drawingml/2006/main" w="9525">
            <a:solidFill>
              <a:srgbClr val="244D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1634C-CFCA-4DD8-85FB-DDFFAF9F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006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Investor Deck /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F298F-17E9-4DD8-871B-891AB942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DFD91-DC42-4839-A89F-6DAE86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05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BA796-F7B6-4FAC-84B0-706F9DE6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860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6개 제품 라인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E7257-3DD7-4866-9673-F34544B8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02433-02D7-4D27-8A7B-82D9EE0C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051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14E76-BED6-4765-AFC6-78AF0ABF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861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5개 기술 부문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F23C2-A890-4E1F-992D-44FC166E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D8794-789C-40D3-8D7E-68D05D7B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052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A42439-B1B9-45A1-9FDA-370CCDC0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862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실행 중심의 린 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DDEFC-A31B-46B3-A3C7-F607673A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70E10-6119-4F11-B233-589D85E0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9CBAF-32E7-4657-A697-FDB399CB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KO / 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6430F-95D2-4143-A10A-9EFF889E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8228552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40933d80a486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9C574-6BF0-4FEF-8B13-36D1CB1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C1ABD-B9B0-436D-A5AF-53EAB3C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5E305-0767-41B4-8552-8E7E2A2D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투자 논리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8E927-162A-4735-B2A2-1586A4C9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5715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기업에는 조언자뿐 아니라 구축자가 필요합니다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7FBAA-6E7F-45DE-BEA0-1A105A6D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571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진짜 AI 도입에는 진단, 소프트웨어, 데이터, 자동화, 운영 문화가 하나의 시스템으로 작동해야 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61340-9655-4A09-B0A3-08F7F6FD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3187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5EEE3-CD22-4C96-91BF-33FC6D1C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409B1-9D19-468F-8722-4B2F564F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84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AI + 소프트웨어 코어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EFE05-6821-496B-84BE-47835551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700" y="52197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44F65-43D0-413B-BDEB-98F61E25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050" y="4629150"/>
            <a:ext cx="3187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B7963-9A50-4153-9DAB-86FB0930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800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7F26A-DA68-4C40-B029-C7D8AC5A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143500"/>
            <a:ext cx="284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도입을 돕는 인터랙티브 경험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65AF8-015B-452D-AB47-C8F89DAF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850" y="52197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B9DAF-9121-4373-9161-3C0B6E34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0" y="4629150"/>
            <a:ext cx="3187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FC2C1-8C07-4A09-B5E1-2EBD281F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4800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B68ED-49F3-4819-BB72-D8A49A44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5143500"/>
            <a:ext cx="284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로보틱스와 자동화 프런티어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FFE4C-B371-474C-99B0-4EA2BFF3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97B7B-3070-452F-9022-66FDA06D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2C927-7F46-4742-ADB9-48ECF6FC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KO / 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18B35-455D-4748-A6DD-0DCF9891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7309426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a93137d664ac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5FEB4-7DE7-47D7-963F-80BCC770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9331D-D7E9-462E-88BB-9B106837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AA68A-BA53-422C-9EC3-52E36836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문제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9553B-CE3C-4969-843B-C7B055FF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61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기술 전환은 사일로에 갇히면 멈춥니다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51440-DDE8-4600-9E53-D895AFE3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561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많은 기업은 수작업, 활용되지 않는 데이터, AI 도입 압박, 아이디어를 제품으로 전환하는 명확한 경로 부족을 겪습니다.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C014D-BF8A-4F1C-8267-9475DDC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24000"/>
            <a:ext cx="3476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FAC74-11FD-4400-8C10-07DD345F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6859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1AE67-89D5-4374-9855-D7AC2A5D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2600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반복 업무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62152-B6CD-4EAC-9E60-CAA198CE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24100"/>
            <a:ext cx="3476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D893E-ED70-4A07-BF6C-2A2ACB49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860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7EDBC-FCBD-40D8-906C-D8E156C2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66975"/>
            <a:ext cx="2600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행동으로 이어지지 않는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0ADEE-E364-4A5A-8247-14B3B9D1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24200"/>
            <a:ext cx="3476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DA5D6-8ECC-4077-A7DC-AA9E2C2B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861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50D0A-A274-4532-84B4-55B2AB84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67075"/>
            <a:ext cx="2600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도입되지 않는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93CFA-0084-4DBA-A9C2-11F8DE90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24300"/>
            <a:ext cx="3476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D39F3-D70F-469D-8EA2-D9A7DF8F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862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509D9-87B4-40B7-A5C2-DC1140A6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67175"/>
            <a:ext cx="2600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플레이북 없는 인재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6910F-B275-4A3E-B987-6D694232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7C7"/>
                </a:solidFill>
                <a:latin typeface="Aptos"/>
                <a:ea typeface="Aptos"/>
                <a:cs typeface="Aptos"/>
              </a:rPr>
              <a:t>Manual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59628-0B4D-400A-A16D-4A8A121D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9525">
            <a:solidFill>
              <a:srgbClr val="1936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8304D-704C-4AEB-87C9-F37EB13B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6FF"/>
          </a:solidFill>
          <a:ln xmlns:a="http://schemas.openxmlformats.org/drawingml/2006/main" w="0">
            <a:solidFill>
              <a:srgbClr val="55E6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08C7D-DE97-4A39-91CE-1CEA007D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7C7"/>
                </a:solidFill>
                <a:latin typeface="Aptos"/>
                <a:ea typeface="Aptos"/>
                <a:cs typeface="Aptos"/>
              </a:rPr>
              <a:t>Data activation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EFD9E-1F22-4EEC-99F2-35E875B3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9525">
            <a:solidFill>
              <a:srgbClr val="1936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3B741C-929D-4F64-98E3-42FC9CE2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F5A0"/>
          </a:solidFill>
          <a:ln xmlns:a="http://schemas.openxmlformats.org/drawingml/2006/main" w="0">
            <a:solidFill>
              <a:srgbClr val="41F5A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72C21-C180-468C-94EB-F94EB625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7C7"/>
                </a:solidFill>
                <a:latin typeface="Aptos"/>
                <a:ea typeface="Aptos"/>
                <a:cs typeface="Aptos"/>
              </a:rPr>
              <a:t>AI adoption gap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E99C4F-D8C9-49FE-81F1-A604F516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9525">
            <a:solidFill>
              <a:srgbClr val="19364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77DEB8-CC97-4AE5-9E86-E351006D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2838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6B"/>
          </a:solidFill>
          <a:ln xmlns:a="http://schemas.openxmlformats.org/drawingml/2006/main" w="0">
            <a:solidFill>
              <a:srgbClr val="FFCF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68473C-2418-4752-A51B-68EA98FE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54CA7-BF89-4617-9DAE-3D8FDCD6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DDD23-ACDE-4220-ACD0-C87447DD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KO / 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922320-9CBA-478B-8177-987A3E23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3129127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d65ba984a41ec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344F9-F97D-4301-9288-A8743DE5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7B706-00A2-4346-8068-A43DE32F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6F53C-E357-4FDE-8523-B8D16478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플랫폼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AB12D-2F98-45D9-8D22-4C697ECB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619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Tecnotitan은 컨설팅을 제품으로, 제품을 플랫폼으로 전환합니다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0FEB8-5FD1-4298-B0C2-89F1591B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19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모든 프로젝트는 재사용 가능한 모듈, 산업 지식, 역량을 축적해 새로운 솔루션을 가속합니다.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24435-8A92-4759-9656-AE453DB2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22408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873FE-5862-4EB5-B3C2-2044C865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8954F-4AA1-4C56-AFE3-94B6E0E9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1881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진단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8D1EB-E20A-41A5-B900-213EE2BF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4381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6325E-2906-4C4B-9475-F97BBA96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8" y="3790950"/>
            <a:ext cx="222408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D5686-6852-467A-A8BD-8ADFD734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3DE5F-A8DB-497F-9D7A-180110E2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4305300"/>
            <a:ext cx="1881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구축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37DCD-20E8-43C3-AF92-8472D8D2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81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B8A33-026E-41CF-AEF0-17376A8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790950"/>
            <a:ext cx="222408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3B78E-6969-42AA-8066-BD6B2568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29628-9ECE-40EF-B4C6-3B4EF3D3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305300"/>
            <a:ext cx="1881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제품화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F65F2-2A92-4E66-8DE4-19667DAF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63" y="4381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282B3-AD5E-4B20-9765-8E1420A9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790950"/>
            <a:ext cx="222408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A178A-03FA-42F5-A888-F18B605B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451E1-0977-4948-A572-177B4BF9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4305300"/>
            <a:ext cx="1881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확장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4517C-0D9E-4A19-B0E1-762F1D64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768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Reusable IP, sector knowledge and operating playbooks compound across every project.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BCF63-C942-45CB-B627-8E78D91E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1B7B5-DF99-48CE-B959-F8B2AEED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125B6-ED5D-4CF1-AAA7-B7526006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KO / 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13D8E-08D4-4EDC-B81F-6F275055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9341168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98d8ee5e445f2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C0C8E-CCF7-4A1D-81C6-CF4DE28D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EE8EE-6075-4F28-88C6-B5A22972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349A5-8540-48A9-99D5-1349753C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포트폴리오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255E5-788F-4C17-9448-7E83F305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581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기업, 인재, 디지털 경험을 위한 제품 시스템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9B72E-1EB5-451D-AB82-8CEC9C4E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581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긴급한 니즈로 진입하고 운영, 학습, 응용 지능으로 확장되도록 설계되었습니다.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28D7A-B08A-4C57-B312-BFC69569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4A04A-88B9-4BD4-972A-6655CE25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Copiloto Pyme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1D367-F9AA-45A8-8DAE-2861F100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195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53DEC-42D8-4625-8964-B01F5053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290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 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57599-B971-40FB-9997-00DD32C9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195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16517-4430-4930-A58F-48EE1C63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Life Copilot 모바일 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1DDE0-C7A3-486D-861E-92C03B39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CFBBF-7309-4695-9F40-D3F1C5BC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094E0-F51C-4BBF-9C02-949A3C69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720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19524-360D-4702-B256-2219FCF0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815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 Academy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E85AC-5019-46FB-A05F-B36B7B6B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720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CFCA2-E040-4F1A-BCD8-A69D01FF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815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 AI Call Center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229FC-3F79-4E37-AFFA-3EAE1062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0EFE4-0CE5-4BB5-B7AA-158CE938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0BBB4-2C09-41BB-843B-96930900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KO / 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D4FF4-6A0B-4B3A-9DF4-4243EA59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9839872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2998cd66548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DEBAD-034E-42A3-A278-2E9050F5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C1242-DE4C-4760-98D5-257E711F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82E30-AE6E-403E-B007-04BAA855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10F91-27A4-4A6C-821A-CF27F55B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581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컨설팅은 매출과 시장 학습을 가속합니다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31D2C-FF95-4BC1-9D60-899CEE24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581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서비스는 신뢰를 만들고 실제 문제를 발견하며 구현 경험을 반복 가능한 자산으로 전환합니다.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6F947-B58E-4DA8-9529-1411FD53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2050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360F3-A6FE-4C95-858A-FC245012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23A7F-92BB-49DB-A1BB-ADFB2609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186213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AI 진단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1798A-95A5-495E-B6DB-0F88503A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638" y="4495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951F5-5B74-4601-90FE-FF58F14D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3905250"/>
            <a:ext cx="22050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BA3BF-1F79-4D40-90B8-E5699CF6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076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688F1-3CD3-4711-99D8-5BCE71F6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419600"/>
            <a:ext cx="186213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기술 로드맵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8D31D-67D1-4A68-A45A-EA9F05D0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95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6E710-BD82-4F25-9953-8B0B27D9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905250"/>
            <a:ext cx="22050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2BE8D-6748-48A1-9C9B-3A712612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76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BE9C5-C8E7-4C51-A89B-0A53A909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19600"/>
            <a:ext cx="186213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구현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1063E-29E0-4A81-969B-7CA16C48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4495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41CAC-5793-4C96-90C8-65E75E7F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963" y="3905250"/>
            <a:ext cx="22050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764ED-AE16-4C22-989B-38134374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13" y="4076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DFE51-309F-405A-8B95-71718915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13" y="4419600"/>
            <a:ext cx="186213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도입과 교육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78254-C9CD-41D1-A22C-913F9D69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292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Services are the market-sensing engine that turns demand into product decisions.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77B27-DD06-4E29-ADFD-DA6AE92C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22C913-1BCC-46A2-9B0E-DB8C13B8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4BA34-2392-485F-B9E8-8AA1F6E5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KO / 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3D7E2-7043-412B-B291-61C2D2F1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601206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988d6bdd8422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2E1D2-265D-49CF-8399-EA5CFDD1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5CB8A-7DFA-4A8C-A88F-25A68589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E3332-0D86-45C4-BE1F-C86CE0D7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부문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D116E-3805-48CB-93E2-FB9F2999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81100"/>
            <a:ext cx="619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5개 부문이 IP, 데이터, 인재를 공유합니다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1FD44-758C-49A6-884A-9EC9B2A6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19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소프트웨어, AI, 게임, 로보틱스, 기술 전환은 고립된 사업이 아니라 하나의 공통 아키텍처로 운영됩니다.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98E42-F666-42CE-8492-FB2CB00D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117">
              <a:alpha val="93333"/>
            </a:srgbClr>
          </a:solidFill>
          <a:ln xmlns:a="http://schemas.openxmlformats.org/drawingml/2006/main" w="19050">
            <a:solidFill>
              <a:srgbClr val="55E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F588C-E1EB-473E-B85E-FF19CD0D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814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</a:t>
            </a:r>
          </a:p>
          <a:p xmlns:a="http://schemas.openxmlformats.org/drawingml/2006/main">
            <a:pPr algn="ctr">
              <a:defRPr sz="180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18FE4-D996-4C5C-BD50-DE06DB1A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57700"/>
            <a:ext cx="3848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Shared IP, data and reusable playbooks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70B9F-A057-41FB-8E92-C6025B7D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038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41EC6-3058-4340-965E-BFF232B7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소프트웨어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D9CB9-65E6-4D99-8699-8F2D27FE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625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2784C-6E92-487D-ADE3-9DD2C20D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038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29DC1-C0CB-4ECB-B8AE-BD747202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530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인공지능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11ECA-A0F2-48F3-94CF-A0EE4774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BA567A-553B-49DD-9339-4E19D019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43500"/>
            <a:ext cx="2038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358A0-3517-4992-BEF0-1B833364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3530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게임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4F7DD-679B-4C40-ADD1-C99855E4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0BF85-34A7-4FB0-BA4D-1FC57C51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2038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641D5C-843C-42D6-AD3D-07D4030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530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로보틱스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06986-E8F6-4A2B-BC50-EAC59B1C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765D6-0642-4935-AD5B-27F416B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43500"/>
            <a:ext cx="2038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209AF-F354-42DF-BF82-94969DF2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35305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기술 컨설팅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ECD98-5E25-4C96-9046-02CFFBD9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625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735781-3CB6-4F45-A0FD-8D594296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762500"/>
            <a:ext cx="868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4724EC-2931-446E-8897-57CB2868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D155AE-EE06-49E2-B354-C1D7F1BF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1D9AA-972B-4E62-ADD8-48529B70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KO / 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DF70E7-5CEE-43CA-A813-D646479F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8618996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4039023044f6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4C9D8-416D-4280-94E0-8E54F11E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8F6DC-4951-4ABE-9477-2CD49F98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F09BA-9BC7-400F-9B8D-14785088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600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모델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847A9-60BB-422C-849C-318CD0A4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00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오늘은 서비스 매출, 내일은 확장 가능한 제품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0F653-A181-4257-B983-5F9CA3B9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600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모델은 컨설팅, 구현, 구독, 라이선스, 아카데미, 미래 기술 스핀오프를 결합합니다.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11D3B-36FB-4736-8418-6057D1ED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252663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1170D-2901-4B3A-8CDB-1179D5BB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5EFE0-3543-4FC6-B4BF-6635664E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190976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6649A-8FD0-450D-AEA4-605B532D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4196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0B3D8-F049-4D51-B60D-DC584B0D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3829050"/>
            <a:ext cx="2252663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BF833-48C3-430A-8679-02BADF72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4000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8CBEF-D9C4-49CA-84FC-85D3CCD3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4343400"/>
            <a:ext cx="190976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SaaS 및 라이선스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A6B6C-2610-4142-A86B-C992AB12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4196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5AD8A-5877-4759-826D-542BBE4D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829050"/>
            <a:ext cx="2252663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47BFF-A72C-466A-92B0-1D0F090C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000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D0F11-0859-47E9-BE62-96DD4F31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343400"/>
            <a:ext cx="190976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아카데미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9F770-9FCE-4B21-8508-B76337CC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44196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620D7-CADA-4D7F-BEA8-5B4FC5F4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638" y="3829050"/>
            <a:ext cx="2252663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C7C3C8-6CCC-4BD6-948C-2F1B4324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088" y="4000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A41FF-2392-4836-93C8-34ED4D31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088" y="4343400"/>
            <a:ext cx="190976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Ventures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F2C0E-6057-4731-A4B9-4B1EFF38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911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Each layer can monetize independently while feeding data, references and reusable modules back into the platform.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F97819-6CA6-4AE1-B5B6-B150FFE0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53A60-D9C9-46F6-8880-935F5B5C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CBC566-F58C-4E96-8BED-4B64E54B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KO / 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059FD7-BA7B-46B0-821F-40E553A0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3579959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2fc0b9eed458b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4096B-7273-4804-B993-75D4E366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B1AFB-2FAB-4DFA-9905-338989C2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FE360-E07B-4E44-AE2D-5921EFA5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시장 진입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CACEE-4041-4A6A-9DF3-73F906B8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5715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운영 문제로 진입하고 플랫폼으로 확장합니다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F5BF4-22DE-405C-99A2-87A1F94E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571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Tecnotitan은 기업용 AI와 소프트웨어 프로젝트로 시작해 반복되는 사례를 해결하는 제품으로 확장할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04550-FF88-4B3A-9F3A-D7B5E5BF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348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830F3-E817-4B95-B879-3136F50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097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40402-F0A0-4C4D-A112-24A4FACA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90675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라틴아메리카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059BE-45C0-41AF-B2B6-F464B775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348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F62A9-B6DD-4E75-BA40-4C35125E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98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B37FA-56EB-4FF8-B430-CD947AFE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중견기업과 대기업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6121D-34B9-4FDB-B2F9-CD45BB9F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48000"/>
            <a:ext cx="348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E513A-FB39-4856-9280-CC687EE1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099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65263-9E36-4AE4-8078-4F9107A3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90875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글로벌 파트너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7AA8-598A-4DB7-B22A-9CAEF558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48100"/>
            <a:ext cx="348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A5FC8-67E3-4564-A86C-D73413E3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100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307A3-3B47-4AAA-91BE-C7D327A8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90975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전략 투자자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4E13A-5FA8-4E08-A1FA-C84FAEAD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228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EAA2F-A746-411A-B70F-FF5344AD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7B8A8-B2C8-46D9-B95B-D23C613B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E5C0D-9BD5-4980-AA35-9E5ED042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673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74D34-93D1-4921-9E6D-708C09D1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76800"/>
            <a:ext cx="2228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BF39C8-29DE-43A7-87DC-C4AD796C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4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D4261-74C9-48A9-841F-8D5AF4FF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91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F0F27B-6C44-4E76-AD85-36CD3DE3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673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79BE46-474C-4875-98FA-5198C43D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76800"/>
            <a:ext cx="2228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761F40-5EC8-4F07-A4E0-33FF0C3D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4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C84509-699B-4215-934C-E8020DD2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91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Product expansion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8E27C-0D20-48B9-9671-7FADEAC1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673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3357F7-5291-4EC5-A3F8-C8699D33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76800"/>
            <a:ext cx="2228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42A06E-8DF2-4328-BD77-2079D2C4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4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C61FF-0FFC-4278-A4CC-B93F55DD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91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Strategic partner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AC222D-658A-4A8F-8C3E-DA8D5CC1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74685E-1B5A-47F2-9B4F-4E1B8667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16DA5D-AED7-4FB3-91C6-8D1BCC06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KO / 09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C88837-62C9-4DA3-A6B2-2086A40B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5585506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ca5abdf7842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A6102-C664-408E-BBE2-B7D7114F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6F12D-8C9B-48CF-979D-BFA5EE81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D7F00-9D92-4C06-992C-643A1FC7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5BF7D-DE2C-4485-AE00-E0367E24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609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실행에 집중하는 린 창업팀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F9CB9-A9DE-49AF-8102-666D69C9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09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David Arias Giraldo가 CEO로서 비전을 이끌고 있습니다. 현재 회사에는 풀타임 컨설턴트 1명과 프로그래머 2명이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ADFFA-B0FE-40C7-9E7B-B3AEB1E5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4241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BF85F-41A1-4D17-8D9B-17A5DAA0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20812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창업 CEO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563DE-AE21-4563-9FBE-1C89758D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3733800"/>
            <a:ext cx="24241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D05DD-3FA6-4BB3-A493-5EEB2626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943350"/>
            <a:ext cx="20812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컨설팅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6D484-4A60-408E-AF57-8B7589AE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733800"/>
            <a:ext cx="24241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70E7A-AEA7-41D5-810E-F3C4FA8C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943350"/>
            <a:ext cx="20812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엔지니어링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E0CE9-2160-44E8-BDAA-E58A6172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3733800"/>
            <a:ext cx="24241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8FD97-D5A6-4466-B578-D215526C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738" y="3943350"/>
            <a:ext cx="20812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다음 채용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3C85B-7236-4800-BF15-428D0FD3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Hiring priorities: product engineering, AI delivery, sales development and investor relations.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DC0FD-0B4B-4E12-9BEB-E40B5EFB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91F7C-7FE9-489F-89C6-DADF77F8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0FB92-20EF-4C02-8E31-3E4847A1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KO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0AD55-C487-4C0C-A21A-9334007F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2056034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7a1f8a67f4f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1A716-50D1-48D5-8DBB-8E925EBA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1D107-4D84-4751-A203-773C5F0F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059DF-F908-49C6-90AF-39887EB9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로드맵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67CDF-983F-41DC-8C2D-9FAA5939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590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검증에서 지역 기술 플랫폼으로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74B0D-D87E-40DE-8847-042ECF85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590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실제 사례, 자체 제품, 내부 자동화, 상업 확장을 우선하며 investor-ready 수준을 높입니다.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44A92-1064-4A36-8C35-BF755A9D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280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8CB67-FD0B-439A-B862-192CD9E7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F095A-625A-449D-86FC-82BA2A55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246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2026: 사례와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DFEC2-DF38-47F3-BBBB-82375D2C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850" y="45910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53E7A-1FDC-4A34-9598-8E33CC9E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000500"/>
            <a:ext cx="280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DE0C9-317B-446C-9D8E-999D6EAA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1719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5E585-5B9F-4C09-8936-0A598616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514850"/>
            <a:ext cx="246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2027: 제품과 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0E13C-0EEE-4650-913E-188B744B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45910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2767A-23D9-41FD-AAFB-18119955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350" y="4000500"/>
            <a:ext cx="280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5560A-DAC5-4F62-ACE9-A30FB6FF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41719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9640F-DD1C-4F7E-963F-7648DE5E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4514850"/>
            <a:ext cx="246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2028: 지역 확장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44DDD-5B86-4B68-8D8F-09E56A96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9DE4D-17EB-4B30-96EB-DD5F3678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D6D51-5C23-4494-AA44-79E50D64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KO / 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B32F7-98A4-475A-B013-C399A1EF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20311537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e0bb1ed9647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3B1D3-E178-4009-A4FF-A09801C6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F2DFA-5C11-4EA7-93F3-E7DFFD23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2DC85-E860-4119-80CA-03491FA3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투자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B19C8-2024-4D21-ABFC-C0D2659D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657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제품, 영업, 인재를 가속할 자본과 파트너를 찾습니다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91135-B3DC-4C66-9969-3F084B59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657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Tecnotitan은 라틴아메리카에서 글로벌 야망을 가진 다부문 기술 회사를 구축하고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7C7E2-141A-478C-A9EC-992F9EA0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430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0EF8F-41B6-4AE9-82B3-1100C5EA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049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F5FB3-AC65-4032-969C-CB5CA861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제품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6DF1B-148F-4E46-BCBD-076E8643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BE221-505F-46DC-8996-0B9DF4E3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05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465C2-987A-4D75-8FD1-5F07B0BE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860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영업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DDCC3-DF77-4C32-9F74-C65F99FF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7E187-CE48-4D46-AB4E-2B394141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051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75D91-8AB6-4DB1-BAA3-20D20F5C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기술 인재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CBC52-656F-4811-9CC7-083AB5C8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AC104-F785-4164-980B-21880BCF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052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0D14C-D017-4C11-B789-76BCA72F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862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Data room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84157-182C-47A1-B8AF-DB8022DD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581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0">
              <a:alpha val="86667"/>
            </a:srgbClr>
          </a:solidFill>
          <a:ln xmlns:a="http://schemas.openxmlformats.org/drawingml/2006/main" w="9525">
            <a:solidFill>
              <a:srgbClr val="55E6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2C2E8-9E17-4346-BBC2-56AECABA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info@tecnotitan.com  |  www.tecnotitan.com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FA78B-FD26-4042-8C8F-E109CCCB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CC3C6-718A-4D09-907F-1B1BD815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9E9E0-5401-440B-B2D2-9E89EE2A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KO / 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0EBA2-E1E2-4C1A-91E4-8369944D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142707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2026-06-06T04:16:36.5640000Z</dcterms:created>
  <dcterms:modified xsi:type="dcterms:W3CDTF">2026-06-06T04:16:36.5650000Z</dcterms:modified>
</coreProperties>
</file>