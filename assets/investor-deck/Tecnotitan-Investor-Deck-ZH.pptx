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c228a081894dd3" /><Relationship Type="http://schemas.openxmlformats.org/officeDocument/2006/relationships/extended-properties" Target="/docProps/app.xml" Id="Rf5bf3c5ff5cd4f1c" /><Relationship Type="http://schemas.openxmlformats.org/officeDocument/2006/relationships/officeDocument" Target="/ppt/presentation.xml" Id="R7362599711f24c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9c91270c1c49db"/>
  </p:sldMasterIdLst>
  <p:notesMasterIdLst>
    <p:notesMasterId xmlns:r="http://schemas.openxmlformats.org/officeDocument/2006/relationships" r:id="R1a86205aae654708"/>
  </p:notesMasterIdLst>
  <p:sldIdLst>
    <p:sldId xmlns:r="http://schemas.openxmlformats.org/officeDocument/2006/relationships" id="256" r:id="R64f91e538e9c4fe5"/>
    <p:sldId xmlns:r="http://schemas.openxmlformats.org/officeDocument/2006/relationships" id="257" r:id="Rec4ecab6fa804276"/>
    <p:sldId xmlns:r="http://schemas.openxmlformats.org/officeDocument/2006/relationships" id="258" r:id="Rbe863b94cb964f1c"/>
    <p:sldId xmlns:r="http://schemas.openxmlformats.org/officeDocument/2006/relationships" id="259" r:id="Rd684df4a78494500"/>
    <p:sldId xmlns:r="http://schemas.openxmlformats.org/officeDocument/2006/relationships" id="260" r:id="R0e9687c34a0b46dc"/>
    <p:sldId xmlns:r="http://schemas.openxmlformats.org/officeDocument/2006/relationships" id="261" r:id="Rd7f839da03f54326"/>
    <p:sldId xmlns:r="http://schemas.openxmlformats.org/officeDocument/2006/relationships" id="262" r:id="R8efe12bd6af547b3"/>
    <p:sldId xmlns:r="http://schemas.openxmlformats.org/officeDocument/2006/relationships" id="263" r:id="Ref7f54586cf24553"/>
    <p:sldId xmlns:r="http://schemas.openxmlformats.org/officeDocument/2006/relationships" id="264" r:id="R8ccbe356bf13454c"/>
    <p:sldId xmlns:r="http://schemas.openxmlformats.org/officeDocument/2006/relationships" id="265" r:id="R7e769f8c3b66492c"/>
    <p:sldId xmlns:r="http://schemas.openxmlformats.org/officeDocument/2006/relationships" id="266" r:id="R14f1a6af86444b9e"/>
    <p:sldId xmlns:r="http://schemas.openxmlformats.org/officeDocument/2006/relationships" id="267" r:id="Rd2962029210b472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092a985c4448c6" /><Relationship Type="http://schemas.openxmlformats.org/officeDocument/2006/relationships/slideMaster" Target="/ppt/slideMasters/slideMaster1.xml" Id="R769c91270c1c49db" /><Relationship Type="http://schemas.openxmlformats.org/officeDocument/2006/relationships/notesMaster" Target="/ppt/notesMasters/notesMaster1.xml" Id="R1a86205aae654708" /><Relationship Type="http://schemas.openxmlformats.org/officeDocument/2006/relationships/presProps" Target="/ppt/presProps.xml" Id="R35c0b473229e4246" /><Relationship Type="http://schemas.openxmlformats.org/officeDocument/2006/relationships/viewProps" Target="/ppt/viewProps.xml" Id="R7e7703ad7345423d" /><Relationship Type="http://schemas.openxmlformats.org/officeDocument/2006/relationships/tableStyles" Target="/ppt/tableStyles.xml" Id="Rd0ed1d10f2074ca6" /><Relationship Type="http://schemas.openxmlformats.org/officeDocument/2006/relationships/slide" Target="/ppt/slides/slide1.xml" Id="R64f91e538e9c4fe5" /><Relationship Type="http://schemas.openxmlformats.org/officeDocument/2006/relationships/slide" Target="/ppt/slides/slide2.xml" Id="Rec4ecab6fa804276" /><Relationship Type="http://schemas.openxmlformats.org/officeDocument/2006/relationships/slide" Target="/ppt/slides/slide3.xml" Id="Rbe863b94cb964f1c" /><Relationship Type="http://schemas.openxmlformats.org/officeDocument/2006/relationships/slide" Target="/ppt/slides/slide4.xml" Id="Rd684df4a78494500" /><Relationship Type="http://schemas.openxmlformats.org/officeDocument/2006/relationships/slide" Target="/ppt/slides/slide5.xml" Id="R0e9687c34a0b46dc" /><Relationship Type="http://schemas.openxmlformats.org/officeDocument/2006/relationships/slide" Target="/ppt/slides/slide6.xml" Id="Rd7f839da03f54326" /><Relationship Type="http://schemas.openxmlformats.org/officeDocument/2006/relationships/slide" Target="/ppt/slides/slide7.xml" Id="R8efe12bd6af547b3" /><Relationship Type="http://schemas.openxmlformats.org/officeDocument/2006/relationships/slide" Target="/ppt/slides/slide8.xml" Id="Ref7f54586cf24553" /><Relationship Type="http://schemas.openxmlformats.org/officeDocument/2006/relationships/slide" Target="/ppt/slides/slide9.xml" Id="R8ccbe356bf13454c" /><Relationship Type="http://schemas.openxmlformats.org/officeDocument/2006/relationships/slide" Target="/ppt/slides/slide10.xml" Id="R7e769f8c3b66492c" /><Relationship Type="http://schemas.openxmlformats.org/officeDocument/2006/relationships/slide" Target="/ppt/slides/slide11.xml" Id="R14f1a6af86444b9e" /><Relationship Type="http://schemas.openxmlformats.org/officeDocument/2006/relationships/slide" Target="/ppt/slides/slide12.xml" Id="Rd2962029210b47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80eeeafee841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fc33447b1f42a1" /><Relationship Type="http://schemas.openxmlformats.org/officeDocument/2006/relationships/notesMaster" Target="/ppt/notesMasters/notesMaster1.xml" Id="R6edb7a8d092f45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676f9372014f1c" /><Relationship Type="http://schemas.openxmlformats.org/officeDocument/2006/relationships/notesMaster" Target="/ppt/notesMasters/notesMaster1.xml" Id="R83641e76663e4b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8046e0af6a487a" /><Relationship Type="http://schemas.openxmlformats.org/officeDocument/2006/relationships/notesMaster" Target="/ppt/notesMasters/notesMaster1.xml" Id="R34a36bba417847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4dca3815134c63" /><Relationship Type="http://schemas.openxmlformats.org/officeDocument/2006/relationships/notesMaster" Target="/ppt/notesMasters/notesMaster1.xml" Id="Re58fe84c4a0042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64945a3d004631" /><Relationship Type="http://schemas.openxmlformats.org/officeDocument/2006/relationships/notesMaster" Target="/ppt/notesMasters/notesMaster1.xml" Id="R80297760ae5247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58e877f19054182" /><Relationship Type="http://schemas.openxmlformats.org/officeDocument/2006/relationships/notesMaster" Target="/ppt/notesMasters/notesMaster1.xml" Id="R1c9b8465a0574e5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63322f1c114607" /><Relationship Type="http://schemas.openxmlformats.org/officeDocument/2006/relationships/notesMaster" Target="/ppt/notesMasters/notesMaster1.xml" Id="Rd50215f6eab94a0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a31a9119f346b7" /><Relationship Type="http://schemas.openxmlformats.org/officeDocument/2006/relationships/notesMaster" Target="/ppt/notesMasters/notesMaster1.xml" Id="R53854d9e4d6943e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688d3d92c654dec" /><Relationship Type="http://schemas.openxmlformats.org/officeDocument/2006/relationships/notesMaster" Target="/ppt/notesMasters/notesMaster1.xml" Id="R1fb8b52cbafc4ce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2c2176b208445a5" /><Relationship Type="http://schemas.openxmlformats.org/officeDocument/2006/relationships/notesMaster" Target="/ppt/notesMasters/notesMaster1.xml" Id="R43d1e8aa766a489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dcda36393264304" /><Relationship Type="http://schemas.openxmlformats.org/officeDocument/2006/relationships/notesMaster" Target="/ppt/notesMasters/notesMaster1.xml" Id="Rb7db3071031541e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1d5ee859cb74da1" /><Relationship Type="http://schemas.openxmlformats.org/officeDocument/2006/relationships/notesMaster" Target="/ppt/notesMasters/notesMaster1.xml" Id="R6d44f90e3c0445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63b5a3d1d442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2746491ec0458b" /><Relationship Type="http://schemas.openxmlformats.org/officeDocument/2006/relationships/slideLayout" Target="/ppt/slideLayouts/slideLayout1.xml" Id="Rd02eeab806ae47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2eeab806ae47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4fab8c98204b49" /><Relationship Type="http://schemas.openxmlformats.org/officeDocument/2006/relationships/image" Target="/ppt/media/image.jpeg" Id="R0e2750ebfb6f4bef" /><Relationship Type="http://schemas.openxmlformats.org/officeDocument/2006/relationships/notesSlide" Target="/ppt/notesSlides/notesSlide1.xml" Id="Rae76eae93afa4b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eb1f788a0e4ab7" /><Relationship Type="http://schemas.openxmlformats.org/officeDocument/2006/relationships/image" Target="/ppt/media/image2.jpeg" Id="R4f12de87b28c494e" /><Relationship Type="http://schemas.openxmlformats.org/officeDocument/2006/relationships/notesSlide" Target="/ppt/notesSlides/notesSlide2.xml" Id="R7eca27314ca941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d95ff0cc864f32" /><Relationship Type="http://schemas.openxmlformats.org/officeDocument/2006/relationships/image" Target="/ppt/media/image3.jpeg" Id="Rdcede73868d549c2" /><Relationship Type="http://schemas.openxmlformats.org/officeDocument/2006/relationships/notesSlide" Target="/ppt/notesSlides/notesSlide3.xml" Id="Rf99893ec943945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4046ed2a2a4800" /><Relationship Type="http://schemas.openxmlformats.org/officeDocument/2006/relationships/image" Target="/ppt/media/image4.jpeg" Id="Re02ee9c367084d84" /><Relationship Type="http://schemas.openxmlformats.org/officeDocument/2006/relationships/notesSlide" Target="/ppt/notesSlides/notesSlide4.xml" Id="R21f1c451b78d4e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11f97a49624b87" /><Relationship Type="http://schemas.openxmlformats.org/officeDocument/2006/relationships/image" Target="/ppt/media/image5.jpeg" Id="R9f995acafdfd4f11" /><Relationship Type="http://schemas.openxmlformats.org/officeDocument/2006/relationships/notesSlide" Target="/ppt/notesSlides/notesSlide5.xml" Id="Rdbe8809dc50747f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91b7ac452b419b" /><Relationship Type="http://schemas.openxmlformats.org/officeDocument/2006/relationships/image" Target="/ppt/media/image6.jpeg" Id="Rcc1978d07b984552" /><Relationship Type="http://schemas.openxmlformats.org/officeDocument/2006/relationships/notesSlide" Target="/ppt/notesSlides/notesSlide6.xml" Id="Rf9cd477f4d374e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c7c6d943c74f74" /><Relationship Type="http://schemas.openxmlformats.org/officeDocument/2006/relationships/image" Target="/ppt/media/image7.jpeg" Id="Rdcea8b2213f24798" /><Relationship Type="http://schemas.openxmlformats.org/officeDocument/2006/relationships/notesSlide" Target="/ppt/notesSlides/notesSlide7.xml" Id="Rcc99c6036586450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9cc1e092494fb8" /><Relationship Type="http://schemas.openxmlformats.org/officeDocument/2006/relationships/image" Target="/ppt/media/image8.jpeg" Id="R475533e31b1247b6" /><Relationship Type="http://schemas.openxmlformats.org/officeDocument/2006/relationships/notesSlide" Target="/ppt/notesSlides/notesSlide8.xml" Id="R79acc621a505419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25bd7dde18436e" /><Relationship Type="http://schemas.openxmlformats.org/officeDocument/2006/relationships/image" Target="/ppt/media/image9.jpeg" Id="R6bd8aaefe4fc41ec" /><Relationship Type="http://schemas.openxmlformats.org/officeDocument/2006/relationships/notesSlide" Target="/ppt/notesSlides/notesSlide9.xml" Id="R7a5a19244a4e4d2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2e3fafcb8a43e1" /><Relationship Type="http://schemas.openxmlformats.org/officeDocument/2006/relationships/image" Target="/ppt/media/image10.jpeg" Id="R8ff208a7ffd444ab" /><Relationship Type="http://schemas.openxmlformats.org/officeDocument/2006/relationships/notesSlide" Target="/ppt/notesSlides/notesSlide10.xml" Id="R874e60cbe83c46d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f3eb04c02a41ae" /><Relationship Type="http://schemas.openxmlformats.org/officeDocument/2006/relationships/image" Target="/ppt/media/image11.jpeg" Id="Rb0a72b2b93b24a6c" /><Relationship Type="http://schemas.openxmlformats.org/officeDocument/2006/relationships/notesSlide" Target="/ppt/notesSlides/notesSlide11.xml" Id="R4b6f729ad6db4d7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85e6648593479c" /><Relationship Type="http://schemas.openxmlformats.org/officeDocument/2006/relationships/image" Target="/ppt/media/image12.jpeg" Id="R4476c69f15e74e6d" /><Relationship Type="http://schemas.openxmlformats.org/officeDocument/2006/relationships/notesSlide" Target="/ppt/notesSlides/notesSlide12.xml" Id="R425a0cf8ec0d4a9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2750ebfb6f4bef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83C527-D2E1-42F5-A0B3-6E45AAE7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406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27ADD7-E79C-471B-A2DE-5EBE92B9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064036-B68D-4991-8387-F6DB9A0E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TECNOTITAN CORPORATE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4CA906-8D45-4E62-930A-05165551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590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TECNOTITAN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AAE3D9-4A2C-4F03-8C52-9250F7C7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E6FF"/>
          </a:solidFill>
          <a:ln xmlns:a="http://schemas.openxmlformats.org/drawingml/2006/main" w="0">
            <a:solidFill>
              <a:srgbClr val="55E6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7009E3-7814-4C85-B07A-41B39119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6572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面向企业未来建设的应用技术公司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6EB409-37C3-4BF8-BED0-9EF351DC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619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来自哥伦比亚，面向全球市场，提供软件、人工智能、游戏、机器人和技术转型咨询。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75D2EB-3499-478A-B61F-6A2B07BC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820">
              <a:alpha val="80000"/>
            </a:srgbClr>
          </a:solidFill>
          <a:ln xmlns:a="http://schemas.openxmlformats.org/drawingml/2006/main" w="9525">
            <a:solidFill>
              <a:srgbClr val="244D5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B63470-762A-44AB-8EB7-1D28BF02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2266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David Arias Giraldo, CEO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F3CE3B-6B77-49F9-8D22-81A20BCA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095875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820">
              <a:alpha val="80000"/>
            </a:srgbClr>
          </a:solidFill>
          <a:ln xmlns:a="http://schemas.openxmlformats.org/drawingml/2006/main" w="9525">
            <a:solidFill>
              <a:srgbClr val="244D5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A10B83-B42B-4D99-A677-67D4DDE2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200650"/>
            <a:ext cx="2076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Investor Deck /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646AAB-75CA-4C79-A178-AE541A3E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431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E27">
              <a:alpha val="80000"/>
            </a:srgbClr>
          </a:solidFill>
          <a:ln xmlns:a="http://schemas.openxmlformats.org/drawingml/2006/main" w="9525">
            <a:solidFill>
              <a:srgbClr val="1B44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EA7F1D-33BA-4B01-A7E5-67BBD8D5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0507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FAED6D-FCD3-4039-A802-67F3DA08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86025"/>
            <a:ext cx="2266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6 条产品线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D296A2-207D-4768-8A7F-A2A7B9D7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432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1C">
              <a:alpha val="80000"/>
            </a:srgbClr>
          </a:solidFill>
          <a:ln xmlns:a="http://schemas.openxmlformats.org/drawingml/2006/main" w="9525">
            <a:solidFill>
              <a:srgbClr val="1B445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A03E8C-F926-4104-B84D-FD9744C7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0517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80F677-34C5-49C2-9AFD-BFE5B2E3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286125"/>
            <a:ext cx="2266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5 个技术事业部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C692A6-A99F-4CB0-8513-7D5DBA30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433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E27">
              <a:alpha val="80000"/>
            </a:srgbClr>
          </a:solidFill>
          <a:ln xmlns:a="http://schemas.openxmlformats.org/drawingml/2006/main" w="9525">
            <a:solidFill>
              <a:srgbClr val="1B445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78DF29-E20F-4C7B-B1D3-22DC9D24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0527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F3747E-A779-42F9-86DC-5DF9BCB7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086225"/>
            <a:ext cx="2266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精简执行团队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14D955-7BFC-44A6-8325-C18280F1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TECNOTITAN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48164E-5673-4077-BDC8-BF948041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21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7D6"/>
          </a:solidFill>
          <a:ln xmlns:a="http://schemas.openxmlformats.org/drawingml/2006/main" w="0">
            <a:solidFill>
              <a:srgbClr val="16B7D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BF4D15-02E2-43A3-8A4B-E0E3CC2B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19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ZH / 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B5178F-F598-4B0C-B66C-0D274769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05550"/>
            <a:ext cx="2209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7D8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D8C"/>
                </a:solidFill>
                <a:latin typeface="Aptos"/>
                <a:ea typeface="Aptos"/>
                <a:cs typeface="Aptos"/>
              </a:rPr>
              <a:t>www.tecnotitan.com</a:t>
            </a:r>
          </a:p>
        </p:txBody>
      </p:sp>
    </p:spTree>
    <p:extLst>
      <p:ext uri="{BB962C8B-B14F-4D97-AF65-F5344CB8AC3E}">
        <p14:creationId xmlns:p14="http://schemas.microsoft.com/office/powerpoint/2010/main" val="68272380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12de87b28c494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DAA2FB-712D-4D59-A9D0-47DE7897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406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9380BD-A6EB-40E6-9332-36E72653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CAE578-E10C-4917-A391-505FB3C2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04900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投资论点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4794EE-C2AC-485C-9D55-14AE2E44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5715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企业需要建设者，而不仅是顾问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0720D7-A324-4AF8-9DFB-66D9EFCE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33700"/>
            <a:ext cx="5715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真正的 AI 落地需要诊断、软件、数据、自动化和运营文化作为一个系统协同工作。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F6081D-0A59-464D-9FC4-7DB78728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31877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2550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676364-F1F3-4F71-AD9B-9CE34F22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006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FDCC2F-A7E4-4556-8274-76970F54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0"/>
            <a:ext cx="2844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AI + 软件核心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BC33CA-4866-401C-BB5C-CE30581B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9700" y="52197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C68"/>
          </a:solidFill>
          <a:ln xmlns:a="http://schemas.openxmlformats.org/drawingml/2006/main" w="0">
            <a:solidFill>
              <a:srgbClr val="2D5C6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2FEC05-A6CF-481B-A981-91ED7502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3050" y="4629150"/>
            <a:ext cx="31877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2550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DB72D3-5416-41B8-B41B-14CBFC2F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48006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00CF6B-D74F-495E-A4EB-BC4470EB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5143500"/>
            <a:ext cx="2844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交互式采用体验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AA0DDB-FD05-4AE8-B6E7-728D5EF2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8850" y="52197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C68"/>
          </a:solidFill>
          <a:ln xmlns:a="http://schemas.openxmlformats.org/drawingml/2006/main" w="0">
            <a:solidFill>
              <a:srgbClr val="2D5C6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AA8B2B-6115-492D-A238-9AF7503C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2200" y="4629150"/>
            <a:ext cx="31877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41F5A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E410F9-ADAA-414C-ABFF-22199C97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3650" y="48006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1F5A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1F5A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B651BE-1465-4CA0-98E1-FD869B14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3650" y="5143500"/>
            <a:ext cx="2844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机器人与自动化前沿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AC3653-C69C-448B-9316-FC393423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TECNOTITAN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9EC2C1-17B7-4143-97EB-E326FE69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21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7D6"/>
          </a:solidFill>
          <a:ln xmlns:a="http://schemas.openxmlformats.org/drawingml/2006/main" w="0">
            <a:solidFill>
              <a:srgbClr val="16B7D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3EA0E1-348F-4D19-B144-994EFA72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19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ZH / 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02417D-367D-4692-B530-5D4D9314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05550"/>
            <a:ext cx="2209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7D8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D8C"/>
                </a:solidFill>
                <a:latin typeface="Aptos"/>
                <a:ea typeface="Aptos"/>
                <a:cs typeface="Aptos"/>
              </a:rPr>
              <a:t>www.tecnotitan.com</a:t>
            </a:r>
          </a:p>
        </p:txBody>
      </p:sp>
    </p:spTree>
    <p:extLst>
      <p:ext uri="{BB962C8B-B14F-4D97-AF65-F5344CB8AC3E}">
        <p14:creationId xmlns:p14="http://schemas.microsoft.com/office/powerpoint/2010/main" val="167284487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ede73868d549c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07D17D-5797-4C30-95B1-976B66F5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406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9A9A5E-5C21-4A27-891A-682059CA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BBFF75-F082-4550-8A9E-DFF96AF7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28700"/>
            <a:ext cx="561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问题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427E66-09F6-48AC-B972-F3654EA2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561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当技术转型被割裂在孤岛中，就会停滞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A17E48-3F0F-4EFB-A554-F95151C2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5619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许多公司仍有大量手工流程、未被充分使用的数据、AI 落地压力，以及缺乏从想法到产品的清晰路径。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C55060-EB3A-4C7D-88DC-CCAB43B2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524000"/>
            <a:ext cx="3476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E27">
              <a:alpha val="80000"/>
            </a:srgbClr>
          </a:solidFill>
          <a:ln xmlns:a="http://schemas.openxmlformats.org/drawingml/2006/main" w="9525">
            <a:solidFill>
              <a:srgbClr val="1B445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EFA3DA-49DD-4DC6-983E-6708A852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68592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B5FEE5-0588-4C00-A6B2-E30ABA0C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666875"/>
            <a:ext cx="26003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重复工作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0E88E5-5B9E-4789-8156-06232F25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324100"/>
            <a:ext cx="3476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1C">
              <a:alpha val="80000"/>
            </a:srgbClr>
          </a:solidFill>
          <a:ln xmlns:a="http://schemas.openxmlformats.org/drawingml/2006/main" w="9525">
            <a:solidFill>
              <a:srgbClr val="1B445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9286B6-4DDA-43EC-8003-416726AB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48602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7FF8D2-FFDC-4C30-85DB-F2181803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466975"/>
            <a:ext cx="26003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数据缺少行动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1FC05B-B5C0-4DA0-8E66-BE29C46F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124200"/>
            <a:ext cx="3476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E27">
              <a:alpha val="80000"/>
            </a:srgbClr>
          </a:solidFill>
          <a:ln xmlns:a="http://schemas.openxmlformats.org/drawingml/2006/main" w="9525">
            <a:solidFill>
              <a:srgbClr val="1B44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7B2A38-C187-4792-8161-54A0BE6CA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28612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5990F8-E791-476E-AE71-53CAA7B3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267075"/>
            <a:ext cx="26003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AI 缺少采用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995FAA-62CF-48DC-AAC0-9B4EAC5B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24300"/>
            <a:ext cx="3476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1C">
              <a:alpha val="80000"/>
            </a:srgbClr>
          </a:solidFill>
          <a:ln xmlns:a="http://schemas.openxmlformats.org/drawingml/2006/main" w="9525">
            <a:solidFill>
              <a:srgbClr val="1B445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5032A6-E191-4483-91FC-36427424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08622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0F3978-3E54-4A2F-AEC4-DF9F663D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67175"/>
            <a:ext cx="26003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人才缺少方法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5F85A0-4A28-4F5A-B080-F9C0C864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8B7C7"/>
                </a:solidFill>
                <a:latin typeface="Aptos"/>
                <a:ea typeface="Aptos"/>
                <a:cs typeface="Aptos"/>
              </a:rPr>
              <a:t>Manual workflows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101273-8D5D-43B6-8933-33EB51EF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342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5"/>
          </a:solidFill>
          <a:ln xmlns:a="http://schemas.openxmlformats.org/drawingml/2006/main" w="9525">
            <a:solidFill>
              <a:srgbClr val="19364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D1E1AC-E244-4A2D-B0FB-096268A4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2476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E6FF"/>
          </a:solidFill>
          <a:ln xmlns:a="http://schemas.openxmlformats.org/drawingml/2006/main" w="0">
            <a:solidFill>
              <a:srgbClr val="55E6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54F512-9845-4E50-8F46-8ACE1DB6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625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8B7C7"/>
                </a:solidFill>
                <a:latin typeface="Aptos"/>
                <a:ea typeface="Aptos"/>
                <a:cs typeface="Aptos"/>
              </a:rPr>
              <a:t>Data activation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4C8613-A7F9-4962-8C8C-36C3A736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342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5"/>
          </a:solidFill>
          <a:ln xmlns:a="http://schemas.openxmlformats.org/drawingml/2006/main" w="9525">
            <a:solidFill>
              <a:srgbClr val="19364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0CC275-C8A4-4AEB-95BF-7690BD60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1714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F5A0"/>
          </a:solidFill>
          <a:ln xmlns:a="http://schemas.openxmlformats.org/drawingml/2006/main" w="0">
            <a:solidFill>
              <a:srgbClr val="41F5A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1F3AAE-9234-4EC7-8294-3BAAE47E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959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8B7C7"/>
                </a:solidFill>
                <a:latin typeface="Aptos"/>
                <a:ea typeface="Aptos"/>
                <a:cs typeface="Aptos"/>
              </a:rPr>
              <a:t>AI adoption gap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1227C7-1C7F-41B6-BDA1-A68FA01F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342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5"/>
          </a:solidFill>
          <a:ln xmlns:a="http://schemas.openxmlformats.org/drawingml/2006/main" w="9525">
            <a:solidFill>
              <a:srgbClr val="19364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598E84-C30C-4675-A761-10B9C6BA8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2838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6B"/>
          </a:solidFill>
          <a:ln xmlns:a="http://schemas.openxmlformats.org/drawingml/2006/main" w="0">
            <a:solidFill>
              <a:srgbClr val="FFCF6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3CB4CB-5A54-4A52-A77C-83B7BC1C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TECNOTITAN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53E6E5-7267-4F05-A1D0-76A0CC43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21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7D6"/>
          </a:solidFill>
          <a:ln xmlns:a="http://schemas.openxmlformats.org/drawingml/2006/main" w="0">
            <a:solidFill>
              <a:srgbClr val="16B7D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8C65F5-F1F0-4D4B-9975-6EB8F0F5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19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ZH / 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FE7F41-C098-4986-A2C6-AF736C1B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05550"/>
            <a:ext cx="2209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7D8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D8C"/>
                </a:solidFill>
                <a:latin typeface="Aptos"/>
                <a:ea typeface="Aptos"/>
                <a:cs typeface="Aptos"/>
              </a:rPr>
              <a:t>www.tecnotitan.com</a:t>
            </a:r>
          </a:p>
        </p:txBody>
      </p:sp>
    </p:spTree>
    <p:extLst>
      <p:ext uri="{BB962C8B-B14F-4D97-AF65-F5344CB8AC3E}">
        <p14:creationId xmlns:p14="http://schemas.microsoft.com/office/powerpoint/2010/main" val="21048001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2ee9c367084d84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1851B7-6323-448F-BAA3-31F6EE23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406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A679D8-C3A5-412D-85A3-2F43D749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AC82F8-CBBD-4749-B449-164A5CFA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953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平台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488452-22CA-45B9-84B1-25DD011E2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95400"/>
            <a:ext cx="6191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Tecnotitan 将咨询转化为产品，再将产品转化为平台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6CFDA2-29CB-4534-83F5-3BA262B1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619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每个项目都会沉淀可复用模块、行业知识和能力，从而加速新的解决方案。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35DCD2-2D8C-45C2-8708-952646C5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2224088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2550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D7484E-8788-47A2-93B4-C36D9303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62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1735BC-E38E-4A6A-9286-C9908458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05300"/>
            <a:ext cx="18811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诊断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52B766-D617-48BA-9E45-6633D576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6588" y="4381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C68"/>
          </a:solidFill>
          <a:ln xmlns:a="http://schemas.openxmlformats.org/drawingml/2006/main" w="0">
            <a:solidFill>
              <a:srgbClr val="2D5C6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09BC1D-5749-4E29-BE5B-B11F7F8A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9938" y="3790950"/>
            <a:ext cx="2224088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2550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7B199A-2FFD-4225-8E9B-44EEFE04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388" y="3962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DB808C-2C30-44F9-A5A2-0381FDC9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388" y="4305300"/>
            <a:ext cx="18811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构建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A927E8-675A-4AC7-813E-8A546FCE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381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C68"/>
          </a:solidFill>
          <a:ln xmlns:a="http://schemas.openxmlformats.org/drawingml/2006/main" w="0">
            <a:solidFill>
              <a:srgbClr val="2D5C6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5B8692-62E3-4156-ADA6-C0B15E7F4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790950"/>
            <a:ext cx="2224088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25505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2B8C98-FE2D-4730-ACEB-386CF4E2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962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81F314-EA59-4E63-A0C6-1C706CDF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305300"/>
            <a:ext cx="18811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产品化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763585-B496-4B38-A80A-6F2CE53A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7663" y="4381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C68"/>
          </a:solidFill>
          <a:ln xmlns:a="http://schemas.openxmlformats.org/drawingml/2006/main" w="0">
            <a:solidFill>
              <a:srgbClr val="2D5C6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83674F-83AA-4991-A587-EB8D857D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013" y="3790950"/>
            <a:ext cx="2224088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41F5A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EBF757-CB71-4FC8-8E99-BE92CCBA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463" y="3962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1F5A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1F5A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1FCF45-1ABC-4EF9-8737-0DE94CCA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463" y="4305300"/>
            <a:ext cx="18811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规模化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A62C39-3DF3-4C18-B5D8-B9A3CC948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276850"/>
            <a:ext cx="828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Reusable IP, sector knowledge and operating playbooks compound across every project.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6117AD-9EA7-4407-8636-138804EA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TECNOTITAN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8A943A-B048-46A4-9BC1-74ED896D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21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7D6"/>
          </a:solidFill>
          <a:ln xmlns:a="http://schemas.openxmlformats.org/drawingml/2006/main" w="0">
            <a:solidFill>
              <a:srgbClr val="16B7D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305A62-2818-4AEB-8F5D-CBFB53D8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19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ZH / 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ED40CB-C6DB-4450-9C01-99585545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05550"/>
            <a:ext cx="2209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7D8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D8C"/>
                </a:solidFill>
                <a:latin typeface="Aptos"/>
                <a:ea typeface="Aptos"/>
                <a:cs typeface="Aptos"/>
              </a:rPr>
              <a:t>www.tecnotitan.com</a:t>
            </a:r>
          </a:p>
        </p:txBody>
      </p:sp>
    </p:spTree>
    <p:extLst>
      <p:ext uri="{BB962C8B-B14F-4D97-AF65-F5344CB8AC3E}">
        <p14:creationId xmlns:p14="http://schemas.microsoft.com/office/powerpoint/2010/main" val="124025991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995acafdfd4f11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947598-39D8-4199-9CAB-8C63FA56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406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7324CF-6163-4B07-B445-E4296674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3751BA-ABC0-4F5C-B448-C023B1D3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581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产品组合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360069-97D8-4C6F-8E80-9A1FC03E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5810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服务企业、人才和数字体验的产品系统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98FD24-F934-402E-B430-66B3451F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5810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产品组合从紧迫需求切入，并扩展到运营、学习和应用智能。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5F64EE-24A8-4191-8E2A-0E0730C2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3276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24566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EFAA02-0EB3-46A1-BC69-94D6BB64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293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Copiloto Pyme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EB53C1-A511-4FBD-BC32-FD7325F9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619500"/>
            <a:ext cx="3276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1A4C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BEFCD7-3897-4850-B868-6A9E58400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29050"/>
            <a:ext cx="293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Tecnotitan 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249541-5C99-4F79-9528-AB71F436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19500"/>
            <a:ext cx="3276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24566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FB4CD9-FC4A-40AB-8518-23F24984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29050"/>
            <a:ext cx="293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Life Copilot 移动应用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39FC2D-E673-4C31-BB8A-A055FFCD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3276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1A4C5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F862AF-2C6E-481A-A491-EF156AB5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81550"/>
            <a:ext cx="293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Tecnotitan Engine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9962BB-E0C4-4123-9EED-BF6875BD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572000"/>
            <a:ext cx="3276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24566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3B5FA6-E7FF-4D3A-94F3-F25B9CB8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781550"/>
            <a:ext cx="293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Tecnotitan Academy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BB7FFA-4D1D-4628-A11C-60EC4730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572000"/>
            <a:ext cx="3276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1A4C5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989005-924A-4F70-96E5-D91833400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81550"/>
            <a:ext cx="293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Tecnotitan AI Call Center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080EC6-A849-4FC7-BEA2-B82E92B6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TECNOTITAN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274577-C9CA-4420-B92D-CA6E1E71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21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7D6"/>
          </a:solidFill>
          <a:ln xmlns:a="http://schemas.openxmlformats.org/drawingml/2006/main" w="0">
            <a:solidFill>
              <a:srgbClr val="16B7D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E0C925-62F6-477B-831C-F06D125C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19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ZH / 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FC057D-FD68-4251-A079-39449B36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05550"/>
            <a:ext cx="2209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7D8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D8C"/>
                </a:solidFill>
                <a:latin typeface="Aptos"/>
                <a:ea typeface="Aptos"/>
                <a:cs typeface="Aptos"/>
              </a:rPr>
              <a:t>www.tecnotitan.com</a:t>
            </a:r>
          </a:p>
        </p:txBody>
      </p:sp>
    </p:spTree>
    <p:extLst>
      <p:ext uri="{BB962C8B-B14F-4D97-AF65-F5344CB8AC3E}">
        <p14:creationId xmlns:p14="http://schemas.microsoft.com/office/powerpoint/2010/main" val="41347935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1978d07b98455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F35DC6-6D7D-498D-9E75-7051226E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406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A9370D-696E-4A5C-A85E-D155CFCC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E63AE6-0391-40AF-9698-2E5162B5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581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服务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33F082-2F57-4BDF-9722-5FC2C7D5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5810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咨询加速收入和市场学习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245CCF-EE7D-4355-BC7C-43A28A32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5810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服务建立信任、发现真实问题，并将实施经验转化为可重复资产。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B610A7-2777-48B0-9773-3E44551A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2205038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2550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D9FB90-CD95-4980-B4EE-B9BC3835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767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5F7B47-85A9-4E5D-8FE9-554158D6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19600"/>
            <a:ext cx="186213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AI 诊断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A70F80-3521-4F1F-8CFB-C4D0B4C7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5638" y="44958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C68"/>
          </a:solidFill>
          <a:ln xmlns:a="http://schemas.openxmlformats.org/drawingml/2006/main" w="0">
            <a:solidFill>
              <a:srgbClr val="2D5C6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9D427B-ED1F-4FB3-8927-F314E944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988" y="3905250"/>
            <a:ext cx="2205038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2550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3980E5-1727-4B18-A26C-F7512679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40767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1B5A4A-58EF-446A-A5ED-28AEE9EF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4419600"/>
            <a:ext cx="186213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技术路线图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0D58A5-642C-4D26-BE5F-3538B270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4958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C68"/>
          </a:solidFill>
          <a:ln xmlns:a="http://schemas.openxmlformats.org/drawingml/2006/main" w="0">
            <a:solidFill>
              <a:srgbClr val="2D5C6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566326-9950-4DB2-AD6B-B8A3517D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905250"/>
            <a:ext cx="2205038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25505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735E66-070B-48AE-90D7-98EA12815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0767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402925-18DA-4046-816B-A02630F3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419600"/>
            <a:ext cx="186213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实施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FB5E25-75E0-43C6-95C5-FAB05296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8613" y="44958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C68"/>
          </a:solidFill>
          <a:ln xmlns:a="http://schemas.openxmlformats.org/drawingml/2006/main" w="0">
            <a:solidFill>
              <a:srgbClr val="2D5C6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764C65-915A-4329-AE84-909F362B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963" y="3905250"/>
            <a:ext cx="2205038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41F5A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72F913-3D23-422D-B3CC-7F704280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3413" y="40767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1F5A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1F5A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F9F05C-DC4F-4DA1-9E40-229EE004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3413" y="4419600"/>
            <a:ext cx="186213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采用与培训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E5E11D-D020-4AEA-B5CD-4D9E15EC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429250"/>
            <a:ext cx="790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Services are the market-sensing engine that turns demand into product decisions.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133B99-B0D3-4958-A560-8052CA73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TECNOTITAN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B5B176-EF4F-4929-8CDB-2201F7DA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21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7D6"/>
          </a:solidFill>
          <a:ln xmlns:a="http://schemas.openxmlformats.org/drawingml/2006/main" w="0">
            <a:solidFill>
              <a:srgbClr val="16B7D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44184D-492D-4483-809B-66AB0E04F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19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ZH / 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B499EB-0690-4B4A-9E7B-60DA7C72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05550"/>
            <a:ext cx="2209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7D8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D8C"/>
                </a:solidFill>
                <a:latin typeface="Aptos"/>
                <a:ea typeface="Aptos"/>
                <a:cs typeface="Aptos"/>
              </a:rPr>
              <a:t>www.tecnotitan.com</a:t>
            </a:r>
          </a:p>
        </p:txBody>
      </p:sp>
    </p:spTree>
    <p:extLst>
      <p:ext uri="{BB962C8B-B14F-4D97-AF65-F5344CB8AC3E}">
        <p14:creationId xmlns:p14="http://schemas.microsoft.com/office/powerpoint/2010/main" val="44718632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ea8b2213f2479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5632DB-614C-4E8B-8304-4ED7A4B3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406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CC89BA-D1B1-48BF-B8FB-6BD5148A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C3E910-6273-4646-A4A8-1D5084D1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事业部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0F85EB-0829-41F1-BC3B-FE9B7D30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81100"/>
            <a:ext cx="6191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五个事业部共享 IP、数据和人才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42ECC7-2094-4AA3-80D9-989B3EA2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619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软件、AI、游戏、机器人和技术转型以共同架构运作，而不是孤立业务。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F022F0-714D-4799-838A-74BE0A26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505200"/>
            <a:ext cx="2247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117">
              <a:alpha val="93333"/>
            </a:srgbClr>
          </a:solidFill>
          <a:ln xmlns:a="http://schemas.openxmlformats.org/drawingml/2006/main" w="9525">
            <a:solidFill>
              <a:srgbClr val="55E6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FA1C33-830D-4776-BBF6-56914E8F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676650"/>
            <a:ext cx="1676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TECNOTITAN</a:t>
            </a:r>
          </a:p>
          <a:p xmlns:a="http://schemas.openxmlformats.org/drawingml/2006/main">
            <a:pPr algn="ctr">
              <a:defRPr sz="16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CORE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84A83C-1F89-4003-8C63-E2BE8B08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133600"/>
            <a:ext cx="209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A23">
              <a:alpha val="86667"/>
            </a:srgbClr>
          </a:solidFill>
          <a:ln xmlns:a="http://schemas.openxmlformats.org/drawingml/2006/main" w="9525">
            <a:solidFill>
              <a:srgbClr val="25505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7F0340-B0D7-4AF2-A2C5-94EB2AFE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05050"/>
            <a:ext cx="1752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软件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FF9EA5-1BBD-48EA-9C03-F801CAC9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57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563"/>
          </a:solidFill>
          <a:ln xmlns:a="http://schemas.openxmlformats.org/drawingml/2006/main" w="0">
            <a:solidFill>
              <a:srgbClr val="28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C666D3-31F0-4A12-BF09-29548AC9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664" y="3199821"/>
            <a:ext cx="209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A23">
              <a:alpha val="86667"/>
            </a:srgbClr>
          </a:solidFill>
          <a:ln xmlns:a="http://schemas.openxmlformats.org/drawingml/2006/main" w="9525">
            <a:solidFill>
              <a:srgbClr val="25505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A4AA7D-4ECA-49B3-8C6A-3A380363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114" y="3371271"/>
            <a:ext cx="1752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人工智能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064768-6B1A-465A-9D29-8612B27C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523671"/>
            <a:ext cx="309811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563"/>
          </a:solidFill>
          <a:ln xmlns:a="http://schemas.openxmlformats.org/drawingml/2006/main" w="0">
            <a:solidFill>
              <a:srgbClr val="2855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1B42BF-D232-4731-A0ED-185F2303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290" y="4925004"/>
            <a:ext cx="209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A23">
              <a:alpha val="86667"/>
            </a:srgbClr>
          </a:solidFill>
          <a:ln xmlns:a="http://schemas.openxmlformats.org/drawingml/2006/main" w="9525">
            <a:solidFill>
              <a:srgbClr val="25505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1F05B3-DD4C-4E58-86DC-6B5D4CB7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740" y="5096454"/>
            <a:ext cx="1752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游戏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F20FED-9411-4155-A4C1-DF55AFEE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000500"/>
            <a:ext cx="191474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563"/>
          </a:solidFill>
          <a:ln xmlns:a="http://schemas.openxmlformats.org/drawingml/2006/main" w="0">
            <a:solidFill>
              <a:srgbClr val="28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342BCD-3782-4A87-B131-97CD4B32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6810" y="4925004"/>
            <a:ext cx="209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A23">
              <a:alpha val="86667"/>
            </a:srgbClr>
          </a:solidFill>
          <a:ln xmlns:a="http://schemas.openxmlformats.org/drawingml/2006/main" w="9525">
            <a:solidFill>
              <a:srgbClr val="25505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B2C458-7A8F-4691-9F4A-9F459FCE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260" y="5096454"/>
            <a:ext cx="1752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机器人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9A5A1F-1B84-49D5-8E92-E04DFE02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560" y="4000500"/>
            <a:ext cx="191474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563"/>
          </a:solidFill>
          <a:ln xmlns:a="http://schemas.openxmlformats.org/drawingml/2006/main" w="0">
            <a:solidFill>
              <a:srgbClr val="2855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BCD4AA-90CB-49B2-948A-AE56DEF89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3436" y="3199821"/>
            <a:ext cx="209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A23">
              <a:alpha val="86667"/>
            </a:srgbClr>
          </a:solidFill>
          <a:ln xmlns:a="http://schemas.openxmlformats.org/drawingml/2006/main" w="9525">
            <a:solidFill>
              <a:srgbClr val="25505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A17296-7F80-45FB-AEA9-813F3C54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886" y="3371271"/>
            <a:ext cx="1752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技术咨询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08A585-9346-4B06-AAB8-D323EE01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1186" y="3523671"/>
            <a:ext cx="309811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563"/>
          </a:solidFill>
          <a:ln xmlns:a="http://schemas.openxmlformats.org/drawingml/2006/main" w="0">
            <a:solidFill>
              <a:srgbClr val="28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E4E621-EF4F-4B2C-94F5-428BFCE8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TECNOTITAN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814175-3765-4A8A-A80A-3F9A5A32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21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7D6"/>
          </a:solidFill>
          <a:ln xmlns:a="http://schemas.openxmlformats.org/drawingml/2006/main" w="0">
            <a:solidFill>
              <a:srgbClr val="16B7D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BCE43D-72BE-4E7E-B757-50180672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19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ZH / 07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9C1E00-BC47-4B24-979D-E120AE88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05550"/>
            <a:ext cx="2209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7D8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D8C"/>
                </a:solidFill>
                <a:latin typeface="Aptos"/>
                <a:ea typeface="Aptos"/>
                <a:cs typeface="Aptos"/>
              </a:rPr>
              <a:t>www.tecnotitan.com</a:t>
            </a:r>
          </a:p>
        </p:txBody>
      </p:sp>
    </p:spTree>
    <p:extLst>
      <p:ext uri="{BB962C8B-B14F-4D97-AF65-F5344CB8AC3E}">
        <p14:creationId xmlns:p14="http://schemas.microsoft.com/office/powerpoint/2010/main" val="90816803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5533e31b1247b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B92E48-5217-48D2-8F56-BD3AE7DD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406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1FF4BF-9ED4-4AB5-A80D-A55E2489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925172-AD10-449F-A0D1-D19DDFEB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600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商业模式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D610BD-4CC8-47AD-9B6B-A3937A35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6000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今天来自服务收入，明天来自可扩展产品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F541EC-055C-4C74-8562-0D292A8B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05100"/>
            <a:ext cx="6000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商业模式结合咨询、实施、订阅、授权、学院项目和未来技术 spin-off。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784308-CEB4-4F98-BE65-90809AD0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2252663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2550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02AA0E-A96B-4271-AFA9-FBDBF1FF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92300E-34D5-4222-B4E6-9AEA3666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43400"/>
            <a:ext cx="1909763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服务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CC6396-A28B-4036-B175-0BE7044EB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063" y="44196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C68"/>
          </a:solidFill>
          <a:ln xmlns:a="http://schemas.openxmlformats.org/drawingml/2006/main" w="0">
            <a:solidFill>
              <a:srgbClr val="2D5C6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79ACC2-0590-44B1-8E28-24F1AF43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413" y="3829050"/>
            <a:ext cx="2252663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2550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0AE5F1-109D-4450-8A37-7D89B826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1863" y="40005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2A722B-CBE3-4C07-A630-49F88F05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1863" y="4343400"/>
            <a:ext cx="1909763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SaaS 与授权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E776FB-C5C9-462A-A40C-EE0C1FD1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44196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C68"/>
          </a:solidFill>
          <a:ln xmlns:a="http://schemas.openxmlformats.org/drawingml/2006/main" w="0">
            <a:solidFill>
              <a:srgbClr val="2D5C6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BE0F90-558E-4D5D-A81F-3E14FC0D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829050"/>
            <a:ext cx="2252663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25505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C417EB-DF13-4BC4-B709-E1533338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40005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C94B15-3F0D-4F48-A75C-C3C9DD61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4343400"/>
            <a:ext cx="1909763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学院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EAA112-3BB6-4802-A4A9-B4AE394C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5288" y="44196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C68"/>
          </a:solidFill>
          <a:ln xmlns:a="http://schemas.openxmlformats.org/drawingml/2006/main" w="0">
            <a:solidFill>
              <a:srgbClr val="2D5C6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3DCAF2-EDB6-4CDF-8495-6747BD82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8638" y="3829050"/>
            <a:ext cx="2252663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41F5A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D7B47C-3F80-4F43-B1B5-6CAC1857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0088" y="40005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1F5A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1F5A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64F577-721D-46C8-8718-A94AAFF4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0088" y="4343400"/>
            <a:ext cx="1909763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Ventures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0DE36F-3F48-4C54-98A7-313D0D98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91150"/>
            <a:ext cx="790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Each layer can monetize independently while feeding data, references and reusable modules back into the platform.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856957-EC8C-464B-95F6-B68C1231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TECNOTITAN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217576-5B18-4581-BC05-47634290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21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7D6"/>
          </a:solidFill>
          <a:ln xmlns:a="http://schemas.openxmlformats.org/drawingml/2006/main" w="0">
            <a:solidFill>
              <a:srgbClr val="16B7D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32F317-F76B-4E9B-8B36-F08E5FA0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19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ZH / 08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EEAC0E-6E56-4550-8068-D11A3DD3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05550"/>
            <a:ext cx="2209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7D8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D8C"/>
                </a:solidFill>
                <a:latin typeface="Aptos"/>
                <a:ea typeface="Aptos"/>
                <a:cs typeface="Aptos"/>
              </a:rPr>
              <a:t>www.tecnotitan.com</a:t>
            </a:r>
          </a:p>
        </p:txBody>
      </p:sp>
    </p:spTree>
    <p:extLst>
      <p:ext uri="{BB962C8B-B14F-4D97-AF65-F5344CB8AC3E}">
        <p14:creationId xmlns:p14="http://schemas.microsoft.com/office/powerpoint/2010/main" val="55734121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d8aaefe4fc41ec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B308B4-DF2F-4DFE-87AE-5DE3FD3C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406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E7804C-E707-4F17-8ECC-94290AC5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34B8AB-6241-4657-9FCE-B348DD75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市场进入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801913-7680-4ACB-84B8-E10FC1FC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5715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从运营痛点进入，通过平台扩张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1416E5-BDA0-4240-92F6-80964B6E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05100"/>
            <a:ext cx="5715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Tecnotitan 可以从企业 AI 和软件项目开始，再扩展到解决重复场景的产品。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C2C84B-3DAC-42D7-8225-F67403F9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447800"/>
            <a:ext cx="3486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E27">
              <a:alpha val="80000"/>
            </a:srgbClr>
          </a:solidFill>
          <a:ln xmlns:a="http://schemas.openxmlformats.org/drawingml/2006/main" w="9525">
            <a:solidFill>
              <a:srgbClr val="1B445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AAEBF9-F335-44D8-8F70-599D9C16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60972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174D1F-FFD5-49DB-A48B-C2193EE4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90675"/>
            <a:ext cx="2609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拉美作为基地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8F6E75-B872-4B83-B8E8-ED847834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47900"/>
            <a:ext cx="3486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1C">
              <a:alpha val="80000"/>
            </a:srgbClr>
          </a:solidFill>
          <a:ln xmlns:a="http://schemas.openxmlformats.org/drawingml/2006/main" w="9525">
            <a:solidFill>
              <a:srgbClr val="1B445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05149C-B7D8-41D8-9EC8-30CB4AA0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0982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1880DC-6017-4449-AF44-E0DEECBF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90775"/>
            <a:ext cx="2609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中型企业与大型企业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F24CF7-F0B5-4F4E-BBAC-3277E1D2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48000"/>
            <a:ext cx="3486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E27">
              <a:alpha val="80000"/>
            </a:srgbClr>
          </a:solidFill>
          <a:ln xmlns:a="http://schemas.openxmlformats.org/drawingml/2006/main" w="9525">
            <a:solidFill>
              <a:srgbClr val="1B44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4CDD10-3907-4319-A9B8-2A317A6E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20992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AF794D-96B9-4930-BDEF-A708C1D7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90875"/>
            <a:ext cx="2609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全球伙伴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4C926A-173D-4A6E-A63E-5025E209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48100"/>
            <a:ext cx="3486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1C">
              <a:alpha val="80000"/>
            </a:srgbClr>
          </a:solidFill>
          <a:ln xmlns:a="http://schemas.openxmlformats.org/drawingml/2006/main" w="9525">
            <a:solidFill>
              <a:srgbClr val="1B445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2E3744-EB59-40D1-AD48-21D55C19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01002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256AA1-14E5-4AF2-989C-B1980019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90975"/>
            <a:ext cx="2609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战略投资者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E69EDA-83C5-4820-8456-3A9A6A65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22288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25505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4522F4-BF61-48B7-B8A0-78140154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482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560B33-1D17-4E47-81FC-EE419048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91150"/>
            <a:ext cx="1885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Pilot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F39F23-D887-4640-B149-6815909B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46735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C68"/>
          </a:solidFill>
          <a:ln xmlns:a="http://schemas.openxmlformats.org/drawingml/2006/main" w="0">
            <a:solidFill>
              <a:srgbClr val="2D5C6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7B00A6-69DA-4D39-BDF7-3528A995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876800"/>
            <a:ext cx="22288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2550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4E7BB8-8D54-47D2-AC7E-74ED019F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0482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250EA4-CAAA-451C-8255-03D3BA77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391150"/>
            <a:ext cx="1885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Implementation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BD6374-5F13-4F66-92A8-5C985167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46735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C68"/>
          </a:solidFill>
          <a:ln xmlns:a="http://schemas.openxmlformats.org/drawingml/2006/main" w="0">
            <a:solidFill>
              <a:srgbClr val="2D5C6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114A84-4741-4F71-8026-11E4C96B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876800"/>
            <a:ext cx="22288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25505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2E86A8-15F4-4FF6-A05E-BE7235CB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0482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45BB9A-41A7-471B-9BD6-C6C116F1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391150"/>
            <a:ext cx="1885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Product expansion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6E61B4-A062-432B-B74C-2FC128AE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46735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C68"/>
          </a:solidFill>
          <a:ln xmlns:a="http://schemas.openxmlformats.org/drawingml/2006/main" w="0">
            <a:solidFill>
              <a:srgbClr val="2D5C6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08D078-6BAE-43A0-AEDD-3361745C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76800"/>
            <a:ext cx="22288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41F5A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4006CE-6D22-49D8-97CF-90DD3954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482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1F5A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1F5A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9124B8-1AD3-4F53-AEAE-2B93429C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391150"/>
            <a:ext cx="1885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Strategic partner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10F1B9-223D-4A41-91F9-CF3395AC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TECNOTITAN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DC0BA6-4956-4717-8B3C-C982A614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21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7D6"/>
          </a:solidFill>
          <a:ln xmlns:a="http://schemas.openxmlformats.org/drawingml/2006/main" w="0">
            <a:solidFill>
              <a:srgbClr val="16B7D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77F2C7-3F74-4A33-9BC7-E1C9F0ED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19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ZH / 09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F52B79-89F2-49A1-901F-0CAF4F27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05550"/>
            <a:ext cx="2209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7D8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D8C"/>
                </a:solidFill>
                <a:latin typeface="Aptos"/>
                <a:ea typeface="Aptos"/>
                <a:cs typeface="Aptos"/>
              </a:rPr>
              <a:t>www.tecnotitan.com</a:t>
            </a:r>
          </a:p>
        </p:txBody>
      </p:sp>
    </p:spTree>
    <p:extLst>
      <p:ext uri="{BB962C8B-B14F-4D97-AF65-F5344CB8AC3E}">
        <p14:creationId xmlns:p14="http://schemas.microsoft.com/office/powerpoint/2010/main" val="125146335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f208a7ffd444a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AEDC8F-29C2-4D35-80E5-452B2287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406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B81206-A19E-474D-9BA3-882CAC6C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A12366-606C-4903-AB9B-F3210AAA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95350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团队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BF3CF0-E9B1-4732-83D2-8BDCFFF7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95400"/>
            <a:ext cx="6096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专注执行的精简创始团队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141B7C-B373-4989-9094-E0A54F70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6096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David Arias Giraldo 作为 CEO 领导公司愿景。目前公司有一名全职顾问和两名程序员。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1C3EE6-1F77-43D8-940E-BE19C808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2424113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24566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D8D5F6-DF22-430F-AB7D-FBDC38F9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43350"/>
            <a:ext cx="208121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创始人 CEO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A524BA-09D6-4163-8802-02CF2B4A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363" y="3733800"/>
            <a:ext cx="2424113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1A4C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E1F082-5A7A-4D56-8228-C84289AB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13" y="3943350"/>
            <a:ext cx="208121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咨询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8043F4-DF1C-4A1A-8C42-DB1BAEB4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733800"/>
            <a:ext cx="2424113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24566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AB9120-0610-4FAA-AFCE-812AB87A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943350"/>
            <a:ext cx="208121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工程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56D739-5E6F-44B8-B409-95A83AD3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6288" y="3733800"/>
            <a:ext cx="2424113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1A4C5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78BC65-C642-455C-A0D3-54C561A2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7738" y="3943350"/>
            <a:ext cx="208121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下一阶段招聘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894437-0E92-4E9B-B061-FA72E99D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102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Hiring priorities: product engineering, AI delivery, sales development and investor relations.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AD0005-A496-4C2E-8D4E-3731B075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TECNOTITAN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896C10-5AA8-4999-A8F1-1B6449EA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21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7D6"/>
          </a:solidFill>
          <a:ln xmlns:a="http://schemas.openxmlformats.org/drawingml/2006/main" w="0">
            <a:solidFill>
              <a:srgbClr val="16B7D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1D7F01-3212-4CCE-942E-9A2031BD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19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ZH / 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51F2DF-5E28-436D-B2B3-26A0D3C6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05550"/>
            <a:ext cx="2209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7D8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D8C"/>
                </a:solidFill>
                <a:latin typeface="Aptos"/>
                <a:ea typeface="Aptos"/>
                <a:cs typeface="Aptos"/>
              </a:rPr>
              <a:t>www.tecnotitan.com</a:t>
            </a:r>
          </a:p>
        </p:txBody>
      </p:sp>
    </p:spTree>
    <p:extLst>
      <p:ext uri="{BB962C8B-B14F-4D97-AF65-F5344CB8AC3E}">
        <p14:creationId xmlns:p14="http://schemas.microsoft.com/office/powerpoint/2010/main" val="4574945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a72b2b93b24a6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913BF8-63D3-4ACE-ACF3-C9A9B792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406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6F4AEE-8202-4E26-A29F-528FEE38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3A246D-8934-4ED3-B6DE-6A44F7E3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路线图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8CE15A-3FFD-4467-BEDD-29DF13B8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5905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从验证走向区域性技术平台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22760F-DE30-4923-AEE6-C65941C8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05100"/>
            <a:ext cx="5905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路线优先真实案例、自有产品、内部自动化和商业扩张，并保持 investor-ready。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6364D5-24AA-46F5-A761-65C26951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00500"/>
            <a:ext cx="28067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2550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55F63D-6CD1-4A2F-9E19-3E98F210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719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BB2D7F-7DC4-4D51-9767-E1418E7B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2463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2026: 案例与 MVP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B425C9-B13F-408C-9186-3F415675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6850" y="459105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C68"/>
          </a:solidFill>
          <a:ln xmlns:a="http://schemas.openxmlformats.org/drawingml/2006/main" w="0">
            <a:solidFill>
              <a:srgbClr val="2D5C6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3F3864-0E59-4A8D-8D69-77D4CB35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200" y="4000500"/>
            <a:ext cx="28067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2550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D4052B-8C4A-4066-B19A-6EE74D42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41719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4A217C-E331-4AAC-96CE-41133B97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4514850"/>
            <a:ext cx="2463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2027: 产品与 IP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3413C1-DF73-4300-B9E5-9BACFE09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0" y="459105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C68"/>
          </a:solidFill>
          <a:ln xmlns:a="http://schemas.openxmlformats.org/drawingml/2006/main" w="0">
            <a:solidFill>
              <a:srgbClr val="2D5C6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D105BF-6719-4C5C-A93B-4CD61854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8350" y="4000500"/>
            <a:ext cx="28067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41F5A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2052B4-F11B-4038-822F-C1C5E142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800" y="41719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1F5A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1F5A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9CDF2F-4CCE-4622-9ACB-50D39899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800" y="4514850"/>
            <a:ext cx="2463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2028: 区域规模化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54EF8E-592B-45FD-B7E9-F5E9FBDE0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TECNOTITAN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B31854-CDEF-47B2-8360-CC636475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21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7D6"/>
          </a:solidFill>
          <a:ln xmlns:a="http://schemas.openxmlformats.org/drawingml/2006/main" w="0">
            <a:solidFill>
              <a:srgbClr val="16B7D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53B051-8545-4945-B2A3-84DB8F99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19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ZH / 11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25B40A-49DE-454C-B7D8-083D6B55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05550"/>
            <a:ext cx="2209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7D8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D8C"/>
                </a:solidFill>
                <a:latin typeface="Aptos"/>
                <a:ea typeface="Aptos"/>
                <a:cs typeface="Aptos"/>
              </a:rPr>
              <a:t>www.tecnotitan.com</a:t>
            </a:r>
          </a:p>
        </p:txBody>
      </p:sp>
    </p:spTree>
    <p:extLst>
      <p:ext uri="{BB962C8B-B14F-4D97-AF65-F5344CB8AC3E}">
        <p14:creationId xmlns:p14="http://schemas.microsoft.com/office/powerpoint/2010/main" val="71084358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76c69f15e74e6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665CD1-D5A9-4109-A15F-8D72F255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406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698F99-815B-407F-9835-FA015A77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CF842B-6444-4A40-A25D-9E22C943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47750"/>
            <a:ext cx="657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投资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643904-25D1-4B11-BADB-845A1334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47800"/>
            <a:ext cx="6572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寻求资本与伙伴，加速产品、销售和人才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493552-A45D-4066-A64A-B1BFFE69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6572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Tecnotitan 正在从拉丁美洲打造一家拥有全球雄心的多事业部技术公司。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EBB401-0D62-4327-A93D-3817C14A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430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E27">
              <a:alpha val="80000"/>
            </a:srgbClr>
          </a:solidFill>
          <a:ln xmlns:a="http://schemas.openxmlformats.org/drawingml/2006/main" w="9525">
            <a:solidFill>
              <a:srgbClr val="1B445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4C8DDB-4A94-498F-BE3C-63C5B508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70497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0FC45F-EC04-4CAD-A09F-1F598508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85925"/>
            <a:ext cx="2266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产品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536A24-A397-49CC-9A00-113BB3FD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431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1C">
              <a:alpha val="80000"/>
            </a:srgbClr>
          </a:solidFill>
          <a:ln xmlns:a="http://schemas.openxmlformats.org/drawingml/2006/main" w="9525">
            <a:solidFill>
              <a:srgbClr val="1B445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1468AB-D3E1-4690-9A25-E2D0C97B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0507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378C63-9231-4F88-8250-D34EE199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86025"/>
            <a:ext cx="2266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销售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39C918-78AA-48F0-9D52-1BC1ECEC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432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E27">
              <a:alpha val="80000"/>
            </a:srgbClr>
          </a:solidFill>
          <a:ln xmlns:a="http://schemas.openxmlformats.org/drawingml/2006/main" w="9525">
            <a:solidFill>
              <a:srgbClr val="1B44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472E5A-21E6-4319-B6C4-46837116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0517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704DC6-8C65-4CED-8A0B-74790E51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86125"/>
            <a:ext cx="2266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技术人才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C7A0D5-B447-43BE-B1A0-B5720A48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433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1C">
              <a:alpha val="80000"/>
            </a:srgbClr>
          </a:solidFill>
          <a:ln xmlns:a="http://schemas.openxmlformats.org/drawingml/2006/main" w="9525">
            <a:solidFill>
              <a:srgbClr val="1B445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01C758-4A4C-473D-9B9B-81F2C13C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10527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C20451-7587-4370-BD33-7B77800D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86225"/>
            <a:ext cx="2266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Data room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C1A505-51BE-4765-B6B6-B2F7E776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86350"/>
            <a:ext cx="581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820">
              <a:alpha val="86667"/>
            </a:srgbClr>
          </a:solidFill>
          <a:ln xmlns:a="http://schemas.openxmlformats.org/drawingml/2006/main" w="9525">
            <a:solidFill>
              <a:srgbClr val="55E6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0A761B-7D5C-416A-B9BD-B4D701E8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14950"/>
            <a:ext cx="523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info@tecnotitan.com  |  www.tecnotitan.com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0E64A6-ECC1-422B-8D7C-E6B8BF9C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TECNOTITAN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8783E7-AA0C-4712-85E5-DEB738DF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21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7D6"/>
          </a:solidFill>
          <a:ln xmlns:a="http://schemas.openxmlformats.org/drawingml/2006/main" w="0">
            <a:solidFill>
              <a:srgbClr val="16B7D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D076C6-7400-4D54-9180-4B840CA8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19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ZH / 12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6A753D-041E-4519-A2EA-AC08D04E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05550"/>
            <a:ext cx="2209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7D8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D8C"/>
                </a:solidFill>
                <a:latin typeface="Aptos"/>
                <a:ea typeface="Aptos"/>
                <a:cs typeface="Aptos"/>
              </a:rPr>
              <a:t>www.tecnotitan.com</a:t>
            </a:r>
          </a:p>
        </p:txBody>
      </p:sp>
    </p:spTree>
    <p:extLst>
      <p:ext uri="{BB962C8B-B14F-4D97-AF65-F5344CB8AC3E}">
        <p14:creationId xmlns:p14="http://schemas.microsoft.com/office/powerpoint/2010/main" val="3937657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2026-06-06T03:55:14.4880000Z</dcterms:created>
  <dcterms:modified xsi:type="dcterms:W3CDTF">2026-06-06T03:55:14.4880000Z</dcterms:modified>
</coreProperties>
</file>