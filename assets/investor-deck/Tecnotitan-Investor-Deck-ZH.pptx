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a85ce3d6bd04433" /><Relationship Type="http://schemas.openxmlformats.org/officeDocument/2006/relationships/extended-properties" Target="/docProps/app.xml" Id="Rb1aa42b415a54e91" /><Relationship Type="http://schemas.openxmlformats.org/officeDocument/2006/relationships/officeDocument" Target="/ppt/presentation.xml" Id="R23b0ac3127bf4f3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c5c47d434d74c9e"/>
  </p:sldMasterIdLst>
  <p:notesMasterIdLst>
    <p:notesMasterId xmlns:r="http://schemas.openxmlformats.org/officeDocument/2006/relationships" r:id="Rf5fab816c1c146ee"/>
  </p:notesMasterIdLst>
  <p:sldIdLst>
    <p:sldId xmlns:r="http://schemas.openxmlformats.org/officeDocument/2006/relationships" id="256" r:id="R5eb8786656e146d8"/>
    <p:sldId xmlns:r="http://schemas.openxmlformats.org/officeDocument/2006/relationships" id="257" r:id="R9596b89312a54ffe"/>
    <p:sldId xmlns:r="http://schemas.openxmlformats.org/officeDocument/2006/relationships" id="258" r:id="R7df9f5caf9004a8e"/>
    <p:sldId xmlns:r="http://schemas.openxmlformats.org/officeDocument/2006/relationships" id="259" r:id="Re895913e9053485a"/>
    <p:sldId xmlns:r="http://schemas.openxmlformats.org/officeDocument/2006/relationships" id="260" r:id="R898ddcf65881475c"/>
    <p:sldId xmlns:r="http://schemas.openxmlformats.org/officeDocument/2006/relationships" id="261" r:id="R5cd12e45a4ec4d6c"/>
    <p:sldId xmlns:r="http://schemas.openxmlformats.org/officeDocument/2006/relationships" id="262" r:id="R58cb2ba1748a4352"/>
    <p:sldId xmlns:r="http://schemas.openxmlformats.org/officeDocument/2006/relationships" id="263" r:id="R3cdbc4bc400840fa"/>
    <p:sldId xmlns:r="http://schemas.openxmlformats.org/officeDocument/2006/relationships" id="264" r:id="Re71c2028bc05418d"/>
    <p:sldId xmlns:r="http://schemas.openxmlformats.org/officeDocument/2006/relationships" id="265" r:id="R37c75e6bde7e4a23"/>
    <p:sldId xmlns:r="http://schemas.openxmlformats.org/officeDocument/2006/relationships" id="266" r:id="R27bce12dd7b14099"/>
    <p:sldId xmlns:r="http://schemas.openxmlformats.org/officeDocument/2006/relationships" id="267" r:id="Rf6a87fb185fc455a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1cda2349fa74db4" /><Relationship Type="http://schemas.openxmlformats.org/officeDocument/2006/relationships/slideMaster" Target="/ppt/slideMasters/slideMaster1.xml" Id="R8c5c47d434d74c9e" /><Relationship Type="http://schemas.openxmlformats.org/officeDocument/2006/relationships/notesMaster" Target="/ppt/notesMasters/notesMaster1.xml" Id="Rf5fab816c1c146ee" /><Relationship Type="http://schemas.openxmlformats.org/officeDocument/2006/relationships/presProps" Target="/ppt/presProps.xml" Id="Rd6fee44b54d54dbc" /><Relationship Type="http://schemas.openxmlformats.org/officeDocument/2006/relationships/viewProps" Target="/ppt/viewProps.xml" Id="Rcc7227d869a84445" /><Relationship Type="http://schemas.openxmlformats.org/officeDocument/2006/relationships/tableStyles" Target="/ppt/tableStyles.xml" Id="R5d0c697100f0486a" /><Relationship Type="http://schemas.openxmlformats.org/officeDocument/2006/relationships/slide" Target="/ppt/slides/slide1.xml" Id="R5eb8786656e146d8" /><Relationship Type="http://schemas.openxmlformats.org/officeDocument/2006/relationships/slide" Target="/ppt/slides/slide2.xml" Id="R9596b89312a54ffe" /><Relationship Type="http://schemas.openxmlformats.org/officeDocument/2006/relationships/slide" Target="/ppt/slides/slide3.xml" Id="R7df9f5caf9004a8e" /><Relationship Type="http://schemas.openxmlformats.org/officeDocument/2006/relationships/slide" Target="/ppt/slides/slide4.xml" Id="Re895913e9053485a" /><Relationship Type="http://schemas.openxmlformats.org/officeDocument/2006/relationships/slide" Target="/ppt/slides/slide5.xml" Id="R898ddcf65881475c" /><Relationship Type="http://schemas.openxmlformats.org/officeDocument/2006/relationships/slide" Target="/ppt/slides/slide6.xml" Id="R5cd12e45a4ec4d6c" /><Relationship Type="http://schemas.openxmlformats.org/officeDocument/2006/relationships/slide" Target="/ppt/slides/slide7.xml" Id="R58cb2ba1748a4352" /><Relationship Type="http://schemas.openxmlformats.org/officeDocument/2006/relationships/slide" Target="/ppt/slides/slide8.xml" Id="R3cdbc4bc400840fa" /><Relationship Type="http://schemas.openxmlformats.org/officeDocument/2006/relationships/slide" Target="/ppt/slides/slide9.xml" Id="Re71c2028bc05418d" /><Relationship Type="http://schemas.openxmlformats.org/officeDocument/2006/relationships/slide" Target="/ppt/slides/slide10.xml" Id="R37c75e6bde7e4a23" /><Relationship Type="http://schemas.openxmlformats.org/officeDocument/2006/relationships/slide" Target="/ppt/slides/slide11.xml" Id="R27bce12dd7b14099" /><Relationship Type="http://schemas.openxmlformats.org/officeDocument/2006/relationships/slide" Target="/ppt/slides/slide12.xml" Id="Rf6a87fb185fc455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430954769bf474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62565dbc5c3459d" /><Relationship Type="http://schemas.openxmlformats.org/officeDocument/2006/relationships/notesMaster" Target="/ppt/notesMasters/notesMaster1.xml" Id="R873c7b1a90e7442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8914c5fee2149a3" /><Relationship Type="http://schemas.openxmlformats.org/officeDocument/2006/relationships/notesMaster" Target="/ppt/notesMasters/notesMaster1.xml" Id="R3d496897b6c8477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f2df67f5000452e" /><Relationship Type="http://schemas.openxmlformats.org/officeDocument/2006/relationships/notesMaster" Target="/ppt/notesMasters/notesMaster1.xml" Id="Rabe984af8b0d4f8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b269a3a948c4f07" /><Relationship Type="http://schemas.openxmlformats.org/officeDocument/2006/relationships/notesMaster" Target="/ppt/notesMasters/notesMaster1.xml" Id="Rdc5573450cab479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3a19283ac6d4f40" /><Relationship Type="http://schemas.openxmlformats.org/officeDocument/2006/relationships/notesMaster" Target="/ppt/notesMasters/notesMaster1.xml" Id="R3e73d38268734b2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d6eb423c099421e" /><Relationship Type="http://schemas.openxmlformats.org/officeDocument/2006/relationships/notesMaster" Target="/ppt/notesMasters/notesMaster1.xml" Id="Rdd6d6096e7e2454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3cbdf56c6eb4901" /><Relationship Type="http://schemas.openxmlformats.org/officeDocument/2006/relationships/notesMaster" Target="/ppt/notesMasters/notesMaster1.xml" Id="R9777e67b578d43a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534bdf3116346cc" /><Relationship Type="http://schemas.openxmlformats.org/officeDocument/2006/relationships/notesMaster" Target="/ppt/notesMasters/notesMaster1.xml" Id="R18bbb9ac3506412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b3f95fe7d6b41d7" /><Relationship Type="http://schemas.openxmlformats.org/officeDocument/2006/relationships/notesMaster" Target="/ppt/notesMasters/notesMaster1.xml" Id="R5f5aa90d7d10440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46be8ec9c734823" /><Relationship Type="http://schemas.openxmlformats.org/officeDocument/2006/relationships/notesMaster" Target="/ppt/notesMasters/notesMaster1.xml" Id="Rbf40899e0da440dc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0b5bc9ff34e4b14" /><Relationship Type="http://schemas.openxmlformats.org/officeDocument/2006/relationships/notesMaster" Target="/ppt/notesMasters/notesMaster1.xml" Id="R0695446f1c2b48b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b2554b453d74866" /><Relationship Type="http://schemas.openxmlformats.org/officeDocument/2006/relationships/notesMaster" Target="/ppt/notesMasters/notesMaster1.xml" Id="R8e2dc68f133e47f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39b61a94bb94aa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9d21e7d3b214441" /><Relationship Type="http://schemas.openxmlformats.org/officeDocument/2006/relationships/slideLayout" Target="/ppt/slideLayouts/slideLayout1.xml" Id="R81f4918c28cc444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1f4918c28cc444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31db36150c42b4" /><Relationship Type="http://schemas.openxmlformats.org/officeDocument/2006/relationships/image" Target="/ppt/media/image.jpeg" Id="R9b8b3e2f0ff54cdc" /><Relationship Type="http://schemas.openxmlformats.org/officeDocument/2006/relationships/notesSlide" Target="/ppt/notesSlides/notesSlide1.xml" Id="R70e6bb38dd5449a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304d81a2a043d2" /><Relationship Type="http://schemas.openxmlformats.org/officeDocument/2006/relationships/image" Target="/ppt/media/image2.jpeg" Id="R02a96a14739b4f6e" /><Relationship Type="http://schemas.openxmlformats.org/officeDocument/2006/relationships/notesSlide" Target="/ppt/notesSlides/notesSlide2.xml" Id="Rd0b279e302e44f0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43965f5e33439c" /><Relationship Type="http://schemas.openxmlformats.org/officeDocument/2006/relationships/image" Target="/ppt/media/image3.jpeg" Id="Rcc46ad17ef1c48be" /><Relationship Type="http://schemas.openxmlformats.org/officeDocument/2006/relationships/notesSlide" Target="/ppt/notesSlides/notesSlide3.xml" Id="R9eeb12f85b58448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d62ecd0ba24224" /><Relationship Type="http://schemas.openxmlformats.org/officeDocument/2006/relationships/image" Target="/ppt/media/image4.jpeg" Id="R00976aee9e944d98" /><Relationship Type="http://schemas.openxmlformats.org/officeDocument/2006/relationships/notesSlide" Target="/ppt/notesSlides/notesSlide4.xml" Id="Re4e747ae5b654bb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2bd05a1b084a32" /><Relationship Type="http://schemas.openxmlformats.org/officeDocument/2006/relationships/image" Target="/ppt/media/image5.jpeg" Id="Rfe15539d40a244de" /><Relationship Type="http://schemas.openxmlformats.org/officeDocument/2006/relationships/notesSlide" Target="/ppt/notesSlides/notesSlide5.xml" Id="Rb7ac740d6721493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dfcfb9feec4f3f" /><Relationship Type="http://schemas.openxmlformats.org/officeDocument/2006/relationships/image" Target="/ppt/media/image6.jpeg" Id="Re45dddc6a0fb4feb" /><Relationship Type="http://schemas.openxmlformats.org/officeDocument/2006/relationships/notesSlide" Target="/ppt/notesSlides/notesSlide6.xml" Id="Rf07c83e493d8407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734d3d8fbb4885" /><Relationship Type="http://schemas.openxmlformats.org/officeDocument/2006/relationships/image" Target="/ppt/media/image7.jpeg" Id="R32ab13b23dc34d43" /><Relationship Type="http://schemas.openxmlformats.org/officeDocument/2006/relationships/notesSlide" Target="/ppt/notesSlides/notesSlide7.xml" Id="Rd876d74e5c7642c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a7b301550e4abe" /><Relationship Type="http://schemas.openxmlformats.org/officeDocument/2006/relationships/image" Target="/ppt/media/image8.jpeg" Id="Rc80014b47d6947aa" /><Relationship Type="http://schemas.openxmlformats.org/officeDocument/2006/relationships/notesSlide" Target="/ppt/notesSlides/notesSlide8.xml" Id="R84d14148a11d40e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39453338154e23" /><Relationship Type="http://schemas.openxmlformats.org/officeDocument/2006/relationships/image" Target="/ppt/media/image9.jpeg" Id="Ra1f4be029d034555" /><Relationship Type="http://schemas.openxmlformats.org/officeDocument/2006/relationships/notesSlide" Target="/ppt/notesSlides/notesSlide9.xml" Id="Re7743a5d4f594d1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b4256f5f174e08" /><Relationship Type="http://schemas.openxmlformats.org/officeDocument/2006/relationships/image" Target="/ppt/media/image10.jpeg" Id="R84b986a3009e40b5" /><Relationship Type="http://schemas.openxmlformats.org/officeDocument/2006/relationships/notesSlide" Target="/ppt/notesSlides/notesSlide10.xml" Id="Rc1c117b65ab84488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43cd9e9fe7420b" /><Relationship Type="http://schemas.openxmlformats.org/officeDocument/2006/relationships/image" Target="/ppt/media/image11.jpeg" Id="R6833d191f0594372" /><Relationship Type="http://schemas.openxmlformats.org/officeDocument/2006/relationships/notesSlide" Target="/ppt/notesSlides/notesSlide11.xml" Id="Rb5afe53e78a846ef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2e9d0bbb2a4be3" /><Relationship Type="http://schemas.openxmlformats.org/officeDocument/2006/relationships/image" Target="/ppt/media/image12.jpeg" Id="Rbe3faf78a6704fac" /><Relationship Type="http://schemas.openxmlformats.org/officeDocument/2006/relationships/notesSlide" Target="/ppt/notesSlides/notesSlide12.xml" Id="R500c5e1a6ba94e48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8b3e2f0ff54cdc"/>
          <a:srcRect xmlns:a="http://schemas.openxmlformats.org/drawingml/2006/main" l="0" t="7813" r="0" b="781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C764D2A-D6E3-4C77-B395-5B50F58D3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406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B576D2-FB98-4F4B-A967-432BE14A1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6">
              <a:alpha val="4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3093148-58A7-45BA-A90F-985717F40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781050"/>
            <a:ext cx="495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TECNOTITAN CORPORATE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599094-FC40-4089-80F4-D4AAC2B70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33500"/>
            <a:ext cx="590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4050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TECNOTITAN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BDF34A-2F8D-4734-99E7-975D720D6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14550"/>
            <a:ext cx="2000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E6FF"/>
          </a:solidFill>
          <a:ln xmlns:a="http://schemas.openxmlformats.org/drawingml/2006/main" w="0">
            <a:solidFill>
              <a:srgbClr val="55E6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2D5EFE-8641-4739-A0F9-138A86172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33650"/>
            <a:ext cx="65722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面向企业未来建设的应用技术公司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628CB69-5D23-4243-8878-04794C953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57625"/>
            <a:ext cx="61912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来自哥伦比亚，面向全球市场，提供软件、人工智能、游戏、机器人和技术转型咨询。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1A0329E-DC81-4F9A-A742-B89390A7F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095875"/>
            <a:ext cx="2571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820">
              <a:alpha val="80000"/>
            </a:srgbClr>
          </a:solidFill>
          <a:ln xmlns:a="http://schemas.openxmlformats.org/drawingml/2006/main" w="9525">
            <a:solidFill>
              <a:srgbClr val="244D5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3E3961F-76F4-4432-9F63-25FF0282F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200650"/>
            <a:ext cx="22669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David Arias Giraldo, CEO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3694807-6502-42E3-A81D-259BFF6C2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5095875"/>
            <a:ext cx="2381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820">
              <a:alpha val="80000"/>
            </a:srgbClr>
          </a:solidFill>
          <a:ln xmlns:a="http://schemas.openxmlformats.org/drawingml/2006/main" w="9525">
            <a:solidFill>
              <a:srgbClr val="244D59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A176064-22F0-4068-B3FC-2D719D807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5200650"/>
            <a:ext cx="2076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Investor Deck / 2026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A654030-229A-492E-B2C2-875FD99E2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343150"/>
            <a:ext cx="3143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E27">
              <a:alpha val="80000"/>
            </a:srgbClr>
          </a:solidFill>
          <a:ln xmlns:a="http://schemas.openxmlformats.org/drawingml/2006/main" w="9525">
            <a:solidFill>
              <a:srgbClr val="1B4451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78C1912-B6F0-4D35-B1A0-58F310AE3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50507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6685C08-B4DA-492E-B0F4-B90D4F5F8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486025"/>
            <a:ext cx="22669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6 条产品线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AD3A142-137C-42A7-B562-4D6766CAC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143250"/>
            <a:ext cx="3143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51C">
              <a:alpha val="80000"/>
            </a:srgbClr>
          </a:solidFill>
          <a:ln xmlns:a="http://schemas.openxmlformats.org/drawingml/2006/main" w="9525">
            <a:solidFill>
              <a:srgbClr val="1B445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F83B0C8-04AF-49EC-A294-250993DC6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30517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8338A50-E396-4BCC-89D2-614223634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286125"/>
            <a:ext cx="22669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5 个技术事业部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1BCD30F-FC79-4A82-8FBF-DE9C271FD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943350"/>
            <a:ext cx="3143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E27">
              <a:alpha val="80000"/>
            </a:srgbClr>
          </a:solidFill>
          <a:ln xmlns:a="http://schemas.openxmlformats.org/drawingml/2006/main" w="9525">
            <a:solidFill>
              <a:srgbClr val="1B4451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67AE603-437E-413E-AB5A-A8218CE15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10527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44E0C37-5AE7-48F8-A296-0B24E9042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4086225"/>
            <a:ext cx="22669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精简执行团队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17AEB66-CE51-415D-8826-A3A17B05C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2000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TECNOTITAN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729CF04-FFB9-4761-8732-E7F8CEA3E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219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B7D6"/>
          </a:solidFill>
          <a:ln xmlns:a="http://schemas.openxmlformats.org/drawingml/2006/main" w="0">
            <a:solidFill>
              <a:srgbClr val="16B7D6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03211CD-C4B6-4462-B91C-82F1E8A5F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361950"/>
            <a:ext cx="1066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ZH / 01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AD666F0-D224-407E-923F-85BF8DE6C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6305550"/>
            <a:ext cx="2209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E7D8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C"/>
                </a:solidFill>
                <a:latin typeface="Aptos"/>
                <a:ea typeface="Aptos"/>
                <a:cs typeface="Aptos"/>
              </a:rPr>
              <a:t>www.tecnotitan.com</a:t>
            </a:r>
          </a:p>
        </p:txBody>
      </p:sp>
    </p:spTree>
    <p:extLst>
      <p:ext uri="{BB962C8B-B14F-4D97-AF65-F5344CB8AC3E}">
        <p14:creationId xmlns:p14="http://schemas.microsoft.com/office/powerpoint/2010/main" val="1681968601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a96a14739b4f6e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F4E9A67-4E71-491E-A329-BF068116D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406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AFD256-30B5-44E5-AE8D-21FF6061F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6">
              <a:alpha val="4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D0F022-DF92-48D7-806C-A783A9B7A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104900"/>
            <a:ext cx="5715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投资论点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78225C3-8465-4BC0-A83B-A1288789E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04950"/>
            <a:ext cx="5715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企业需要建设者，而不仅是顾问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1A18BC-026E-4CE1-86D4-E7CFEA2C5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33700"/>
            <a:ext cx="57150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真正的 AI 落地需要诊断、软件、数据、自动化和运营文化作为一个系统协同工作。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3559C8-388D-46C6-BAE6-B99872CBA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29150"/>
            <a:ext cx="31877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3573A56-BDAF-4363-AD92-7B16DAF8D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80060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7726C9D-3559-44BE-A606-B51987974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143500"/>
            <a:ext cx="28448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AI + 软件核心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EDA95DD-A9C1-4EE0-A582-A9DA24C40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9700" y="5219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C68"/>
          </a:solidFill>
          <a:ln xmlns:a="http://schemas.openxmlformats.org/drawingml/2006/main" w="0">
            <a:solidFill>
              <a:srgbClr val="2D5C6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2561FFD-CED7-4DC8-8570-E7A27A970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3050" y="4629150"/>
            <a:ext cx="31877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34F0130-A618-441B-98EA-AA34AE48E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480060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0D61568-B054-46FA-989C-29092A72C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5143500"/>
            <a:ext cx="28448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交互式采用体验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82CFA4F-A50F-4738-AD8F-3D1EEC17E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8850" y="5219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C68"/>
          </a:solidFill>
          <a:ln xmlns:a="http://schemas.openxmlformats.org/drawingml/2006/main" w="0">
            <a:solidFill>
              <a:srgbClr val="2D5C6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F81A94-DEF8-41E4-B96B-8B638A8ED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2200" y="4629150"/>
            <a:ext cx="31877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41F5A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8CA525F-17DD-45B0-A692-4AEA8E8B1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3650" y="480060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41F5A0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41F5A0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1D40333-F1A9-4213-9B85-74826963D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3650" y="5143500"/>
            <a:ext cx="28448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机器人与自动化前沿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5BA4EAF-BFB3-4C48-9461-825DE6BC3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2000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TECNOTITAN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7DA91B0-8CE0-4ECF-B57B-17165B4EA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219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B7D6"/>
          </a:solidFill>
          <a:ln xmlns:a="http://schemas.openxmlformats.org/drawingml/2006/main" w="0">
            <a:solidFill>
              <a:srgbClr val="16B7D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2DCF72B-7A2A-4CE8-86FF-56868075D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361950"/>
            <a:ext cx="1066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ZH / 02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B3AC6A3-42DD-4676-B3E2-BEB0AADEA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6305550"/>
            <a:ext cx="2209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E7D8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C"/>
                </a:solidFill>
                <a:latin typeface="Aptos"/>
                <a:ea typeface="Aptos"/>
                <a:cs typeface="Aptos"/>
              </a:rPr>
              <a:t>www.tecnotitan.com</a:t>
            </a:r>
          </a:p>
        </p:txBody>
      </p:sp>
    </p:spTree>
    <p:extLst>
      <p:ext uri="{BB962C8B-B14F-4D97-AF65-F5344CB8AC3E}">
        <p14:creationId xmlns:p14="http://schemas.microsoft.com/office/powerpoint/2010/main" val="468822055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c46ad17ef1c48be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D83F3E7-A53D-44E1-8B4D-648BA5FBB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406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44BA814-082E-4755-BFBA-9A841072B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6">
              <a:alpha val="4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534649E-E014-4FC4-9F02-2541E54D8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028700"/>
            <a:ext cx="5619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问题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3E499AD-6D95-4144-9CD7-31E77D431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28750"/>
            <a:ext cx="56197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当技术转型被割裂在孤岛中，就会停滞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55EA8F-CACD-4530-9620-8E2007BB6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57500"/>
            <a:ext cx="56197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许多公司仍有大量手工流程、未被充分使用的数据、AI 落地压力，以及缺乏从想法到产品的清晰路径。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2CF626C-2D90-4420-9F91-CFD877915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1524000"/>
            <a:ext cx="3476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E27">
              <a:alpha val="80000"/>
            </a:srgbClr>
          </a:solidFill>
          <a:ln xmlns:a="http://schemas.openxmlformats.org/drawingml/2006/main" w="9525">
            <a:solidFill>
              <a:srgbClr val="1B4451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0FE0079-6578-45D0-B0AB-3A5850554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168592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A3C8596-5F05-4FE5-A31E-1DCCB8CDE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666875"/>
            <a:ext cx="26003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重复工作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71E9771-D393-4111-B316-E11A6D87F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2324100"/>
            <a:ext cx="3476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51C">
              <a:alpha val="80000"/>
            </a:srgbClr>
          </a:solidFill>
          <a:ln xmlns:a="http://schemas.openxmlformats.org/drawingml/2006/main" w="9525">
            <a:solidFill>
              <a:srgbClr val="1B445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29F31EE-6369-4F83-9320-38DA4A918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248602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99CB238-D2AA-4128-A087-D7747C25D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466975"/>
            <a:ext cx="26003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数据缺少行动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AAE83ED-25BA-4908-BC7B-3027B53C7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3124200"/>
            <a:ext cx="3476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E27">
              <a:alpha val="80000"/>
            </a:srgbClr>
          </a:solidFill>
          <a:ln xmlns:a="http://schemas.openxmlformats.org/drawingml/2006/main" w="9525">
            <a:solidFill>
              <a:srgbClr val="1B4451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0CDFA1C-CF77-47DB-B7A4-55B487749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328612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3EC9C4E-63AE-4792-AE84-303EC98D2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267075"/>
            <a:ext cx="26003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AI 缺少采用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1A8C674-B0C5-4BAB-95B6-4669B8409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3924300"/>
            <a:ext cx="3476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51C">
              <a:alpha val="80000"/>
            </a:srgbClr>
          </a:solidFill>
          <a:ln xmlns:a="http://schemas.openxmlformats.org/drawingml/2006/main" w="9525">
            <a:solidFill>
              <a:srgbClr val="1B445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A213A15-F52F-42E1-B3BA-81BE23773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408622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7CBC78D-6227-401C-AEB7-780DCBB29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067175"/>
            <a:ext cx="26003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人才缺少方法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13890FF-D84F-4A8C-9CE5-9EC317F74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291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A8B7C7"/>
                </a:solidFill>
                <a:latin typeface="Aptos"/>
                <a:ea typeface="Aptos"/>
                <a:cs typeface="Aptos"/>
              </a:rPr>
              <a:t>Manual workflows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3B04D0E-7781-4D03-9870-3DE18A820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95850"/>
            <a:ext cx="3429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5"/>
          </a:solidFill>
          <a:ln xmlns:a="http://schemas.openxmlformats.org/drawingml/2006/main" w="9525">
            <a:solidFill>
              <a:srgbClr val="193641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509DC06-C5E6-4422-913E-2A83EE0C8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95850"/>
            <a:ext cx="2476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E6FF"/>
          </a:solidFill>
          <a:ln xmlns:a="http://schemas.openxmlformats.org/drawingml/2006/main" w="0">
            <a:solidFill>
              <a:srgbClr val="55E6F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CFDE55C-5DF2-48BA-917D-036B0D919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1625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A8B7C7"/>
                </a:solidFill>
                <a:latin typeface="Aptos"/>
                <a:ea typeface="Aptos"/>
                <a:cs typeface="Aptos"/>
              </a:rPr>
              <a:t>Data activation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F677AA6-79DE-4293-BDDF-0FF91B5CA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29250"/>
            <a:ext cx="3429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5"/>
          </a:solidFill>
          <a:ln xmlns:a="http://schemas.openxmlformats.org/drawingml/2006/main" w="9525">
            <a:solidFill>
              <a:srgbClr val="193641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8D66326-A3AA-40BB-86F8-C77BEC71D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29250"/>
            <a:ext cx="1714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F5A0"/>
          </a:solidFill>
          <a:ln xmlns:a="http://schemas.openxmlformats.org/drawingml/2006/main" w="0">
            <a:solidFill>
              <a:srgbClr val="41F5A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D362D8F-6995-4521-B487-E740999D5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959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A8B7C7"/>
                </a:solidFill>
                <a:latin typeface="Aptos"/>
                <a:ea typeface="Aptos"/>
                <a:cs typeface="Aptos"/>
              </a:rPr>
              <a:t>AI adoption gap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32983DD-23C8-4461-AB9B-C73C6B774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962650"/>
            <a:ext cx="3429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5"/>
          </a:solidFill>
          <a:ln xmlns:a="http://schemas.openxmlformats.org/drawingml/2006/main" w="9525">
            <a:solidFill>
              <a:srgbClr val="193641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EE03CF5-75CC-4CC6-844F-BAFDBBD53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962650"/>
            <a:ext cx="28384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F6B"/>
          </a:solidFill>
          <a:ln xmlns:a="http://schemas.openxmlformats.org/drawingml/2006/main" w="0">
            <a:solidFill>
              <a:srgbClr val="FFCF6B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BFB7BAA-51F5-4A9E-890F-1DF61EB51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2000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TECNOTITAN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109C4DD-3D49-4E2F-9577-197A91425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219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B7D6"/>
          </a:solidFill>
          <a:ln xmlns:a="http://schemas.openxmlformats.org/drawingml/2006/main" w="0">
            <a:solidFill>
              <a:srgbClr val="16B7D6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EE448F0-5FA8-4623-ABC9-19040344E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361950"/>
            <a:ext cx="1066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ZH / 03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D6ED152-A882-4151-9E63-7D729A8B5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6305550"/>
            <a:ext cx="2209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E7D8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C"/>
                </a:solidFill>
                <a:latin typeface="Aptos"/>
                <a:ea typeface="Aptos"/>
                <a:cs typeface="Aptos"/>
              </a:rPr>
              <a:t>www.tecnotitan.com</a:t>
            </a:r>
          </a:p>
        </p:txBody>
      </p:sp>
    </p:spTree>
    <p:extLst>
      <p:ext uri="{BB962C8B-B14F-4D97-AF65-F5344CB8AC3E}">
        <p14:creationId xmlns:p14="http://schemas.microsoft.com/office/powerpoint/2010/main" val="47446855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976aee9e944d98"/>
          <a:srcRect xmlns:a="http://schemas.openxmlformats.org/drawingml/2006/main" l="0" t="7813" r="0" b="781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202F8D8-C97E-4067-B22F-AB58496E9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406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D132BD-57DE-4FA4-8083-EB25D1D3D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6">
              <a:alpha val="4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7A91AE-A3EE-469B-80C2-5865626F6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95350"/>
            <a:ext cx="6191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平台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D8BCF4-2256-4634-869E-170D2C684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295400"/>
            <a:ext cx="61912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Tecnotitan 将咨询转化为产品，再将产品转化为平台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A5EB832-407A-4AC0-9B1A-0A9B3C443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24150"/>
            <a:ext cx="6191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每个项目都会沉淀可复用模块、行业知识和能力，从而加速新的解决方案。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664391-4266-4B9B-A8E6-6A181D1BE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90950"/>
            <a:ext cx="2224088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B366D8-E52A-4AD9-81F1-17599E40D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96240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3A38F80-EFBA-4FAA-8658-4CCB721EC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305300"/>
            <a:ext cx="1881188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诊断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8B5EB0F-6BE1-4BC4-A58B-6180D7985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6588" y="43815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C68"/>
          </a:solidFill>
          <a:ln xmlns:a="http://schemas.openxmlformats.org/drawingml/2006/main" w="0">
            <a:solidFill>
              <a:srgbClr val="2D5C6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36EC82A-A13A-4C23-9BED-9581F8697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9938" y="3790950"/>
            <a:ext cx="2224088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DDC05F8-C9C7-4D30-8B59-94C35A169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1388" y="396240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50E603E-D8FA-4BA4-A2BD-EF3D6CDF8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1388" y="4305300"/>
            <a:ext cx="1881188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构建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9E9D1DB-6202-4885-BEFE-112317C76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43815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C68"/>
          </a:solidFill>
          <a:ln xmlns:a="http://schemas.openxmlformats.org/drawingml/2006/main" w="0">
            <a:solidFill>
              <a:srgbClr val="2D5C6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BC7802C-8F77-4234-8E7E-2F1376720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475" y="3790950"/>
            <a:ext cx="2224088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D644EF4-6E40-4FCA-881F-E3D331ADF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6925" y="396240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9B21BAD-221D-4048-ACB2-0E0F7511F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6925" y="4305300"/>
            <a:ext cx="1881188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产品化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49190D1-0A55-41CB-AEF6-D6F2CF19E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7663" y="43815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C68"/>
          </a:solidFill>
          <a:ln xmlns:a="http://schemas.openxmlformats.org/drawingml/2006/main" w="0">
            <a:solidFill>
              <a:srgbClr val="2D5C6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5A1BD54-4F86-4C06-BFA9-4D69CC2E4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1013" y="3790950"/>
            <a:ext cx="2224088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41F5A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FD1A300-DE85-4F2A-B7AF-56765A315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463" y="396240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41F5A0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41F5A0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B0117F8-7E65-46D3-A569-D4EAE1AB6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463" y="4305300"/>
            <a:ext cx="1881188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规模化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17C848A-2AF2-4439-B8FD-7325BB5B9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276850"/>
            <a:ext cx="8286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Reusable IP, sector knowledge and operating playbooks compound across every project.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B909933-92A8-4557-92AE-C6CEC920F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2000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TECNOTITAN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A775A63-37B3-4C7B-AF2E-496D33960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219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B7D6"/>
          </a:solidFill>
          <a:ln xmlns:a="http://schemas.openxmlformats.org/drawingml/2006/main" w="0">
            <a:solidFill>
              <a:srgbClr val="16B7D6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3F537F9-4C02-4AD4-B0C0-82A3BE8EE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361950"/>
            <a:ext cx="1066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ZH / 04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B9C805A-FC05-48FD-BDE8-EB5255823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6305550"/>
            <a:ext cx="2209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E7D8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C"/>
                </a:solidFill>
                <a:latin typeface="Aptos"/>
                <a:ea typeface="Aptos"/>
                <a:cs typeface="Aptos"/>
              </a:rPr>
              <a:t>www.tecnotitan.com</a:t>
            </a:r>
          </a:p>
        </p:txBody>
      </p:sp>
    </p:spTree>
    <p:extLst>
      <p:ext uri="{BB962C8B-B14F-4D97-AF65-F5344CB8AC3E}">
        <p14:creationId xmlns:p14="http://schemas.microsoft.com/office/powerpoint/2010/main" val="770465108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15539d40a244de"/>
          <a:srcRect xmlns:a="http://schemas.openxmlformats.org/drawingml/2006/main" l="0" t="7813" r="0" b="781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2D02393-3B5D-4AE6-9836-BF0E2A299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406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DA9CF9F-03F2-46A4-9F5C-498AF9D75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6">
              <a:alpha val="4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71139A-C325-4E80-A893-345827DE7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38200"/>
            <a:ext cx="581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产品组合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B2FE01-3608-42AB-BFEC-C62A88F3E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238250"/>
            <a:ext cx="58102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服务企业、人才和数字体验的产品系统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3ED975D-1057-454A-91C5-FED1244CF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67000"/>
            <a:ext cx="5810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产品组合从紧迫需求切入，并扩展到运营、学习和应用智能。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20D02A4-9E7C-40CB-96CA-CEC6AA8A2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19500"/>
            <a:ext cx="32766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4566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68289F4-EEDC-45FC-BEAD-B9E9DF8DA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829050"/>
            <a:ext cx="29337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Copiloto Pyme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0F2D0CA-2A6C-463C-8361-E1E7A98EB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3619500"/>
            <a:ext cx="32766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1A4C5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8A12FB9-6E1A-43F8-9111-C641468A0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829050"/>
            <a:ext cx="29337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Tecnotitan OS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A91E77F-84AD-44F9-AA5B-71C2E3325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619500"/>
            <a:ext cx="32766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4566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43A88CE-7BC9-4985-AE49-1293928E7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829050"/>
            <a:ext cx="29337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Life Copilot 移动应用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E7F984-1470-4151-843B-F566B25A3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72000"/>
            <a:ext cx="32766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1A4C5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BDB52CD-E914-4D8B-92E3-5C389E9FE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781550"/>
            <a:ext cx="29337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Tecnotitan Engine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BB34903-E3B1-48DB-8D0E-F624000C7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4572000"/>
            <a:ext cx="32766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4566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39A8198-6FAB-4C69-98D3-353FE74A5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781550"/>
            <a:ext cx="29337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Tecnotitan Academy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A0AD93D-5D99-46B4-A8B8-62517BC48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4572000"/>
            <a:ext cx="32766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1A4C5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02EF24D-F2E7-4BFD-9114-54F31E5E1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781550"/>
            <a:ext cx="29337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Tecnotitan AI Call Center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7795AFF-5B51-43A3-8AD2-6C3EB846B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2000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TECNOTITAN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E2BB3C2-0413-4F29-B3BE-2C2AD630A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219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B7D6"/>
          </a:solidFill>
          <a:ln xmlns:a="http://schemas.openxmlformats.org/drawingml/2006/main" w="0">
            <a:solidFill>
              <a:srgbClr val="16B7D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F00351C-BF7B-4A55-AA79-947C17A70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361950"/>
            <a:ext cx="1066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ZH / 05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A941424-752C-497D-89EC-952A06A10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6305550"/>
            <a:ext cx="2209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E7D8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C"/>
                </a:solidFill>
                <a:latin typeface="Aptos"/>
                <a:ea typeface="Aptos"/>
                <a:cs typeface="Aptos"/>
              </a:rPr>
              <a:t>www.tecnotitan.com</a:t>
            </a:r>
          </a:p>
        </p:txBody>
      </p:sp>
    </p:spTree>
    <p:extLst>
      <p:ext uri="{BB962C8B-B14F-4D97-AF65-F5344CB8AC3E}">
        <p14:creationId xmlns:p14="http://schemas.microsoft.com/office/powerpoint/2010/main" val="960102672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5dddc6a0fb4feb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52CB1C6-9E73-4AA5-888E-CCECF61C5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406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65AE01-00C9-4735-87F0-D3829AFD1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6">
              <a:alpha val="4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A1902B-596C-4305-B9CA-AE1B79CFD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33450"/>
            <a:ext cx="581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服务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2CB12D-6DA2-406D-BFEC-5CD594EAD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33500"/>
            <a:ext cx="58102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咨询加速收入和市场学习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9233C0-2C37-4736-AD81-694201E30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62250"/>
            <a:ext cx="5810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服务建立信任、发现真实问题，并将实施经验转化为可重复资产。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CA8966A-88F0-4E3E-BF60-0B0619FA8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905250"/>
            <a:ext cx="2205038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93E0B1D-C5E3-45A6-9CD1-C41A056E3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07670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99604DA-8F34-4F56-A9F4-D6790D0B5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419600"/>
            <a:ext cx="1862138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AI 诊断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B2820C1-EDA5-4050-A518-C38DBD6B5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5638" y="44958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C68"/>
          </a:solidFill>
          <a:ln xmlns:a="http://schemas.openxmlformats.org/drawingml/2006/main" w="0">
            <a:solidFill>
              <a:srgbClr val="2D5C6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3786B24-70E4-462F-8BBB-C7B83868E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8988" y="3905250"/>
            <a:ext cx="2205038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5C0D269-5AD9-47C9-8337-29366003D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0438" y="407670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7F0180D-152F-4DFA-AAFB-88DBA4090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0438" y="4419600"/>
            <a:ext cx="1862138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技术路线图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0FA502A-8B2C-4770-AA6F-E01961389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44958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C68"/>
          </a:solidFill>
          <a:ln xmlns:a="http://schemas.openxmlformats.org/drawingml/2006/main" w="0">
            <a:solidFill>
              <a:srgbClr val="2D5C6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2849BED-F7C4-43E5-9814-81FAF45D9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475" y="3905250"/>
            <a:ext cx="2205038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68AFDA4-191C-4718-A9E9-C21E8442F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6925" y="407670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8B77EB7-72A6-48B7-BBA7-CD37232E4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6925" y="4419600"/>
            <a:ext cx="1862138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实施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9D1BB70-EB5D-4734-AB91-2743617A0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8613" y="44958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C68"/>
          </a:solidFill>
          <a:ln xmlns:a="http://schemas.openxmlformats.org/drawingml/2006/main" w="0">
            <a:solidFill>
              <a:srgbClr val="2D5C6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C7386F9-97ED-4335-B3BC-A8D553F27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1963" y="3905250"/>
            <a:ext cx="2205038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41F5A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9DA1BC0-44B5-4BF8-9A5D-0BC65AADC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3413" y="407670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41F5A0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41F5A0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97A86C5-305E-464F-BE0F-636456365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3413" y="4419600"/>
            <a:ext cx="1862138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采用与培训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8E3C9B1-BC6F-4124-8F9C-D432FE78F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5429250"/>
            <a:ext cx="7905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Services are the market-sensing engine that turns demand into product decisions.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A00DA88-F72F-4946-BF92-0D214BE6B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2000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TECNOTITAN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B1F58D3-2949-42F7-A9D4-34806DF66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219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B7D6"/>
          </a:solidFill>
          <a:ln xmlns:a="http://schemas.openxmlformats.org/drawingml/2006/main" w="0">
            <a:solidFill>
              <a:srgbClr val="16B7D6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FB1102C-D63D-46DC-A128-EE5E1FDA6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361950"/>
            <a:ext cx="1066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ZH / 06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60DCF34-6D0B-474E-98EA-D5BABBC6C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6305550"/>
            <a:ext cx="2209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E7D8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C"/>
                </a:solidFill>
                <a:latin typeface="Aptos"/>
                <a:ea typeface="Aptos"/>
                <a:cs typeface="Aptos"/>
              </a:rPr>
              <a:t>www.tecnotitan.com</a:t>
            </a:r>
          </a:p>
        </p:txBody>
      </p:sp>
    </p:spTree>
    <p:extLst>
      <p:ext uri="{BB962C8B-B14F-4D97-AF65-F5344CB8AC3E}">
        <p14:creationId xmlns:p14="http://schemas.microsoft.com/office/powerpoint/2010/main" val="298765322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2ab13b23dc34d43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47B571-2D1C-4F36-9793-48FF55183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406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5B03620-C009-4C24-BAE5-3DB5F5644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6">
              <a:alpha val="4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03F9BE-96C1-4426-BE16-163BDD563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781050"/>
            <a:ext cx="6191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事业部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7D70A6-2EA7-4FBB-9A6D-E9B5AE5E1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181100"/>
            <a:ext cx="61912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五个事业部共享 IP、数据和人才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2F5EC2A-3B41-45FD-92BF-366AAD06E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09850"/>
            <a:ext cx="6191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软件、AI、游戏、机器人和技术转型以共同架构运作，而不是孤立业务。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48BF90-414D-4044-8D52-D7136BE19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371850"/>
            <a:ext cx="3143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1117">
              <a:alpha val="93333"/>
            </a:srgbClr>
          </a:solidFill>
          <a:ln xmlns:a="http://schemas.openxmlformats.org/drawingml/2006/main" w="19050">
            <a:solidFill>
              <a:srgbClr val="55E6F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BE9DB6D-53A7-4C73-B400-A4DF8578D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581400"/>
            <a:ext cx="2266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TECNOTITAN</a:t>
            </a:r>
          </a:p>
          <a:p xmlns:a="http://schemas.openxmlformats.org/drawingml/2006/main">
            <a:pPr algn="ctr">
              <a:defRPr sz="180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CORE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7C74CB-25D2-471D-93B8-1CD6618AF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457700"/>
            <a:ext cx="3848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Shared IP, data and reusable playbooks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E05543A-2D09-4239-85BD-CA4721B93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143500"/>
            <a:ext cx="20383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A23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B7BC243-5C64-432B-BBFD-278F0502F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353050"/>
            <a:ext cx="1771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软件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BE62B3-5E0F-44EB-B775-322AE0E88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4762500"/>
            <a:ext cx="190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5563"/>
          </a:solidFill>
          <a:ln xmlns:a="http://schemas.openxmlformats.org/drawingml/2006/main" w="0">
            <a:solidFill>
              <a:srgbClr val="28556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408E9FD-9790-4D75-9881-F5FFF69DC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5143500"/>
            <a:ext cx="20383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A23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8A4C12F-F87E-4AB9-8D0C-ADD455510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5353050"/>
            <a:ext cx="1771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人工智能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6770352-1AF1-41D6-8955-5A126C837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762500"/>
            <a:ext cx="190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5563"/>
          </a:solidFill>
          <a:ln xmlns:a="http://schemas.openxmlformats.org/drawingml/2006/main" w="0">
            <a:solidFill>
              <a:srgbClr val="28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A321B44-40FB-48E8-8643-50DAF36EA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5143500"/>
            <a:ext cx="20383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A23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C109D90-7C7B-4C16-A529-FCE47096B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5353050"/>
            <a:ext cx="1771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游戏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D88DB34-D1D4-425C-B858-E49E57E47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762500"/>
            <a:ext cx="190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5563"/>
          </a:solidFill>
          <a:ln xmlns:a="http://schemas.openxmlformats.org/drawingml/2006/main" w="0">
            <a:solidFill>
              <a:srgbClr val="28556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3D2399E-8215-4C01-A3D2-6C5081410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143500"/>
            <a:ext cx="20383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A23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EE6477E-283A-4283-8473-C6CF82866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5353050"/>
            <a:ext cx="1771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机器人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9B68694-C1F6-4A71-8BF9-51A009A58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762500"/>
            <a:ext cx="190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5563"/>
          </a:solidFill>
          <a:ln xmlns:a="http://schemas.openxmlformats.org/drawingml/2006/main" w="0">
            <a:solidFill>
              <a:srgbClr val="28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3E2BE0D-CF48-4D4E-B8E2-2255AC575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5143500"/>
            <a:ext cx="20383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A23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1CED9D2-CA2B-41D5-8E76-94FB78DF8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5353050"/>
            <a:ext cx="1771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技术咨询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38EA601-0A2E-4C5D-AF84-E3878843D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4762500"/>
            <a:ext cx="190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5563"/>
          </a:solidFill>
          <a:ln xmlns:a="http://schemas.openxmlformats.org/drawingml/2006/main" w="0">
            <a:solidFill>
              <a:srgbClr val="285563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658F397-22DD-4F2D-B5E4-1A721BB25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075" y="4762500"/>
            <a:ext cx="8686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5563"/>
          </a:solidFill>
          <a:ln xmlns:a="http://schemas.openxmlformats.org/drawingml/2006/main" w="0">
            <a:solidFill>
              <a:srgbClr val="28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0D68458-5681-4F37-A7AF-3BE333826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2000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TECNOTITAN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F571C89-EB45-4416-8502-5EC376802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219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B7D6"/>
          </a:solidFill>
          <a:ln xmlns:a="http://schemas.openxmlformats.org/drawingml/2006/main" w="0">
            <a:solidFill>
              <a:srgbClr val="16B7D6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16DFF6B-9AC3-4ED5-8DC4-6A86166D3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361950"/>
            <a:ext cx="1066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ZH / 07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8A63711-ED23-4178-A14C-E7CE1BB86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6305550"/>
            <a:ext cx="2209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E7D8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C"/>
                </a:solidFill>
                <a:latin typeface="Aptos"/>
                <a:ea typeface="Aptos"/>
                <a:cs typeface="Aptos"/>
              </a:rPr>
              <a:t>www.tecnotitan.com</a:t>
            </a:r>
          </a:p>
        </p:txBody>
      </p:sp>
    </p:spTree>
    <p:extLst>
      <p:ext uri="{BB962C8B-B14F-4D97-AF65-F5344CB8AC3E}">
        <p14:creationId xmlns:p14="http://schemas.microsoft.com/office/powerpoint/2010/main" val="1081538512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0014b47d6947aa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670DF6C-DD2D-4F8D-92CA-F54EC605A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406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931BA2-4131-4B71-9F48-75F5AA45B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6">
              <a:alpha val="4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1F206CD-F5C2-47ED-9AB9-6BCD1B94A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76300"/>
            <a:ext cx="6000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商业模式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737014-86F7-4FB2-907F-DE2556A7A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276350"/>
            <a:ext cx="60007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今天来自服务收入，明天来自可扩展产品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4EFBDB-F930-47F0-954B-7D9BD8218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05100"/>
            <a:ext cx="60007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商业模式结合咨询、实施、订阅、授权、学院项目和未来技术 spin-off。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81E9CF2-86FD-4EA9-9555-1870D5A70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29050"/>
            <a:ext cx="2252663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8674C65-C6EC-418F-998E-9C9899AC6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00050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0208CFF-7CEA-400B-B45B-CA024C536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343400"/>
            <a:ext cx="1909763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服务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A1D3CEB-A013-4D17-B315-868BD570C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7063" y="44196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C68"/>
          </a:solidFill>
          <a:ln xmlns:a="http://schemas.openxmlformats.org/drawingml/2006/main" w="0">
            <a:solidFill>
              <a:srgbClr val="2D5C6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285327F-83AD-4705-B88C-186FB5661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0413" y="3829050"/>
            <a:ext cx="2252663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BE31391-B28E-479C-96AE-1DAF63C6E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1863" y="400050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1171E62-CD1F-441F-BB04-F0EF57070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1863" y="4343400"/>
            <a:ext cx="1909763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SaaS 与授权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9F0BC1B-F361-413C-992B-EE12D7052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91175" y="44196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C68"/>
          </a:solidFill>
          <a:ln xmlns:a="http://schemas.openxmlformats.org/drawingml/2006/main" w="0">
            <a:solidFill>
              <a:srgbClr val="2D5C6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DADC01B-66ED-41A6-AA77-CA83F0CF1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24525" y="3829050"/>
            <a:ext cx="2252663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22550F1-138F-46B0-82A7-6193E8960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5975" y="400050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48AF937-C5AE-44BD-9A43-6AE44D49D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5975" y="4343400"/>
            <a:ext cx="1909763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学院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BC28CA9-4078-43F4-9826-929C195A8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5288" y="44196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C68"/>
          </a:solidFill>
          <a:ln xmlns:a="http://schemas.openxmlformats.org/drawingml/2006/main" w="0">
            <a:solidFill>
              <a:srgbClr val="2D5C6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D96DCEE-B438-4001-8E98-ED1A4A2E7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8638" y="3829050"/>
            <a:ext cx="2252663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41F5A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F5D7080-548E-46C9-8CDC-B2975EE9E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0088" y="400050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41F5A0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41F5A0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A374386-24B0-480E-A9E5-12DFBD8E0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0088" y="4343400"/>
            <a:ext cx="1909763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Ventures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AF20CFA-1B0E-4BE8-9513-E22709B52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391150"/>
            <a:ext cx="7905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Each layer can monetize independently while feeding data, references and reusable modules back into the platform.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9B620F1-2952-4AF9-873C-C9C8461E8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2000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TECNOTITAN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4BC3ADC-EC2C-471F-96D3-A88C509B3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219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B7D6"/>
          </a:solidFill>
          <a:ln xmlns:a="http://schemas.openxmlformats.org/drawingml/2006/main" w="0">
            <a:solidFill>
              <a:srgbClr val="16B7D6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CFA7818-78A6-409D-A60D-07C5989F2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361950"/>
            <a:ext cx="1066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ZH / 08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16BBDDF-3DB4-4966-AA1E-84F73C421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6305550"/>
            <a:ext cx="2209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E7D8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C"/>
                </a:solidFill>
                <a:latin typeface="Aptos"/>
                <a:ea typeface="Aptos"/>
                <a:cs typeface="Aptos"/>
              </a:rPr>
              <a:t>www.tecnotitan.com</a:t>
            </a:r>
          </a:p>
        </p:txBody>
      </p:sp>
    </p:spTree>
    <p:extLst>
      <p:ext uri="{BB962C8B-B14F-4D97-AF65-F5344CB8AC3E}">
        <p14:creationId xmlns:p14="http://schemas.microsoft.com/office/powerpoint/2010/main" val="209083579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1f4be029d034555"/>
          <a:srcRect xmlns:a="http://schemas.openxmlformats.org/drawingml/2006/main" l="0" t="7813" r="0" b="781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9BC407E-F5D9-4214-8B35-00FADDA6F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406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E530CF-F426-493E-849A-F206FEE02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6">
              <a:alpha val="4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91F375E-7BD3-470A-932F-77E7FDB50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76300"/>
            <a:ext cx="5715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市场进入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034C3C-41A3-4EEB-A343-564B72A4A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276350"/>
            <a:ext cx="5715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从运营痛点进入，通过平台扩张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4294DC5-4A9A-4E61-9887-F8C093973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05100"/>
            <a:ext cx="57150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Tecnotitan 可以从企业 AI 和软件项目开始，再扩展到解决重复场景的产品。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626670E-6D80-44D0-9135-35577DCEB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1447800"/>
            <a:ext cx="34861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E27">
              <a:alpha val="80000"/>
            </a:srgbClr>
          </a:solidFill>
          <a:ln xmlns:a="http://schemas.openxmlformats.org/drawingml/2006/main" w="9525">
            <a:solidFill>
              <a:srgbClr val="1B4451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B9D3CA8-3B4D-4905-A855-0BAE6E393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160972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0645C9-26E3-400E-9A90-44C3B51CE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1590675"/>
            <a:ext cx="26098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拉美作为基地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0A78F2A-BF25-4453-B215-51966C0B0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247900"/>
            <a:ext cx="34861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51C">
              <a:alpha val="80000"/>
            </a:srgbClr>
          </a:solidFill>
          <a:ln xmlns:a="http://schemas.openxmlformats.org/drawingml/2006/main" w="9525">
            <a:solidFill>
              <a:srgbClr val="1B445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BEFBB5B-9B7D-45BB-8D4B-DCB1E94CA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240982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66080D3-D2B2-4275-BFC5-45233C3A8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390775"/>
            <a:ext cx="26098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中型企业与大型企业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63013BA-26DC-48C8-B6CA-932700566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048000"/>
            <a:ext cx="34861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E27">
              <a:alpha val="80000"/>
            </a:srgbClr>
          </a:solidFill>
          <a:ln xmlns:a="http://schemas.openxmlformats.org/drawingml/2006/main" w="9525">
            <a:solidFill>
              <a:srgbClr val="1B4451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AF862BF-3092-4A5E-B649-752929F75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320992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E73C1C5-CF9B-4DB4-A8E7-D2169B6FC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190875"/>
            <a:ext cx="26098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全球伙伴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5566D7F-D520-4485-945A-0AD212761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848100"/>
            <a:ext cx="34861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51C">
              <a:alpha val="80000"/>
            </a:srgbClr>
          </a:solidFill>
          <a:ln xmlns:a="http://schemas.openxmlformats.org/drawingml/2006/main" w="9525">
            <a:solidFill>
              <a:srgbClr val="1B445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C758DBC-28C6-408A-9927-394DF8A72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401002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93E0844-648B-4DA8-84A4-71E7DD67C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990975"/>
            <a:ext cx="26098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战略投资者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CFB9EA2-EC5F-43EA-8A18-593B055DB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76800"/>
            <a:ext cx="22288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A777FBF-54A8-454C-BCA4-CB9E5EF48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04825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1DCA417-C931-4545-A4D1-88A5C4DDF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391150"/>
            <a:ext cx="1885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Pilot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DD4B995-6605-4832-B800-7E9B9BB59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46735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C68"/>
          </a:solidFill>
          <a:ln xmlns:a="http://schemas.openxmlformats.org/drawingml/2006/main" w="0">
            <a:solidFill>
              <a:srgbClr val="2D5C6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E8497AA-8DAB-496C-98D6-44714B81D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4876800"/>
            <a:ext cx="22288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34B1DC7-394C-422A-9030-C8F87337A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504825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789B5A5-B559-4E5C-BD99-980D304B8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5391150"/>
            <a:ext cx="1885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Implementation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CAC7B7E-CD64-43DC-8C4F-A26AF6767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546735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C68"/>
          </a:solidFill>
          <a:ln xmlns:a="http://schemas.openxmlformats.org/drawingml/2006/main" w="0">
            <a:solidFill>
              <a:srgbClr val="2D5C6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E6B907D-6C90-4287-BF52-D411BCF64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4876800"/>
            <a:ext cx="22288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438B108-5D9A-4281-A73B-F52B89B34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504825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E9BFBA9-D0EC-46C4-B5DD-464F615E4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5391150"/>
            <a:ext cx="1885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Product expansion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F042512-8920-45B2-8B08-90A5893F7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546735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C68"/>
          </a:solidFill>
          <a:ln xmlns:a="http://schemas.openxmlformats.org/drawingml/2006/main" w="0">
            <a:solidFill>
              <a:srgbClr val="2D5C6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4C9322D-A53B-4F87-A968-BE67A922A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876800"/>
            <a:ext cx="22288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41F5A0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D0CA58F-442E-4A8F-AE09-3BC97B0DE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504825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41F5A0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41F5A0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24D7415-DB08-483D-AA05-C589A6E49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5391150"/>
            <a:ext cx="1885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Strategic partner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14B09C1-03DF-4DCE-BE5F-1DEC2667F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2000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TECNOTITAN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0F69CF6-00F1-41C8-BACE-23FD5C04E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219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B7D6"/>
          </a:solidFill>
          <a:ln xmlns:a="http://schemas.openxmlformats.org/drawingml/2006/main" w="0">
            <a:solidFill>
              <a:srgbClr val="16B7D6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B9A33C1-5584-4F36-836B-CBB791AB9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361950"/>
            <a:ext cx="1066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ZH / 09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E8A27AB-1698-4F41-8197-ECD213224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6305550"/>
            <a:ext cx="2209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E7D8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C"/>
                </a:solidFill>
                <a:latin typeface="Aptos"/>
                <a:ea typeface="Aptos"/>
                <a:cs typeface="Aptos"/>
              </a:rPr>
              <a:t>www.tecnotitan.com</a:t>
            </a:r>
          </a:p>
        </p:txBody>
      </p:sp>
    </p:spTree>
    <p:extLst>
      <p:ext uri="{BB962C8B-B14F-4D97-AF65-F5344CB8AC3E}">
        <p14:creationId xmlns:p14="http://schemas.microsoft.com/office/powerpoint/2010/main" val="125754774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b986a3009e40b5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DE5A61-300C-414F-9C7A-42176A2FD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406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9BD18D-B784-4A7D-BD18-D5A769022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6">
              <a:alpha val="4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FD07EE-19F2-4ACE-BC0A-43BDA92A4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95350"/>
            <a:ext cx="6096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团队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06A3D9-BB13-419A-9D3C-D49BEE65E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295400"/>
            <a:ext cx="6096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专注执行的精简创始团队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DD1762E-117B-4E50-B306-434F052B3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24150"/>
            <a:ext cx="60960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David Arias Giraldo 作为 CEO 领导公司愿景。目前公司有一名全职顾问和两名程序员。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243A6AF-2FEF-4A53-B5F2-CC53FD6E6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33800"/>
            <a:ext cx="2424113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4566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C57C894-092B-4754-936B-B64ED9318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943350"/>
            <a:ext cx="2081213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创始人 CEO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3794B40-899F-4509-9EA4-3BC398701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1363" y="3733800"/>
            <a:ext cx="2424113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1A4C5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2BCAB5-8C21-4798-93C2-217B0D7C1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2813" y="3943350"/>
            <a:ext cx="2081213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咨询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5F29665-B7F8-4728-983C-9B43BD530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8825" y="3733800"/>
            <a:ext cx="2424113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4566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C8C4BA3-36CA-4B11-A15F-7AA4F136D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3943350"/>
            <a:ext cx="2081213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工程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F6522A7-76EB-457D-A6B9-F56A51F0D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6288" y="3733800"/>
            <a:ext cx="2424113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1A4C5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6203CB1-E528-4BA3-BA91-E5D04940C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7738" y="3943350"/>
            <a:ext cx="2081213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下一阶段招聘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C97EFE3-3647-4A02-8355-8CBFA8ED4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410200"/>
            <a:ext cx="9334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Hiring priorities: product engineering, AI delivery, sales development and investor relations.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C021091-E255-4365-882F-9C7AD3700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2000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TECNOTITAN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0D8613A-1F07-41A4-BF5A-87314FC13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219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B7D6"/>
          </a:solidFill>
          <a:ln xmlns:a="http://schemas.openxmlformats.org/drawingml/2006/main" w="0">
            <a:solidFill>
              <a:srgbClr val="16B7D6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CC8ABEB-9887-4CF8-AA7F-897C6A401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361950"/>
            <a:ext cx="1066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ZH / 10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168C3B6-EA1D-4121-8FB6-19E3C9A87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6305550"/>
            <a:ext cx="2209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E7D8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C"/>
                </a:solidFill>
                <a:latin typeface="Aptos"/>
                <a:ea typeface="Aptos"/>
                <a:cs typeface="Aptos"/>
              </a:rPr>
              <a:t>www.tecnotitan.com</a:t>
            </a:r>
          </a:p>
        </p:txBody>
      </p:sp>
    </p:spTree>
    <p:extLst>
      <p:ext uri="{BB962C8B-B14F-4D97-AF65-F5344CB8AC3E}">
        <p14:creationId xmlns:p14="http://schemas.microsoft.com/office/powerpoint/2010/main" val="811813494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833d191f0594372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992648B-4930-43F3-8E0E-06B7CF15A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406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278044-5352-4FD2-BBBA-9F97CD9B5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6">
              <a:alpha val="4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8C232F-D8CA-4253-B786-4D4C3F9D5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76300"/>
            <a:ext cx="5905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路线图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96E4C4-76A9-422E-888D-88283419D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276350"/>
            <a:ext cx="59055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从验证走向区域性技术平台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EEFA42-C170-4B85-A1C4-3F6D27705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05100"/>
            <a:ext cx="5905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路线优先真实案例、自有产品、内部自动化和商业扩张，并保持 investor-ready。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344C310-EEE7-4A72-8AB6-CE0DB97FD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000500"/>
            <a:ext cx="28067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DFECBE1-E59D-4AA8-B1AF-BD3DF139F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17195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63C93CC-2BB3-4F2C-82BA-B9D0F88CE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514850"/>
            <a:ext cx="24638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2026: 案例与 MVP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D6F15C7-BB03-4088-B35D-1DFB9A170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6850" y="459105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C68"/>
          </a:solidFill>
          <a:ln xmlns:a="http://schemas.openxmlformats.org/drawingml/2006/main" w="0">
            <a:solidFill>
              <a:srgbClr val="2D5C6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F10F4C1-0C82-443B-93C9-E83C25BE8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0200" y="4000500"/>
            <a:ext cx="28067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EBA5AD9-EAFC-4ED8-80A4-B82B49B2E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1650" y="417195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D8F34F7-0BD7-484A-AD62-6E0B2FC2F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1650" y="4514850"/>
            <a:ext cx="24638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2027: 产品与 IP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1EDCEF5-FC7B-447F-ABAC-DB78845F3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5000" y="459105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C68"/>
          </a:solidFill>
          <a:ln xmlns:a="http://schemas.openxmlformats.org/drawingml/2006/main" w="0">
            <a:solidFill>
              <a:srgbClr val="2D5C6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29C6717-34F4-4C33-8F6C-2C240DEDF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8350" y="4000500"/>
            <a:ext cx="28067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41F5A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E88B56F-ED45-4C70-9110-48DCB9694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9800" y="417195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41F5A0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41F5A0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0A5B9FF-92A5-4A3B-B16D-C3DAD7B66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9800" y="4514850"/>
            <a:ext cx="24638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2028: 区域规模化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D94CE53-79F8-4A15-A896-AF36AD41D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2000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TECNOTITAN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A04CB49-020A-4774-BC4E-19A922808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219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B7D6"/>
          </a:solidFill>
          <a:ln xmlns:a="http://schemas.openxmlformats.org/drawingml/2006/main" w="0">
            <a:solidFill>
              <a:srgbClr val="16B7D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1269143-D299-4318-A16B-8A79A765A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361950"/>
            <a:ext cx="1066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ZH / 11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7CD11E8-431B-4BF4-98A7-893EB030F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6305550"/>
            <a:ext cx="2209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E7D8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C"/>
                </a:solidFill>
                <a:latin typeface="Aptos"/>
                <a:ea typeface="Aptos"/>
                <a:cs typeface="Aptos"/>
              </a:rPr>
              <a:t>www.tecnotitan.com</a:t>
            </a:r>
          </a:p>
        </p:txBody>
      </p:sp>
    </p:spTree>
    <p:extLst>
      <p:ext uri="{BB962C8B-B14F-4D97-AF65-F5344CB8AC3E}">
        <p14:creationId xmlns:p14="http://schemas.microsoft.com/office/powerpoint/2010/main" val="1866163119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3faf78a6704fac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1585C32-DAA8-4104-A571-6ED34EA52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406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AD9C62-764F-441C-94AE-C9A167751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6">
              <a:alpha val="4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75B96E-9EE2-4FE7-9B45-D8794CAB1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047750"/>
            <a:ext cx="6572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投资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5D76A7-6C18-42FA-A83C-B9983C5DF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47800"/>
            <a:ext cx="65722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寻求资本与伙伴，加速产品、销售和人才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CAE36D6-651B-41F4-8F83-1C8B25B9A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76550"/>
            <a:ext cx="6572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Tecnotitan 正在从拉丁美洲打造一家拥有全球雄心的多事业部技术公司。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096151D-F6A8-4929-BEE2-B2DF7FEA6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543050"/>
            <a:ext cx="3143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E27">
              <a:alpha val="80000"/>
            </a:srgbClr>
          </a:solidFill>
          <a:ln xmlns:a="http://schemas.openxmlformats.org/drawingml/2006/main" w="9525">
            <a:solidFill>
              <a:srgbClr val="1B4451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843C8AD-D3B8-45F5-89EB-BC2573607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170497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0E5C674-E893-449C-A139-3B2A61EA6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685925"/>
            <a:ext cx="22669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产品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83BF38A-1CF8-4F29-B08D-FD741E025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343150"/>
            <a:ext cx="3143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51C">
              <a:alpha val="80000"/>
            </a:srgbClr>
          </a:solidFill>
          <a:ln xmlns:a="http://schemas.openxmlformats.org/drawingml/2006/main" w="9525">
            <a:solidFill>
              <a:srgbClr val="1B445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7B00F52-A72A-4569-9BE6-1713A89F6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50507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C2F0E2D-ED08-4DAA-8258-699DF4C59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486025"/>
            <a:ext cx="22669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销售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B4BEBEA-0034-4B65-BAB8-8EB46E109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143250"/>
            <a:ext cx="3143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E27">
              <a:alpha val="80000"/>
            </a:srgbClr>
          </a:solidFill>
          <a:ln xmlns:a="http://schemas.openxmlformats.org/drawingml/2006/main" w="9525">
            <a:solidFill>
              <a:srgbClr val="1B4451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4374183-5C3F-4ECD-8C24-57E184BBD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30517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E645C83-FB02-4038-A64A-A70C8EC02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286125"/>
            <a:ext cx="22669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技术人才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35435C8-7666-472F-BDDC-46FE50E0E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943350"/>
            <a:ext cx="3143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51C">
              <a:alpha val="80000"/>
            </a:srgbClr>
          </a:solidFill>
          <a:ln xmlns:a="http://schemas.openxmlformats.org/drawingml/2006/main" w="9525">
            <a:solidFill>
              <a:srgbClr val="1B445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3864F9D-FEEE-49A9-8930-86767ADC1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410527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6911091-D540-4023-9E7C-E73EC83DD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086225"/>
            <a:ext cx="22669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Data room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A1AD85B-693E-469D-93EE-8A78A658E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086350"/>
            <a:ext cx="5810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820">
              <a:alpha val="86667"/>
            </a:srgbClr>
          </a:solidFill>
          <a:ln xmlns:a="http://schemas.openxmlformats.org/drawingml/2006/main" w="9525">
            <a:solidFill>
              <a:srgbClr val="55E6F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78E31BB-6649-495A-B0B9-923FA70CC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314950"/>
            <a:ext cx="523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info@tecnotitan.com  |  www.tecnotitan.com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01B306B-239F-44BE-BB8C-C156E8F62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2000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TECNOTITAN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549BD04-A873-4043-A52B-3BDD0CAA7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219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B7D6"/>
          </a:solidFill>
          <a:ln xmlns:a="http://schemas.openxmlformats.org/drawingml/2006/main" w="0">
            <a:solidFill>
              <a:srgbClr val="16B7D6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3F1A2FC-DC9E-47AE-931F-864AF61FB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361950"/>
            <a:ext cx="1066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ZH / 12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9D0A2BC-BF87-4661-A762-68DE378BF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6305550"/>
            <a:ext cx="2209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E7D8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C"/>
                </a:solidFill>
                <a:latin typeface="Aptos"/>
                <a:ea typeface="Aptos"/>
                <a:cs typeface="Aptos"/>
              </a:rPr>
              <a:t>www.tecnotitan.com</a:t>
            </a:r>
          </a:p>
        </p:txBody>
      </p:sp>
    </p:spTree>
    <p:extLst>
      <p:ext uri="{BB962C8B-B14F-4D97-AF65-F5344CB8AC3E}">
        <p14:creationId xmlns:p14="http://schemas.microsoft.com/office/powerpoint/2010/main" val="188392841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2026-06-06T04:16:05.9260000Z</dcterms:created>
  <dcterms:modified xsi:type="dcterms:W3CDTF">2026-06-06T04:16:05.9270000Z</dcterms:modified>
</coreProperties>
</file>