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00bc926abe145de" /><Relationship Type="http://schemas.openxmlformats.org/officeDocument/2006/relationships/extended-properties" Target="/docProps/app.xml" Id="R7aaf494c506348e3" /><Relationship Type="http://schemas.openxmlformats.org/officeDocument/2006/relationships/officeDocument" Target="/ppt/presentation.xml" Id="R9b080a6f9b6d446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7d3eb55bc2e46bc"/>
  </p:sldMasterIdLst>
  <p:notesMasterIdLst>
    <p:notesMasterId xmlns:r="http://schemas.openxmlformats.org/officeDocument/2006/relationships" r:id="R391506e5feda4f37"/>
  </p:notesMasterIdLst>
  <p:sldIdLst>
    <p:sldId xmlns:r="http://schemas.openxmlformats.org/officeDocument/2006/relationships" id="256" r:id="Rb112584d57c14f24"/>
    <p:sldId xmlns:r="http://schemas.openxmlformats.org/officeDocument/2006/relationships" id="257" r:id="R533fd4ca78844598"/>
    <p:sldId xmlns:r="http://schemas.openxmlformats.org/officeDocument/2006/relationships" id="258" r:id="Rbcf6b3bd33d84f05"/>
    <p:sldId xmlns:r="http://schemas.openxmlformats.org/officeDocument/2006/relationships" id="259" r:id="R8c4249a60c0f4fe8"/>
    <p:sldId xmlns:r="http://schemas.openxmlformats.org/officeDocument/2006/relationships" id="260" r:id="R4dcf071de7ac4845"/>
    <p:sldId xmlns:r="http://schemas.openxmlformats.org/officeDocument/2006/relationships" id="261" r:id="Ra0b51fc1198c44c1"/>
    <p:sldId xmlns:r="http://schemas.openxmlformats.org/officeDocument/2006/relationships" id="262" r:id="R0c7ee13b3dbd45dc"/>
    <p:sldId xmlns:r="http://schemas.openxmlformats.org/officeDocument/2006/relationships" id="263" r:id="Recdbb5d47bf74e64"/>
    <p:sldId xmlns:r="http://schemas.openxmlformats.org/officeDocument/2006/relationships" id="264" r:id="R7db5027b35c2460c"/>
    <p:sldId xmlns:r="http://schemas.openxmlformats.org/officeDocument/2006/relationships" id="265" r:id="Rb3c8763e1edd406c"/>
    <p:sldId xmlns:r="http://schemas.openxmlformats.org/officeDocument/2006/relationships" id="266" r:id="R44d391fab0624483"/>
    <p:sldId xmlns:r="http://schemas.openxmlformats.org/officeDocument/2006/relationships" id="267" r:id="R2300b2ae9d7d4c0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ab2c6e858c44160" /><Relationship Type="http://schemas.openxmlformats.org/officeDocument/2006/relationships/slideMaster" Target="/ppt/slideMasters/slideMaster1.xml" Id="R57d3eb55bc2e46bc" /><Relationship Type="http://schemas.openxmlformats.org/officeDocument/2006/relationships/notesMaster" Target="/ppt/notesMasters/notesMaster1.xml" Id="R391506e5feda4f37" /><Relationship Type="http://schemas.openxmlformats.org/officeDocument/2006/relationships/presProps" Target="/ppt/presProps.xml" Id="R9a7b583a5459488f" /><Relationship Type="http://schemas.openxmlformats.org/officeDocument/2006/relationships/viewProps" Target="/ppt/viewProps.xml" Id="Rb9805b07a2514a4a" /><Relationship Type="http://schemas.openxmlformats.org/officeDocument/2006/relationships/tableStyles" Target="/ppt/tableStyles.xml" Id="Ra0a48414e4ad43b0" /><Relationship Type="http://schemas.openxmlformats.org/officeDocument/2006/relationships/slide" Target="/ppt/slides/slide1.xml" Id="Rb112584d57c14f24" /><Relationship Type="http://schemas.openxmlformats.org/officeDocument/2006/relationships/slide" Target="/ppt/slides/slide2.xml" Id="R533fd4ca78844598" /><Relationship Type="http://schemas.openxmlformats.org/officeDocument/2006/relationships/slide" Target="/ppt/slides/slide3.xml" Id="Rbcf6b3bd33d84f05" /><Relationship Type="http://schemas.openxmlformats.org/officeDocument/2006/relationships/slide" Target="/ppt/slides/slide4.xml" Id="R8c4249a60c0f4fe8" /><Relationship Type="http://schemas.openxmlformats.org/officeDocument/2006/relationships/slide" Target="/ppt/slides/slide5.xml" Id="R4dcf071de7ac4845" /><Relationship Type="http://schemas.openxmlformats.org/officeDocument/2006/relationships/slide" Target="/ppt/slides/slide6.xml" Id="Ra0b51fc1198c44c1" /><Relationship Type="http://schemas.openxmlformats.org/officeDocument/2006/relationships/slide" Target="/ppt/slides/slide7.xml" Id="R0c7ee13b3dbd45dc" /><Relationship Type="http://schemas.openxmlformats.org/officeDocument/2006/relationships/slide" Target="/ppt/slides/slide8.xml" Id="Recdbb5d47bf74e64" /><Relationship Type="http://schemas.openxmlformats.org/officeDocument/2006/relationships/slide" Target="/ppt/slides/slide9.xml" Id="R7db5027b35c2460c" /><Relationship Type="http://schemas.openxmlformats.org/officeDocument/2006/relationships/slide" Target="/ppt/slides/slide10.xml" Id="Rb3c8763e1edd406c" /><Relationship Type="http://schemas.openxmlformats.org/officeDocument/2006/relationships/slide" Target="/ppt/slides/slide11.xml" Id="R44d391fab0624483" /><Relationship Type="http://schemas.openxmlformats.org/officeDocument/2006/relationships/slide" Target="/ppt/slides/slide12.xml" Id="R2300b2ae9d7d4c0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cd1a638965a4c3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d3708ebb8874d38" /><Relationship Type="http://schemas.openxmlformats.org/officeDocument/2006/relationships/notesMaster" Target="/ppt/notesMasters/notesMaster1.xml" Id="Re47c4c364d7d417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51522b74edb4731" /><Relationship Type="http://schemas.openxmlformats.org/officeDocument/2006/relationships/notesMaster" Target="/ppt/notesMasters/notesMaster1.xml" Id="R5eee676e7477468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d13b32179bd4d5a" /><Relationship Type="http://schemas.openxmlformats.org/officeDocument/2006/relationships/notesMaster" Target="/ppt/notesMasters/notesMaster1.xml" Id="Rdd1e1eaf62854c7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1049d7bb4734174" /><Relationship Type="http://schemas.openxmlformats.org/officeDocument/2006/relationships/notesMaster" Target="/ppt/notesMasters/notesMaster1.xml" Id="R7e518512fdd7491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cddf67df6bd45b4" /><Relationship Type="http://schemas.openxmlformats.org/officeDocument/2006/relationships/notesMaster" Target="/ppt/notesMasters/notesMaster1.xml" Id="R92694138e1074b2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004a7905d0440ec" /><Relationship Type="http://schemas.openxmlformats.org/officeDocument/2006/relationships/notesMaster" Target="/ppt/notesMasters/notesMaster1.xml" Id="R878d74f9452c459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fbc8e7b5fa64c90" /><Relationship Type="http://schemas.openxmlformats.org/officeDocument/2006/relationships/notesMaster" Target="/ppt/notesMasters/notesMaster1.xml" Id="Rcc7dccbc87f84c4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f39def851eb49df" /><Relationship Type="http://schemas.openxmlformats.org/officeDocument/2006/relationships/notesMaster" Target="/ppt/notesMasters/notesMaster1.xml" Id="Rfc4e417e176e4fb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8bd9ed608194c0e" /><Relationship Type="http://schemas.openxmlformats.org/officeDocument/2006/relationships/notesMaster" Target="/ppt/notesMasters/notesMaster1.xml" Id="R9703eb8e815b49e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8f05bdb24dd4472" /><Relationship Type="http://schemas.openxmlformats.org/officeDocument/2006/relationships/notesMaster" Target="/ppt/notesMasters/notesMaster1.xml" Id="Ra4b8fc7ebd31442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4d5a595fa1c4c70" /><Relationship Type="http://schemas.openxmlformats.org/officeDocument/2006/relationships/notesMaster" Target="/ppt/notesMasters/notesMaster1.xml" Id="R518851516f444e0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6ddc8d137524568" /><Relationship Type="http://schemas.openxmlformats.org/officeDocument/2006/relationships/notesMaster" Target="/ppt/notesMasters/notesMaster1.xml" Id="R174480d1cf03424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d489b6463e451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af0899b2781466c" /><Relationship Type="http://schemas.openxmlformats.org/officeDocument/2006/relationships/slideLayout" Target="/ppt/slideLayouts/slideLayout1.xml" Id="Re32f4aa86f9c44f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32f4aa86f9c44f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f853eaed674089" /><Relationship Type="http://schemas.openxmlformats.org/officeDocument/2006/relationships/image" Target="/ppt/media/image.jpeg" Id="R309f0135333e40ad" /><Relationship Type="http://schemas.openxmlformats.org/officeDocument/2006/relationships/notesSlide" Target="/ppt/notesSlides/notesSlide1.xml" Id="R8f2c0a4dd32a47c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be4fb300384994" /><Relationship Type="http://schemas.openxmlformats.org/officeDocument/2006/relationships/image" Target="/ppt/media/image2.jpeg" Id="R5365c9f8023c4145" /><Relationship Type="http://schemas.openxmlformats.org/officeDocument/2006/relationships/notesSlide" Target="/ppt/notesSlides/notesSlide2.xml" Id="R6f54bb6c36da426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c78e8909964888" /><Relationship Type="http://schemas.openxmlformats.org/officeDocument/2006/relationships/image" Target="/ppt/media/image3.jpeg" Id="Rd854d6108ddb4e07" /><Relationship Type="http://schemas.openxmlformats.org/officeDocument/2006/relationships/notesSlide" Target="/ppt/notesSlides/notesSlide3.xml" Id="Rf286900cfa8a445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4d808521ab4fa6" /><Relationship Type="http://schemas.openxmlformats.org/officeDocument/2006/relationships/image" Target="/ppt/media/image4.jpeg" Id="R46afe4472aae4575" /><Relationship Type="http://schemas.openxmlformats.org/officeDocument/2006/relationships/notesSlide" Target="/ppt/notesSlides/notesSlide4.xml" Id="R3c25fd3fccbb40c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7e49ac6dd34966" /><Relationship Type="http://schemas.openxmlformats.org/officeDocument/2006/relationships/image" Target="/ppt/media/image5.jpeg" Id="R86904c8883b141fc" /><Relationship Type="http://schemas.openxmlformats.org/officeDocument/2006/relationships/notesSlide" Target="/ppt/notesSlides/notesSlide5.xml" Id="R2bb02677e22e42f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9ac471e7c74c94" /><Relationship Type="http://schemas.openxmlformats.org/officeDocument/2006/relationships/image" Target="/ppt/media/image6.jpeg" Id="R175a059fafbc4780" /><Relationship Type="http://schemas.openxmlformats.org/officeDocument/2006/relationships/notesSlide" Target="/ppt/notesSlides/notesSlide6.xml" Id="Rb8df143f6a6e4d9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353000d6cc4964" /><Relationship Type="http://schemas.openxmlformats.org/officeDocument/2006/relationships/image" Target="/ppt/media/image7.jpeg" Id="R68f90bb749ce4103" /><Relationship Type="http://schemas.openxmlformats.org/officeDocument/2006/relationships/notesSlide" Target="/ppt/notesSlides/notesSlide7.xml" Id="Rc14819fa10b6470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7137b8bcb242e2" /><Relationship Type="http://schemas.openxmlformats.org/officeDocument/2006/relationships/image" Target="/ppt/media/image8.jpeg" Id="R944f2f3c33ec4be6" /><Relationship Type="http://schemas.openxmlformats.org/officeDocument/2006/relationships/notesSlide" Target="/ppt/notesSlides/notesSlide8.xml" Id="R2da7ea0cf76c4ce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a2d812c9234a12" /><Relationship Type="http://schemas.openxmlformats.org/officeDocument/2006/relationships/image" Target="/ppt/media/image9.jpeg" Id="Rd9e0c4275c054d3e" /><Relationship Type="http://schemas.openxmlformats.org/officeDocument/2006/relationships/notesSlide" Target="/ppt/notesSlides/notesSlide9.xml" Id="Ra4cb84b73ddb406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d7ced954644f87" /><Relationship Type="http://schemas.openxmlformats.org/officeDocument/2006/relationships/image" Target="/ppt/media/image10.jpeg" Id="Rb222781c1df14c25" /><Relationship Type="http://schemas.openxmlformats.org/officeDocument/2006/relationships/notesSlide" Target="/ppt/notesSlides/notesSlide10.xml" Id="R3c86d9b3dcef476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253be18dd7426f" /><Relationship Type="http://schemas.openxmlformats.org/officeDocument/2006/relationships/image" Target="/ppt/media/image11.jpeg" Id="R3be6702fcb894c8e" /><Relationship Type="http://schemas.openxmlformats.org/officeDocument/2006/relationships/notesSlide" Target="/ppt/notesSlides/notesSlide11.xml" Id="R558d02f50847476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b7792aac8242ae" /><Relationship Type="http://schemas.openxmlformats.org/officeDocument/2006/relationships/image" Target="/ppt/media/image12.jpeg" Id="R0257c2d0833e47b3" /><Relationship Type="http://schemas.openxmlformats.org/officeDocument/2006/relationships/notesSlide" Target="/ppt/notesSlides/notesSlide12.xml" Id="Rd1d3bbb85b694c17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9f0135333e40ad"/>
          <a:srcRect xmlns:a="http://schemas.openxmlformats.org/drawingml/2006/main" l="0" t="7813" r="0" b="78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EDD28D-B5AF-4178-9EC7-4BBB7410C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8C4A0A-5DF0-47C2-B9BA-AF075B7F9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88114E-EB79-4355-80E3-13BB746BE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8105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TECNOTITAN CORPORATE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D1F16B-B9F2-4379-B75D-AFB46F211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33500"/>
            <a:ext cx="590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990EC9-0FF4-4985-B87E-53E3E9B8C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14550"/>
            <a:ext cx="2000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E6FF"/>
          </a:solidFill>
          <a:ln xmlns:a="http://schemas.openxmlformats.org/drawingml/2006/main" w="0">
            <a:solidFill>
              <a:srgbClr val="55E6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1678E3-C029-4116-AD74-7A7DF13AE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33650"/>
            <a:ext cx="6572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未来を構築する企業のための応用テクノロジー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3590B6-7467-44BC-A50D-10C67D345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6191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コロンビアから世界市場へ、ソフトウェア、AI、ゲーム、ロボティクス、技術変革コンサルティングを提供します。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187916-DF34-4312-9698-CA6ECA5F9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95875"/>
            <a:ext cx="2571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820">
              <a:alpha val="80000"/>
            </a:srgbClr>
          </a:solidFill>
          <a:ln xmlns:a="http://schemas.openxmlformats.org/drawingml/2006/main" w="9525">
            <a:solidFill>
              <a:srgbClr val="244D5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B4AACA-7F35-44CE-947C-B30C0CE7B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00650"/>
            <a:ext cx="2266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David Arias Giraldo, CEO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DE61C1-3569-47DD-97A7-ECDD40125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095875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820">
              <a:alpha val="80000"/>
            </a:srgbClr>
          </a:solidFill>
          <a:ln xmlns:a="http://schemas.openxmlformats.org/drawingml/2006/main" w="9525">
            <a:solidFill>
              <a:srgbClr val="244D5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710B5C-064E-4CAD-92B3-27487E195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200650"/>
            <a:ext cx="2076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Investor Deck / 2026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B803D8-614B-429C-BF5D-D0E66C5A5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43150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D8ED98-C3F8-4217-99D5-34A79BF76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050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FB7A74-CDF5-4F2F-BD20-7E5A17532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486025"/>
            <a:ext cx="2266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6つの製品ライン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40C433-F42B-4632-A316-0FF41C0EE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143250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1C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AD1FD6-0DF2-4506-9C6E-B83C5D212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051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078105-90F4-45FD-BB47-37607870C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286125"/>
            <a:ext cx="2266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5つの技術部門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0846BB-6813-41B1-B0E2-C29232051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943350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406E4B-2978-4612-923F-42B385F71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1052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6FAC6B9-A582-4FEC-A9B1-6EAE8D72B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086225"/>
            <a:ext cx="2266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実行重視のリーンチーム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EC6A06-302E-4BF6-BBE4-D989B6822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259D8B9-BC46-4F61-A0C0-7D623FB35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5686F4E-3893-4722-B5A4-2F071C390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JA / 01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91D58A7-1B19-4FC0-80D3-ADA901392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1900408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65c9f8023c4145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D0A550-4B72-4304-83B6-29B1556C3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E69F99-6490-425F-B048-54D5D5653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632A67-F12B-4AF4-BBC9-F800CF84B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104900"/>
            <a:ext cx="5715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投資仮説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7EFB04-0B0A-4F81-A9EB-66A420E4A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04950"/>
            <a:ext cx="5715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企業に必要なのは助言者だけでなく、構築者です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D2E701-5BE7-4A2D-A44C-8FAB4DCFA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33700"/>
            <a:ext cx="5715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本当のAI導入には、診断、ソフトウェア、データ、自動化、運用文化が一つのシステムとして機能する必要があります。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FBD22C-14C5-4819-A79A-9E5EDD2EC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29150"/>
            <a:ext cx="31877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FFA0A9-94F2-4FCC-9D00-DA1A1C52E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006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56E749-7548-4063-93BD-8E7533A6A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143500"/>
            <a:ext cx="2844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AI + ソフトウェア中核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B79122-43CC-4845-ABAD-3A25776F9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9700" y="5219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75ABB1-E380-47EB-A222-B016A11DC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3050" y="4629150"/>
            <a:ext cx="31877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5B64FF-7681-463C-BF84-B2478D9D8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48006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B0001C-6C2B-4784-8686-098A48580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5143500"/>
            <a:ext cx="2844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導入を促すインタラクティブ体験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C06DC6-A2EB-443F-91EA-532B0B3DC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8850" y="5219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C8A4AD-7122-4B31-97F6-BF51F4C84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2200" y="4629150"/>
            <a:ext cx="31877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41F5A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187DA9-534E-4FE9-989F-9A509ABBF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3650" y="48006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1F5A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1F5A0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BA30D0-665E-4675-A30F-71ED9680B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3650" y="5143500"/>
            <a:ext cx="2844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ロボティクスと自動化のフロンティア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4BDAEA-702A-4CA4-A5C7-2505C81D9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3B6A2D-7B40-408B-9A05-6E5AD3E9C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E7B3F9-7AE2-4315-B745-EB5BE8E2C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JA / 02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9B291C-5DB2-4154-85D9-648180CEF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20322756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54d6108ddb4e0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2F4874-8C6A-40AF-9D29-9C5AA4A93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406ACC-27BB-46F0-9BDB-8DB88237E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F1A5F3-0981-4DF0-9A4D-19A3D59A4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28700"/>
            <a:ext cx="561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課題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B244B1-E890-41E3-BB67-D6E889E0F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28750"/>
            <a:ext cx="56197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技術変革はサイロ化すると止まります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C583DB-8072-4E84-B64D-6F8A4B06F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5619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多くの企業は手作業、未活用データ、AI導入圧力、アイデアを製品に変える明確な道筋の不足に直面しています。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E57AC7-3EC5-4FC8-ADDF-679E9EC24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1524000"/>
            <a:ext cx="3476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9A9361-2C76-40C5-8BB0-926F7A3A8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16859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1741C3-E7FE-4C51-B6C5-6933C1619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66875"/>
            <a:ext cx="26003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反復作業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54C376-DF2B-4415-AE57-3E9955386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324100"/>
            <a:ext cx="3476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1C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FB3E1A-5CBA-453E-BDB0-C3147ABF7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24860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A713D3-F672-4BCB-AE24-778C5097F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66975"/>
            <a:ext cx="26003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行動につながらないデータ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16F0AF-0359-4EBB-A5F0-F601B1853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124200"/>
            <a:ext cx="3476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9C59DE-71A6-43BE-93FB-E5998E9DC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32861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6F4088-88B5-43FC-A1B7-12053CD1F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267075"/>
            <a:ext cx="26003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導入されないAI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56FB60-5873-4BC8-91E2-C9334A378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924300"/>
            <a:ext cx="3476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1C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31A802-7049-47DB-8209-06BE1BB87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40862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BB04BB-9D55-42CD-BD78-4189517F6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067175"/>
            <a:ext cx="26003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方法論のない人材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50CED68-A124-4C7D-9489-C4E83C95F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291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A8B7C7"/>
                </a:solidFill>
                <a:latin typeface="Aptos"/>
                <a:ea typeface="Aptos"/>
                <a:cs typeface="Aptos"/>
              </a:rPr>
              <a:t>Manual workflows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D2532B-5A6B-454C-A68F-6CE6A6EDA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95850"/>
            <a:ext cx="3429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5"/>
          </a:solidFill>
          <a:ln xmlns:a="http://schemas.openxmlformats.org/drawingml/2006/main" w="9525">
            <a:solidFill>
              <a:srgbClr val="19364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280827-3B35-43D3-A07F-50B9E0E46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95850"/>
            <a:ext cx="2476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E6FF"/>
          </a:solidFill>
          <a:ln xmlns:a="http://schemas.openxmlformats.org/drawingml/2006/main" w="0">
            <a:solidFill>
              <a:srgbClr val="55E6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9DE8AE4-B9A0-4E35-9113-5CE8FDB03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625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A8B7C7"/>
                </a:solidFill>
                <a:latin typeface="Aptos"/>
                <a:ea typeface="Aptos"/>
                <a:cs typeface="Aptos"/>
              </a:rPr>
              <a:t>Data activation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361A534-9729-4A00-ACD3-FFF34F2D9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3429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5"/>
          </a:solidFill>
          <a:ln xmlns:a="http://schemas.openxmlformats.org/drawingml/2006/main" w="9525">
            <a:solidFill>
              <a:srgbClr val="19364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0F4B24B-E5B9-4E74-B715-7622A2D69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1714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F5A0"/>
          </a:solidFill>
          <a:ln xmlns:a="http://schemas.openxmlformats.org/drawingml/2006/main" w="0">
            <a:solidFill>
              <a:srgbClr val="41F5A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98BA122-19D4-407F-8518-A6E4A1723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959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A8B7C7"/>
                </a:solidFill>
                <a:latin typeface="Aptos"/>
                <a:ea typeface="Aptos"/>
                <a:cs typeface="Aptos"/>
              </a:rPr>
              <a:t>AI adoption gap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AB5DCAD-9C14-4093-84FB-A5E0E487C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62650"/>
            <a:ext cx="3429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5"/>
          </a:solidFill>
          <a:ln xmlns:a="http://schemas.openxmlformats.org/drawingml/2006/main" w="9525">
            <a:solidFill>
              <a:srgbClr val="19364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058B557-A41D-44DF-8111-8C5295715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62650"/>
            <a:ext cx="28384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F6B"/>
          </a:solidFill>
          <a:ln xmlns:a="http://schemas.openxmlformats.org/drawingml/2006/main" w="0">
            <a:solidFill>
              <a:srgbClr val="FFCF6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51BD26A-52C3-47CC-9823-CD29A9C6A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AF85237-18B1-470B-9ED3-490D93989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071601E-5548-4B31-B41E-7DA5356D3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JA / 03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0F5A927-66DC-4820-BC7A-B5D57E17D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137219055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afe4472aae4575"/>
          <a:srcRect xmlns:a="http://schemas.openxmlformats.org/drawingml/2006/main" l="0" t="7813" r="0" b="78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2BFF46-0BCE-4EE1-AAFB-1312C9746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D2B986-BDAB-439B-A2E8-DC979AB63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00C4E7-BDDC-45B0-A212-856B2BBF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95350"/>
            <a:ext cx="619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プラットフォーム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EF0E6E-CD0C-4DC1-AF0F-F16BAA34A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95400"/>
            <a:ext cx="6191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Tecnotitanはコンサルティングを製品へ、製品をプラットフォームへ変えます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828C22-FD7C-481D-8F3A-471968B9A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24150"/>
            <a:ext cx="619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各プロジェクトは再利用可能なモジュール、業界知識、能力を蓄積し、新しいソリューションを加速します。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9AF4BE-0905-4288-AD92-9A6FFAFB2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90950"/>
            <a:ext cx="222408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39A88A-C863-487B-9A30-CA1A5EAEE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9624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3E8B2A-D5A6-4BC0-8DD9-9A1C26D93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05300"/>
            <a:ext cx="188118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診断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76DC5D-D855-4C8A-B1AF-E828FBF36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6588" y="43815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CE6EA0-5D04-4302-886F-BCAD02F90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9938" y="3790950"/>
            <a:ext cx="222408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D677F1-15A9-4D8C-8B15-726280490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9624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DD9BF4-E3F7-4AD8-B1F2-FFFE19933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4305300"/>
            <a:ext cx="188118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構築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0BD0B1-582C-4A96-8334-7F52F696C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3815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6E15EB-583F-4076-B08E-90A2C5A9A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3790950"/>
            <a:ext cx="222408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46D94F-14CB-4666-96C1-E51CEB091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39624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A71770-0B15-467C-8B32-AE1E9C997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4305300"/>
            <a:ext cx="188118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製品化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A8BF4D-9288-4167-845D-96A4FBBCB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7663" y="43815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742166-9D68-45E1-9C27-050AF458D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1013" y="3790950"/>
            <a:ext cx="222408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41F5A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5337B3-34BA-4D2B-B1B2-297ABED88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463" y="39624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1F5A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1F5A0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FF1FFAC-2B36-45FD-9BFD-FF5BCBCA8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463" y="4305300"/>
            <a:ext cx="188118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拡張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EDF4178-99C3-45DE-9C91-05412868E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276850"/>
            <a:ext cx="8286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Reusable IP, sector knowledge and operating playbooks compound across every project.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1F8CE8F-47C4-4AE5-A361-287627CFA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F6089C8-7E6B-447D-BBDF-0AE4176DF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3FE27F5-5EF2-451C-8381-4C5202DB7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JA / 04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197F3A6-31DE-465A-A8B1-C166143BF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73085668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904c8883b141fc"/>
          <a:srcRect xmlns:a="http://schemas.openxmlformats.org/drawingml/2006/main" l="0" t="7813" r="0" b="78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146644-2831-4FB3-ACCB-9F497CBEF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679EF9-81B8-45BB-848A-1BD0CB04F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87B2D5-924F-494E-9CBB-1C50C6511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38200"/>
            <a:ext cx="581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ポートフォリオ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7D24F9-4A58-48FA-B2DA-AA1969751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38250"/>
            <a:ext cx="5810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企業、人材、デジタル体験のための製品システム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FFF4C2-4870-4EC4-A96C-A6E8041F1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67000"/>
            <a:ext cx="5810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緊急性の高い課題から入り、運用、学習、応用インテリジェンスへ展開する設計です。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3CB629-D7C8-4BA3-91F1-7E5DF74BC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19500"/>
            <a:ext cx="3276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4566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CDDE87-8D42-450A-AAB5-80833678D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29050"/>
            <a:ext cx="293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Copiloto Pyme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33CC49-5E51-4233-891A-3AEC19F7B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619500"/>
            <a:ext cx="3276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1A4C5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D0E33A-D304-4E61-8DFD-D82C2854F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829050"/>
            <a:ext cx="293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Tecnotitan 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0A9E78-9C60-49F1-9A73-DCA0A5B04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619500"/>
            <a:ext cx="3276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4566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6D4528-F3C8-4151-BA15-854F0890E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829050"/>
            <a:ext cx="293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Life Copilot モバイルアプリ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AC7C36-0824-46EC-AB5A-712B64E7A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0"/>
            <a:ext cx="3276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1A4C5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93D95F-AA33-4194-B990-75E58FBE1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81550"/>
            <a:ext cx="293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Tecnotitan Engine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ADFFD9-B9D9-418E-A26A-769AB7E7E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572000"/>
            <a:ext cx="3276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4566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34E6A9-C925-4C21-BE5F-C97928E67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781550"/>
            <a:ext cx="293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Tecnotitan Academy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780222-4FD4-4518-A77B-08423BAA8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572000"/>
            <a:ext cx="3276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1A4C5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6197B6-B1CA-4C3D-8228-95E8CE995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781550"/>
            <a:ext cx="293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Tecnotitan AI Call Center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B36AA6-3E4E-4C0C-957D-57C5C3FFA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95B616-4112-4D2B-8A2B-3C13F61EF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CA5477-D644-46BA-BD43-5AD4B9A41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JA / 05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6C3D77-407D-4038-916C-9B605413C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96154074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5a059fafbc4780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75EC5D-7BC1-4BE4-B07F-AACF8BA02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C5388E-29CB-4410-9C0E-55FA03022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5AB58F-7549-49DA-A94E-D462E91F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33450"/>
            <a:ext cx="581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サービス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4A67D1-E42C-4D9D-83B2-DDDA44782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33500"/>
            <a:ext cx="5810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コンサルティングが収益と市場学習を加速します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B4B711-E2A6-434F-8485-BB54415B8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62250"/>
            <a:ext cx="5810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サービスは信頼を生み、実課題を発見し、実装を再利用可能な資産へ変えます。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759EC8-480B-4CC5-BD26-3BD007ABD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05250"/>
            <a:ext cx="220503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FC6410-A321-4181-B372-CCB1F2240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767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F0F53F-3468-48EF-AB4E-B07F426FB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419600"/>
            <a:ext cx="186213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AI診断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D7BF24-BE98-4B9A-B023-0D0DF5C62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5638" y="44958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008BB3-714E-415D-A96C-C1507A54C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8988" y="3905250"/>
            <a:ext cx="220503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EADB01-C227-4670-8EA7-ACED2D591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0438" y="40767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F72662-127F-44E9-9FA1-6000FD95E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0438" y="4419600"/>
            <a:ext cx="186213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技術ロードマップ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0D1402-6B2E-44AE-B4F1-9E2078C30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4958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1012C1-D477-4FF6-98CA-75FD30A1B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3905250"/>
            <a:ext cx="220503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968D98-3853-4BD4-8F93-A75893CAD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40767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C42C71-66C3-43F9-BA47-A616B77DE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4419600"/>
            <a:ext cx="186213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実装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A3822A-AC0C-4C74-BF0A-5B8C42A68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8613" y="44958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A30DFA-B620-44B4-B27F-B26D852C6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1963" y="3905250"/>
            <a:ext cx="220503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41F5A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AF9E64-9753-49A2-8CBC-839290003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3413" y="40767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1F5A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1F5A0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10189E1-A42B-4ABD-AF99-BF024996C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3413" y="4419600"/>
            <a:ext cx="186213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導入とトレーニング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DFAFBEF-065C-4E74-8BBC-364FFEC72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429250"/>
            <a:ext cx="7905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Services are the market-sensing engine that turns demand into product decisions.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2F875E6-BE64-4A83-BBE2-6B9995CFF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FF46C2C-F04B-407E-A0F0-076A9114D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02D9514-61BF-4223-9165-11902EE6A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JA / 06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22E0B94-8720-4E10-A4D2-193E236F0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151134017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f90bb749ce4103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26480C-FB7A-425A-8192-E136DD8AB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72B2BE-908D-496F-A461-D2C303BEA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B04C17-8366-45B0-97F6-3EE6AC751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81050"/>
            <a:ext cx="619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部門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8128E6-6117-4CDA-9432-C680B8C97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181100"/>
            <a:ext cx="6191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5つの部門がIP、データ、人材を共有します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11129F-3988-4A4A-85AE-CD7E389F1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09850"/>
            <a:ext cx="619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ソフトウェア、AI、ゲーム、ロボティクス、技術変革は孤立事業ではなく、共通アーキテクチャとして機能します。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D7AEBD-9B67-48BA-BC69-869255F4F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371850"/>
            <a:ext cx="3143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1117">
              <a:alpha val="93333"/>
            </a:srgbClr>
          </a:solidFill>
          <a:ln xmlns:a="http://schemas.openxmlformats.org/drawingml/2006/main" w="19050">
            <a:solidFill>
              <a:srgbClr val="55E6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F2BB46-C6DB-442A-833D-A2A4EFE67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581400"/>
            <a:ext cx="2266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TECNOTITAN</a:t>
            </a:r>
          </a:p>
          <a:p xmlns:a="http://schemas.openxmlformats.org/drawingml/2006/main">
            <a:pPr algn="ctr">
              <a:defRPr sz="180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CORE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5122A7-134B-4FCE-95B7-C7EB4EF06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457700"/>
            <a:ext cx="384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Shared IP, data and reusable playbooks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016A06-ADAE-4696-8443-44EC9E3DB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43500"/>
            <a:ext cx="20383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A23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DD8A5F-C27F-47B7-A0A4-93B14942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53050"/>
            <a:ext cx="1771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ソフトウェア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405E01-41ED-40DD-B0CC-3ACD02168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762500"/>
            <a:ext cx="190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563"/>
          </a:solidFill>
          <a:ln xmlns:a="http://schemas.openxmlformats.org/drawingml/2006/main" w="0">
            <a:solidFill>
              <a:srgbClr val="28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5964E3-B356-4A98-917F-CC6FF3E48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143500"/>
            <a:ext cx="20383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A23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679D94-176F-4804-A7E0-2A5AC1E2E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353050"/>
            <a:ext cx="1771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人工知能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93B30F-3CE7-4F8E-AB1D-B098F4A10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762500"/>
            <a:ext cx="190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563"/>
          </a:solidFill>
          <a:ln xmlns:a="http://schemas.openxmlformats.org/drawingml/2006/main" w="0">
            <a:solidFill>
              <a:srgbClr val="28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497CD6-09E5-45CD-9432-17187B3D1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5143500"/>
            <a:ext cx="20383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A23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A9A224-321F-41BC-91A5-FB4D63905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5353050"/>
            <a:ext cx="1771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ゲーム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91C20A-71A6-424F-BC20-034B92896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762500"/>
            <a:ext cx="190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563"/>
          </a:solidFill>
          <a:ln xmlns:a="http://schemas.openxmlformats.org/drawingml/2006/main" w="0">
            <a:solidFill>
              <a:srgbClr val="28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BB188B-BCD8-4901-91DF-170B88179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143500"/>
            <a:ext cx="20383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A23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9A7BED-F665-4C88-A224-A218AFB61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5353050"/>
            <a:ext cx="1771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ロボティクス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9CE507-6928-466F-A6F5-AC810FE3F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762500"/>
            <a:ext cx="190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563"/>
          </a:solidFill>
          <a:ln xmlns:a="http://schemas.openxmlformats.org/drawingml/2006/main" w="0">
            <a:solidFill>
              <a:srgbClr val="28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4618A3E-9B44-4E43-8FAC-2D04DB677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143500"/>
            <a:ext cx="20383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A23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8EE22DA-D607-4C68-9770-75082DA8B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5353050"/>
            <a:ext cx="1771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技術コンサルティング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F625A00-DC8F-4F82-8D08-66B5F6926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4762500"/>
            <a:ext cx="190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563"/>
          </a:solidFill>
          <a:ln xmlns:a="http://schemas.openxmlformats.org/drawingml/2006/main" w="0">
            <a:solidFill>
              <a:srgbClr val="28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E20FC12-29F9-4555-AB2F-ED5B6AD6F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4762500"/>
            <a:ext cx="8686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563"/>
          </a:solidFill>
          <a:ln xmlns:a="http://schemas.openxmlformats.org/drawingml/2006/main" w="0">
            <a:solidFill>
              <a:srgbClr val="28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6A35AFD-1B29-4B6C-A603-99A939BD4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C001287-1C44-4120-A474-958B92BF3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3EFCDCC-231C-4CC4-8F2D-59AB37A97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JA / 07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A0D6F92-04EF-48BD-A1E9-5841EDC6A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1943890976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4f2f3c33ec4be6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3985C0-485C-480D-A546-FEC546FA9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182700-8454-41AC-8A9C-3C7AA5A59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DA6E90-D309-456E-8687-C2F7EAA7B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76300"/>
            <a:ext cx="6000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モデル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1F0797-366C-4D70-A635-311A099AC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76350"/>
            <a:ext cx="60007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現在はサービス収益、将来は拡張可能な製品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2AE59C-33D2-47C4-89E8-E70D95CBA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05100"/>
            <a:ext cx="6000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モデルはコンサルティング、実装、サブスクリプション、ライセンス、アカデミー、将来の技術スピンオフを組み合わせます。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C0F548-CFE4-46CF-B2D5-A5E9B6DE9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29050"/>
            <a:ext cx="2252663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BD5DA7-207C-4097-8159-866268D9C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005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015DE7-1258-4C11-A9E7-D131B954D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43400"/>
            <a:ext cx="1909763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サービス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062300-36B9-4E91-B472-E2AB5E1FF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7063" y="44196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819C4B-F9E0-4936-AE6C-8AC1B3632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0413" y="3829050"/>
            <a:ext cx="2252663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C3C6FC-7EAF-47E4-BD60-D7802C8DD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1863" y="40005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D46EE1-7EC4-46C1-837A-C9465F144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1863" y="4343400"/>
            <a:ext cx="1909763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SaaSとライセンス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D6CB15-5645-4365-9C9B-5FAD7505D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1175" y="44196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886BAB-93CC-4485-A376-3694C4C64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24525" y="3829050"/>
            <a:ext cx="2252663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B666DA-BDC9-4C7B-A8FB-2A527FE91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40005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02F2F7-FDB8-4B50-87EC-78F91FC59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4343400"/>
            <a:ext cx="1909763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アカデミー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2F1965-92B2-4D99-9E41-91E018463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5288" y="44196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C808FD-F912-40FE-989A-89C65B141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8638" y="3829050"/>
            <a:ext cx="2252663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41F5A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A0AB9A-A0C5-47BD-B4F4-8068AF900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0088" y="40005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1F5A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1F5A0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470E86-877C-4053-A902-ED84E6089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0088" y="4343400"/>
            <a:ext cx="1909763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Ventures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E41444-C2EA-4F64-A14A-FF978AE39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391150"/>
            <a:ext cx="7905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Each layer can monetize independently while feeding data, references and reusable modules back into the platform.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BB96520-9E48-448C-84DC-0B0973B0D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9F13D24-9710-41B1-8820-A1599DEFF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588279-0F21-47D9-91BF-9730DFBED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JA / 08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4555B00-BE07-42E6-AE54-0F32DF2F6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130315668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e0c4275c054d3e"/>
          <a:srcRect xmlns:a="http://schemas.openxmlformats.org/drawingml/2006/main" l="0" t="7813" r="0" b="78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899BB7-A0F3-45DA-83EF-CCE81E8A4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AD6F17-527B-4480-826F-05B9161D1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B9771F-056B-498B-8912-3CCC96BFA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76300"/>
            <a:ext cx="5715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市場展開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2C1A80-CA0C-4D76-8F2B-ABE9A79D1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76350"/>
            <a:ext cx="5715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運用課題から入り、プラットフォームで拡張します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9F7850-328C-4DED-98DD-7E7E72377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05100"/>
            <a:ext cx="5715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Tecnotitanは企業向けAI・ソフトウェア案件から開始し、繰り返し発生する課題を解く製品へ展開できます。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2842BB-2540-4BD8-A306-AD7C7FB2D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447800"/>
            <a:ext cx="3486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D1859C-740E-497B-9A71-511E06468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16097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515EEB-E41A-470F-A30B-19B2CB95D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590675"/>
            <a:ext cx="26098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ラテンアメリカを基盤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4590ED-A8F7-40B2-83AA-695E37597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247900"/>
            <a:ext cx="3486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1C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6E2D28-56C9-475B-A915-D3863651E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4098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C33562-48C2-4516-BECB-A5103CF0C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390775"/>
            <a:ext cx="26098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中堅企業と大企業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E15D42-21D7-43BD-A3D3-B9F81805E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048000"/>
            <a:ext cx="3486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C51FA0-7074-49F8-B851-3E0947AC0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2099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3FE5A2-2633-416B-B0E9-F6A41B4C8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190875"/>
            <a:ext cx="26098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グローバルパートナー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0CEAA9-2A57-4969-BFEE-761F632DE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848100"/>
            <a:ext cx="3486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1C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643DFB-3A11-401C-BBDE-76BF35B47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0100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E6483A9-B45D-47CD-88CF-4812310D1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990975"/>
            <a:ext cx="26098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戦略投資家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1584D9-A759-45A5-A6C1-7EDE0977A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76800"/>
            <a:ext cx="22288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1722E2-B3B9-41B6-BB36-86FAB99CE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0482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2EBC30D-096C-4129-A0F1-853CA3AAE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391150"/>
            <a:ext cx="1885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Pilot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609116-9562-4407-8A70-2092FD366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46735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E2E7D33-3B20-45AE-BAF2-FCE19C79A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876800"/>
            <a:ext cx="22288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030ECE2-754A-4168-BE7B-133FAAF8A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0482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6D3E791-41F7-4843-AC51-30509C4AB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391150"/>
            <a:ext cx="1885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Implementation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ABCA99-7521-4EAB-BF04-3A0C27DC8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546735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56DE464-AF20-4180-90CA-667412B68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876800"/>
            <a:ext cx="22288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1BBE7CF-4E77-40B8-8022-F904D9500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50482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F89F2E9-0D7E-4A9B-9CDD-8124F9895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5391150"/>
            <a:ext cx="1885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Product expansion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E315625-D3CA-40CA-9D97-7E5BAD551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46735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923EAF7-198A-42F2-AF24-02EC1E255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876800"/>
            <a:ext cx="22288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41F5A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4369D30-E5F8-4477-8A37-E8516C8A1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0482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1F5A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1F5A0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E685894-1A7C-47FC-88D5-ABF69E533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391150"/>
            <a:ext cx="1885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Strategic partner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8C395D3-D875-423F-A318-2E7F55075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80CEC16-B03C-4735-8CE1-D266E583B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5B1511E-A1AC-4EDC-95D6-E2C03A7AE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JA / 09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E18C57A-6A55-4C85-91DC-78936CFF8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1859184288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22781c1df14c25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808571-93C1-4E1D-8EBF-FBA88C613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3BE05B-3936-4C05-A7F9-F99423665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3AD897-8D21-4E11-9413-3415CBCBD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95350"/>
            <a:ext cx="6096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チーム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F7D861-85CD-4D6E-BF98-467345404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95400"/>
            <a:ext cx="6096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実行に集中するリーンな創業チーム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A60620-5E8F-40A1-8C49-865B48F48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24150"/>
            <a:ext cx="6096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David Arias GiraldoがCEOとしてビジョンを率いています。現在はフルタイムのコンサルタント1名とプログラマー2名がいます。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0B39BD-E16D-4252-8C7A-21162686E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33800"/>
            <a:ext cx="2424113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4566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5AAF94-38E1-499A-8F0A-A2181D8EF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43350"/>
            <a:ext cx="20812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創業CEO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7B0AAF-94EC-46FF-BDF6-5F72E6BE4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1363" y="3733800"/>
            <a:ext cx="2424113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1A4C5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A97153-2885-429E-82D5-1F7E36FEE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2813" y="3943350"/>
            <a:ext cx="20812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コンサルティング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F8C44A-8B4B-4A74-9679-9106122A7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3733800"/>
            <a:ext cx="2424113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4566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E10D64-D426-40A6-A063-A40141951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943350"/>
            <a:ext cx="20812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エンジニアリング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8494EA-1B3D-40A7-93A1-D3601B8ED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6288" y="3733800"/>
            <a:ext cx="2424113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1A4C5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81CD64-FFCB-452F-B054-F6A68BC88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7738" y="3943350"/>
            <a:ext cx="20812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次の採用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680BD3-B117-4251-AB00-B2CEB27C5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4102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Hiring priorities: product engineering, AI delivery, sales development and investor relations.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E840F4-6F77-4A06-BB78-5CE065AA1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A59909-2DAF-462E-A136-C62D7BD53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585744-035D-4B0A-AE01-C33DBEB1A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JA / 10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C5B306D-FB58-4D73-B6F7-2467C3E23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1598167799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e6702fcb894c8e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06D637-300A-4347-9692-66C4072EC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D7A16D-1F63-4605-8612-669A7C15B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324A3F-418C-4DB9-B932-E680E16C8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76300"/>
            <a:ext cx="590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ロードマップ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536A66-85E8-44BD-B58F-A50671CFF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76350"/>
            <a:ext cx="5905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検証から地域テクノロジープラットフォームへ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129025-9080-4DFF-B283-BAE3FFC3D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05100"/>
            <a:ext cx="5905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実案件、自社製品、内部自動化、商業拡大を優先し、investor-readyな状態を高めます。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AA0B26-661F-4962-BCDC-0D130AD11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00500"/>
            <a:ext cx="28067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E0A4F1-A265-4826-AB2F-AFF37A040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1719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64884D-E1D2-41E5-B16C-B8F80B0B0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514850"/>
            <a:ext cx="2463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2026: 案件とMVP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D7F72F-D871-4D9D-ADE6-56B550085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6850" y="459105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9D611E-04CC-4D22-861C-F00BFF0DB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0200" y="4000500"/>
            <a:ext cx="28067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367079-DE8E-405E-BBD0-EBF39DC36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50" y="41719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3F5355-B9EB-47CA-B4B0-F331B44F3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50" y="4514850"/>
            <a:ext cx="2463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2027: 製品とIP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1ACE8F-0CAF-403B-B4AD-821A5CA01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5000" y="459105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84A219-895A-4629-89E2-73D8FD2B2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8350" y="4000500"/>
            <a:ext cx="28067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41F5A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A93EB2-4EA7-4436-97D7-7436F1F92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9800" y="41719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1F5A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1F5A0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6A91B6-156E-446D-BF73-D33A2DC4B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9800" y="4514850"/>
            <a:ext cx="2463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2028: 地域拡大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FE8191-9C1B-4725-B820-92EC8B98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FAB334A-1BDE-4200-B46C-92E18898B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8259C8-9CE6-4261-B164-FFA6C5F48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JA / 11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4AEFB02-6E7B-4A52-9F7D-759F83369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99286632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57c2d0833e47b3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29B2E3-6492-4926-B328-9AA7D8C45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FC3CCD-4E5D-481B-9E8D-914B4174B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FD6951-9A3A-4BC9-919B-86AA3FEAB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47750"/>
            <a:ext cx="6572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投資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D08739-4EC8-4768-AA4B-DA2382A68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47800"/>
            <a:ext cx="6572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製品、営業、人材を加速する資本とパートナーを求めています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74830F-C525-4A80-B383-53CED4252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76550"/>
            <a:ext cx="6572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Tecnotitanはラテンアメリカ発でグローバルな野心を持つ複数部門型テクノロジー企業を構築しています。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481DCC-AEF8-4C91-8BB2-2580C1AD6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543050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D5BFBB-BF35-44BC-B83A-FD210F5D0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7049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40B989-0A98-40AA-A1CD-0E9B80EDB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685925"/>
            <a:ext cx="2266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製品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849B36-3910-43B5-9A92-39E69851B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343150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1C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483A74-851E-41F7-9500-BE6EED28A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5050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8E8D7F-7EDE-41DA-8139-2B5C47A09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486025"/>
            <a:ext cx="2266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営業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D7424F-85A1-465F-A2AC-9E3D2FACD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143250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6AC35F-54D3-4A24-8AEB-995832254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3051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0DE233-DFAE-493E-BE9E-11465A47C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86125"/>
            <a:ext cx="2266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技術人材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54AB03-DF37-4E86-8CD9-8F5EA4F32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943350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1C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66D2C3-8EEC-40FA-BD34-4BF38039F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1052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C307DE-436C-4A17-BF48-9AA31D0E9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086225"/>
            <a:ext cx="2266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Data room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3F85B5B-7CF2-4F67-BC3A-60B430E97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86350"/>
            <a:ext cx="5810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820">
              <a:alpha val="86667"/>
            </a:srgbClr>
          </a:solidFill>
          <a:ln xmlns:a="http://schemas.openxmlformats.org/drawingml/2006/main" w="9525">
            <a:solidFill>
              <a:srgbClr val="55E6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5E8BEB-CFDB-4768-B30A-A2B082351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314950"/>
            <a:ext cx="523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info@tecnotitan.com  |  www.tecnotitan.com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1019338-DB1B-46DF-A37B-4BCCB8551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1C83AD-102C-41D5-B187-B9C0D729A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B19DE0A-9FDA-4FB3-8DC4-35114C196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JA / 12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EAA79BC-A1F5-4043-AA36-ED3D097E5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2008875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2026-06-06T04:16:21.8200000Z</dcterms:created>
  <dcterms:modified xsi:type="dcterms:W3CDTF">2026-06-06T04:16:21.8210000Z</dcterms:modified>
</coreProperties>
</file>