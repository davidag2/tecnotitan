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a31f1075eba44b0" /><Relationship Type="http://schemas.openxmlformats.org/officeDocument/2006/relationships/extended-properties" Target="/docProps/app.xml" Id="R7b4964accb8f473f" /><Relationship Type="http://schemas.openxmlformats.org/officeDocument/2006/relationships/officeDocument" Target="/ppt/presentation.xml" Id="Rfa788eb284dd4a6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bd72f71e1dd4af5"/>
  </p:sldMasterIdLst>
  <p:notesMasterIdLst>
    <p:notesMasterId xmlns:r="http://schemas.openxmlformats.org/officeDocument/2006/relationships" r:id="R19d8a7b6b65d43f1"/>
  </p:notesMasterIdLst>
  <p:sldIdLst>
    <p:sldId xmlns:r="http://schemas.openxmlformats.org/officeDocument/2006/relationships" id="256" r:id="R09c031d8693945cf"/>
    <p:sldId xmlns:r="http://schemas.openxmlformats.org/officeDocument/2006/relationships" id="257" r:id="Re5f006620ac84fcd"/>
    <p:sldId xmlns:r="http://schemas.openxmlformats.org/officeDocument/2006/relationships" id="258" r:id="R61ba38e5dbee4777"/>
    <p:sldId xmlns:r="http://schemas.openxmlformats.org/officeDocument/2006/relationships" id="259" r:id="R736bd9438604446c"/>
    <p:sldId xmlns:r="http://schemas.openxmlformats.org/officeDocument/2006/relationships" id="260" r:id="Rc4f86185fd8f4834"/>
    <p:sldId xmlns:r="http://schemas.openxmlformats.org/officeDocument/2006/relationships" id="261" r:id="Rb96fdf836a0e49d2"/>
    <p:sldId xmlns:r="http://schemas.openxmlformats.org/officeDocument/2006/relationships" id="262" r:id="Rb6afe8d7c99e4698"/>
    <p:sldId xmlns:r="http://schemas.openxmlformats.org/officeDocument/2006/relationships" id="263" r:id="R180dc99955c54a0f"/>
    <p:sldId xmlns:r="http://schemas.openxmlformats.org/officeDocument/2006/relationships" id="264" r:id="Raeb7bf4a374e4047"/>
    <p:sldId xmlns:r="http://schemas.openxmlformats.org/officeDocument/2006/relationships" id="265" r:id="R909e1f03c2e44b78"/>
    <p:sldId xmlns:r="http://schemas.openxmlformats.org/officeDocument/2006/relationships" id="266" r:id="R2dc8d0de1e1d4cd7"/>
    <p:sldId xmlns:r="http://schemas.openxmlformats.org/officeDocument/2006/relationships" id="267" r:id="Rdb0ad43a4b7d4e0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fa4e8b406934def" /><Relationship Type="http://schemas.openxmlformats.org/officeDocument/2006/relationships/slideMaster" Target="/ppt/slideMasters/slideMaster1.xml" Id="R3bd72f71e1dd4af5" /><Relationship Type="http://schemas.openxmlformats.org/officeDocument/2006/relationships/notesMaster" Target="/ppt/notesMasters/notesMaster1.xml" Id="R19d8a7b6b65d43f1" /><Relationship Type="http://schemas.openxmlformats.org/officeDocument/2006/relationships/presProps" Target="/ppt/presProps.xml" Id="Rc0f62ee9abfa4258" /><Relationship Type="http://schemas.openxmlformats.org/officeDocument/2006/relationships/viewProps" Target="/ppt/viewProps.xml" Id="Rd8b499608c534720" /><Relationship Type="http://schemas.openxmlformats.org/officeDocument/2006/relationships/tableStyles" Target="/ppt/tableStyles.xml" Id="R4ac46e9e192642a3" /><Relationship Type="http://schemas.openxmlformats.org/officeDocument/2006/relationships/slide" Target="/ppt/slides/slide1.xml" Id="R09c031d8693945cf" /><Relationship Type="http://schemas.openxmlformats.org/officeDocument/2006/relationships/slide" Target="/ppt/slides/slide2.xml" Id="Re5f006620ac84fcd" /><Relationship Type="http://schemas.openxmlformats.org/officeDocument/2006/relationships/slide" Target="/ppt/slides/slide3.xml" Id="R61ba38e5dbee4777" /><Relationship Type="http://schemas.openxmlformats.org/officeDocument/2006/relationships/slide" Target="/ppt/slides/slide4.xml" Id="R736bd9438604446c" /><Relationship Type="http://schemas.openxmlformats.org/officeDocument/2006/relationships/slide" Target="/ppt/slides/slide5.xml" Id="Rc4f86185fd8f4834" /><Relationship Type="http://schemas.openxmlformats.org/officeDocument/2006/relationships/slide" Target="/ppt/slides/slide6.xml" Id="Rb96fdf836a0e49d2" /><Relationship Type="http://schemas.openxmlformats.org/officeDocument/2006/relationships/slide" Target="/ppt/slides/slide7.xml" Id="Rb6afe8d7c99e4698" /><Relationship Type="http://schemas.openxmlformats.org/officeDocument/2006/relationships/slide" Target="/ppt/slides/slide8.xml" Id="R180dc99955c54a0f" /><Relationship Type="http://schemas.openxmlformats.org/officeDocument/2006/relationships/slide" Target="/ppt/slides/slide9.xml" Id="Raeb7bf4a374e4047" /><Relationship Type="http://schemas.openxmlformats.org/officeDocument/2006/relationships/slide" Target="/ppt/slides/slide10.xml" Id="R909e1f03c2e44b78" /><Relationship Type="http://schemas.openxmlformats.org/officeDocument/2006/relationships/slide" Target="/ppt/slides/slide11.xml" Id="R2dc8d0de1e1d4cd7" /><Relationship Type="http://schemas.openxmlformats.org/officeDocument/2006/relationships/slide" Target="/ppt/slides/slide12.xml" Id="Rdb0ad43a4b7d4e0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e068c3841a0485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79a31e3e4594ed5" /><Relationship Type="http://schemas.openxmlformats.org/officeDocument/2006/relationships/notesMaster" Target="/ppt/notesMasters/notesMaster1.xml" Id="R783971be329b413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ebbc2202e7f40a5" /><Relationship Type="http://schemas.openxmlformats.org/officeDocument/2006/relationships/notesMaster" Target="/ppt/notesMasters/notesMaster1.xml" Id="Raa68fab378d1461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45c8f576e0f434d" /><Relationship Type="http://schemas.openxmlformats.org/officeDocument/2006/relationships/notesMaster" Target="/ppt/notesMasters/notesMaster1.xml" Id="R033b2d99fd1c425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fb34495e649459d" /><Relationship Type="http://schemas.openxmlformats.org/officeDocument/2006/relationships/notesMaster" Target="/ppt/notesMasters/notesMaster1.xml" Id="R673da294d6ad4e1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cff6a3969f2463a" /><Relationship Type="http://schemas.openxmlformats.org/officeDocument/2006/relationships/notesMaster" Target="/ppt/notesMasters/notesMaster1.xml" Id="Re6d1b04e804d46c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38004f735a044d3" /><Relationship Type="http://schemas.openxmlformats.org/officeDocument/2006/relationships/notesMaster" Target="/ppt/notesMasters/notesMaster1.xml" Id="R28eb6edf07634c9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aeb3be13e594c20" /><Relationship Type="http://schemas.openxmlformats.org/officeDocument/2006/relationships/notesMaster" Target="/ppt/notesMasters/notesMaster1.xml" Id="Rbc1f6e710d3d4a8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55269f3b3e742e8" /><Relationship Type="http://schemas.openxmlformats.org/officeDocument/2006/relationships/notesMaster" Target="/ppt/notesMasters/notesMaster1.xml" Id="R45a3b71c61c3454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971f28d4d2e4c23" /><Relationship Type="http://schemas.openxmlformats.org/officeDocument/2006/relationships/notesMaster" Target="/ppt/notesMasters/notesMaster1.xml" Id="R4349fba7b64d45a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d8fe21a78b44dfd" /><Relationship Type="http://schemas.openxmlformats.org/officeDocument/2006/relationships/notesMaster" Target="/ppt/notesMasters/notesMaster1.xml" Id="R2c42efb05fbc458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8ccdd395af742b8" /><Relationship Type="http://schemas.openxmlformats.org/officeDocument/2006/relationships/notesMaster" Target="/ppt/notesMasters/notesMaster1.xml" Id="R99009f8e9dd7452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5f4c95340fd42b5" /><Relationship Type="http://schemas.openxmlformats.org/officeDocument/2006/relationships/notesMaster" Target="/ppt/notesMasters/notesMaster1.xml" Id="R6d9e147377494b2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f8f3110ce74f2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5ed587a8a4c4acf" /><Relationship Type="http://schemas.openxmlformats.org/officeDocument/2006/relationships/slideLayout" Target="/ppt/slideLayouts/slideLayout1.xml" Id="Rb0673b2d3a764bb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0673b2d3a764bb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63e8fcc58c40bd" /><Relationship Type="http://schemas.openxmlformats.org/officeDocument/2006/relationships/image" Target="/ppt/media/image.jpeg" Id="Rb268c10169164def" /><Relationship Type="http://schemas.openxmlformats.org/officeDocument/2006/relationships/notesSlide" Target="/ppt/notesSlides/notesSlide1.xml" Id="Rfb8363756cc248b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bdb54a3b9440e7" /><Relationship Type="http://schemas.openxmlformats.org/officeDocument/2006/relationships/image" Target="/ppt/media/image2.jpeg" Id="R274274a7e6bd4652" /><Relationship Type="http://schemas.openxmlformats.org/officeDocument/2006/relationships/notesSlide" Target="/ppt/notesSlides/notesSlide2.xml" Id="R97e7196f14ad45b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df3ff2ff7748c7" /><Relationship Type="http://schemas.openxmlformats.org/officeDocument/2006/relationships/image" Target="/ppt/media/image3.jpeg" Id="R8cbfc66982884297" /><Relationship Type="http://schemas.openxmlformats.org/officeDocument/2006/relationships/notesSlide" Target="/ppt/notesSlides/notesSlide3.xml" Id="Reabfc09dee944dd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e2b04698414093" /><Relationship Type="http://schemas.openxmlformats.org/officeDocument/2006/relationships/image" Target="/ppt/media/image4.jpeg" Id="Rdb739ffb661b4f45" /><Relationship Type="http://schemas.openxmlformats.org/officeDocument/2006/relationships/notesSlide" Target="/ppt/notesSlides/notesSlide4.xml" Id="R9beb79afa8d1441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d5dc2ea3744bd1" /><Relationship Type="http://schemas.openxmlformats.org/officeDocument/2006/relationships/image" Target="/ppt/media/image5.jpeg" Id="R501bd552cf704e56" /><Relationship Type="http://schemas.openxmlformats.org/officeDocument/2006/relationships/notesSlide" Target="/ppt/notesSlides/notesSlide5.xml" Id="Rfad1ab1415f3463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d9e76fa7f14e1a" /><Relationship Type="http://schemas.openxmlformats.org/officeDocument/2006/relationships/image" Target="/ppt/media/image6.jpeg" Id="R2b15e8299b5b4054" /><Relationship Type="http://schemas.openxmlformats.org/officeDocument/2006/relationships/notesSlide" Target="/ppt/notesSlides/notesSlide6.xml" Id="Rc0a503415f0e441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e932a7140948e2" /><Relationship Type="http://schemas.openxmlformats.org/officeDocument/2006/relationships/image" Target="/ppt/media/image7.jpeg" Id="Rcd0e5e63b38740a2" /><Relationship Type="http://schemas.openxmlformats.org/officeDocument/2006/relationships/notesSlide" Target="/ppt/notesSlides/notesSlide7.xml" Id="R70cf33ce950646f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e2a7c6b9ee4396" /><Relationship Type="http://schemas.openxmlformats.org/officeDocument/2006/relationships/image" Target="/ppt/media/image8.jpeg" Id="R58bc1aaa842a48fd" /><Relationship Type="http://schemas.openxmlformats.org/officeDocument/2006/relationships/notesSlide" Target="/ppt/notesSlides/notesSlide8.xml" Id="Rdb3966787e48494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0603df3f194a56" /><Relationship Type="http://schemas.openxmlformats.org/officeDocument/2006/relationships/image" Target="/ppt/media/image9.jpeg" Id="R162cae58bd754528" /><Relationship Type="http://schemas.openxmlformats.org/officeDocument/2006/relationships/notesSlide" Target="/ppt/notesSlides/notesSlide9.xml" Id="Rba34542c2d5c43c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ea4660663e41a3" /><Relationship Type="http://schemas.openxmlformats.org/officeDocument/2006/relationships/image" Target="/ppt/media/image10.jpeg" Id="Ra901fbe1d6d84eb3" /><Relationship Type="http://schemas.openxmlformats.org/officeDocument/2006/relationships/notesSlide" Target="/ppt/notesSlides/notesSlide10.xml" Id="R958ce969673c4fd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6d32ba31b44b81" /><Relationship Type="http://schemas.openxmlformats.org/officeDocument/2006/relationships/image" Target="/ppt/media/image11.jpeg" Id="Refbc5b6a2ff942f8" /><Relationship Type="http://schemas.openxmlformats.org/officeDocument/2006/relationships/notesSlide" Target="/ppt/notesSlides/notesSlide11.xml" Id="R65c76afbcd144cb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21cf45b77d4359" /><Relationship Type="http://schemas.openxmlformats.org/officeDocument/2006/relationships/image" Target="/ppt/media/image12.jpeg" Id="Rd741cf69efa14f0f" /><Relationship Type="http://schemas.openxmlformats.org/officeDocument/2006/relationships/notesSlide" Target="/ppt/notesSlides/notesSlide12.xml" Id="Reca887b05dbc495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68c10169164def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48FD38-241F-45F2-BBEE-9BC153232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E5F36F-DD04-4C40-8583-BE9736C54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B3F9C3-59CE-4C55-8E62-FA5FB8BF0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10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TECNOTITAN CORPORATE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9B63BC-D56A-4954-9F67-9F1DE5E02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590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69E394-3ED1-4228-BB5E-001E466FB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14550"/>
            <a:ext cx="2000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E6FF"/>
          </a:solidFill>
          <a:ln xmlns:a="http://schemas.openxmlformats.org/drawingml/2006/main" w="0">
            <a:solidFill>
              <a:srgbClr val="55E6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A99F54-A7C7-485A-9C68-66319622A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33650"/>
            <a:ext cx="6572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未来を構築する企業のための応用テクノロジー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09DBF9-6F0D-4248-96F3-31104BF17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619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コロンビアから世界市場へ、ソフトウェア、AI、ゲーム、ロボティクス、技術変革コンサルティングを提供します。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7214ED-6D38-4A7C-A8CA-49D301777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95875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0">
              <a:alpha val="80000"/>
            </a:srgbClr>
          </a:solidFill>
          <a:ln xmlns:a="http://schemas.openxmlformats.org/drawingml/2006/main" w="9525">
            <a:solidFill>
              <a:srgbClr val="244D5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93BEED-7CCE-402A-931F-2865641BF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00650"/>
            <a:ext cx="2266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David Arias Giraldo, CEO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8AC721-6927-434C-B5B8-0C90D3121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095875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0">
              <a:alpha val="80000"/>
            </a:srgbClr>
          </a:solidFill>
          <a:ln xmlns:a="http://schemas.openxmlformats.org/drawingml/2006/main" w="9525">
            <a:solidFill>
              <a:srgbClr val="244D5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EEE650-230F-456D-A1ED-97F0522C3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200650"/>
            <a:ext cx="2076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Investor Deck /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1B496F-DD10-4FBC-A36D-4D9C00803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431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AB1065-E04F-411D-8A9F-54FDA23B0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050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F01941-0C7E-409B-BEB8-E97B49437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4860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6つの製品ライン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25E01D-7B42-4CD3-B57C-86FD3A60A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1432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E16884-6167-4D70-8647-6DF4A153C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051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E99D3C-07CA-4E69-95C4-AB3802E1B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2861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5つの技術部門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CA44F3-D628-4CCE-ABC9-645EBEE45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9433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A1D475-E5A7-4184-945E-47111441D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052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4FF349-72E3-499D-B533-C33CFB852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862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実行重視のリーンチーム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399F3B-7697-409D-91B8-63DC07D82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94BFC2-FE2B-4DA2-A196-EA258F0E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C10453-3EDA-44BE-A164-1C2DA7AED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JA / 01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5C13D3-F432-4647-8DB8-B9405D379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53492587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4274a7e6bd465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3C7763-34A0-43FC-AA3C-E883C036D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57198F-F2A0-4330-A8D5-A84C330C8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B9B311-9DAA-48E3-B3A7-ED4878B36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04900"/>
            <a:ext cx="571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投資仮説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F80CEF-CA46-44EE-9368-ACA8C2871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5715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企業に必要なのは助言者だけでなく、構築者です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023C68-5328-4DB3-AC0A-9B3FBA55B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33700"/>
            <a:ext cx="5715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本当のAI導入には、診断、ソフトウェア、データ、自動化、運用文化が一つのシステムとして機能する必要があります。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A02330-424A-429C-A09E-8F1F6EFED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3187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4B50B2-F812-42C5-A979-6FE40B625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006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CEF049-8BAC-4CEE-9619-8C2667C08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143500"/>
            <a:ext cx="284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AI + ソフトウェア中核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59876A-237B-49B2-B874-871325F7A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700" y="5219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D3D985-B49E-4DD4-82FB-834099DED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3050" y="4629150"/>
            <a:ext cx="3187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F471E8-7B76-44C2-825C-1D62DBEC4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48006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4881BA-CA7C-4E7C-95BB-2767AC159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143500"/>
            <a:ext cx="284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導入を促すインタラクティブ体験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89EE32-09E9-4C17-AFEF-F4865EBCD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8850" y="5219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AEA6E7-7F56-498E-BBCA-EBD591EC3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2200" y="4629150"/>
            <a:ext cx="3187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B175EA-2D5F-4D37-BDC4-78EBB8635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3650" y="48006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87B0E9-0606-48B7-B2B6-50778A2C1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3650" y="5143500"/>
            <a:ext cx="284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ロボティクスと自動化のフロンティア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5AE36D-8E8F-42EC-BB98-166EA6464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52FA66-8451-46E7-93F3-D7C971DDD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DCF7F5-28F6-4A5E-B06E-B9ACEC28E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JA / 02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3A4463-7E38-4341-9DE7-3CA417ED4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86286607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bfc6698288429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032E0D-FEEE-4661-A6A6-39FACE3B5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DA0D7B-D13C-4E16-B361-580E07847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A9B76C-1F8A-464F-AB91-25832DD4E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28700"/>
            <a:ext cx="561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課題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8C32B5-B650-4512-A903-F4B8F7E47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28750"/>
            <a:ext cx="5619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技術変革はサイロ化すると止まります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3EF44D-CF70-4491-B25F-4E9591CF5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5619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多くの企業は手作業、未活用データ、AI導入圧力、アイデアを製品に変える明確な道筋の不足に直面しています。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8425F4-2561-4D66-BFE8-FD6FE8B5B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52400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2F9B36-9667-4E1F-ABEB-675494B06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16859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10430C-BA17-49C4-94AE-1746F1E27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66875"/>
            <a:ext cx="26003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反復作業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4EA097-4DFA-4AC6-ACD2-510C858D3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32410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B8C686-2200-43CA-8D67-D0B2ADBFD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4860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B308A7-196D-490F-A7C6-23254F4A0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6975"/>
            <a:ext cx="26003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行動につながらないデータ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32FC1B-96F3-497C-A29B-5B0E2D400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12420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3BB43C-CC65-48D4-99DC-BF4AE3B29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2861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1A017A-B716-43A2-8B5E-3075652E5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267075"/>
            <a:ext cx="26003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導入されないAI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A48252-A790-4720-931B-3D03094AE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92430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5F7FC6-6BA7-4777-901B-7CB93B6B0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0862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24750D-EECD-4B73-B2EB-1520858B7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067175"/>
            <a:ext cx="26003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方法論のない人材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D7DE3E-6209-4DCC-8779-D576345C3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8B7C7"/>
                </a:solidFill>
                <a:latin typeface="Aptos"/>
                <a:ea typeface="Aptos"/>
                <a:cs typeface="Aptos"/>
              </a:rPr>
              <a:t>Manual workflows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6AC8E9-905A-4996-832D-694EE1EA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3429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5"/>
          </a:solidFill>
          <a:ln xmlns:a="http://schemas.openxmlformats.org/drawingml/2006/main" w="9525">
            <a:solidFill>
              <a:srgbClr val="19364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106343-A2A3-4322-B4BA-5BC7FC466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2476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E6FF"/>
          </a:solidFill>
          <a:ln xmlns:a="http://schemas.openxmlformats.org/drawingml/2006/main" w="0">
            <a:solidFill>
              <a:srgbClr val="55E6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D48820-6884-4DAF-8048-44F12801A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625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8B7C7"/>
                </a:solidFill>
                <a:latin typeface="Aptos"/>
                <a:ea typeface="Aptos"/>
                <a:cs typeface="Aptos"/>
              </a:rPr>
              <a:t>Data activation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21C521-D8CF-43E0-BF33-49E49EDD4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3429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5"/>
          </a:solidFill>
          <a:ln xmlns:a="http://schemas.openxmlformats.org/drawingml/2006/main" w="9525">
            <a:solidFill>
              <a:srgbClr val="19364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2B97FA-205E-4D3E-BA96-F10ED65DF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171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F5A0"/>
          </a:solidFill>
          <a:ln xmlns:a="http://schemas.openxmlformats.org/drawingml/2006/main" w="0">
            <a:solidFill>
              <a:srgbClr val="41F5A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6AF76E1-D43B-45AA-9CA5-F421998D1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959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8B7C7"/>
                </a:solidFill>
                <a:latin typeface="Aptos"/>
                <a:ea typeface="Aptos"/>
                <a:cs typeface="Aptos"/>
              </a:rPr>
              <a:t>AI adoption gap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338320-CF17-4B11-AF63-4823FA689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62650"/>
            <a:ext cx="3429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5"/>
          </a:solidFill>
          <a:ln xmlns:a="http://schemas.openxmlformats.org/drawingml/2006/main" w="9525">
            <a:solidFill>
              <a:srgbClr val="19364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8952ABF-747C-483C-9EDB-0AFAEC8A3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62650"/>
            <a:ext cx="28384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6B"/>
          </a:solidFill>
          <a:ln xmlns:a="http://schemas.openxmlformats.org/drawingml/2006/main" w="0">
            <a:solidFill>
              <a:srgbClr val="FFCF6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71B8197-08EC-4D02-8A47-04BFF4033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4329CA9-6739-4B74-9067-78962DE14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2472BF4-0329-4EDB-A788-CD1CFA236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JA / 03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D582302-5247-45A8-9D68-A4FA63E2C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5834639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39ffb661b4f45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3B1DE3-6B54-480D-823A-253626CDC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5C0B1F-8DF8-457D-9960-B7C0E0979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543281-E12B-4392-BD85-3FAC5A454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95350"/>
            <a:ext cx="619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プラットフォーム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57885C-FA11-4A9B-807B-18BD83107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95400"/>
            <a:ext cx="6191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Tecnotitanはコンサルティングを製品へ、製品をプラットフォームへ変えます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DCB5C4-8F7A-4345-9F95-E2494E742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619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各プロジェクトは再利用可能なモジュール、業界知識、能力を蓄積し、新しいソリューションを加速します。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F75653-92C2-4009-82B7-A6C59FBEB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90950"/>
            <a:ext cx="222408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E8E027-3EE4-4335-AD8C-3D105849C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9624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1F88E8-6748-4834-A222-CC119E793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05300"/>
            <a:ext cx="18811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診断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D7B68B-F233-489B-98FE-27F719D89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6588" y="43815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613EBD-44C9-4C94-A732-3A2260550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9938" y="3790950"/>
            <a:ext cx="222408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B79004-621C-47BA-BF71-30821B01D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9624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097843-7F3C-4FED-B04B-D6B6BBFB3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4305300"/>
            <a:ext cx="18811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構築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2E5819-C7E1-441C-A83E-2AD2F1ACA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3815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447927-2333-4ED2-BC02-ED71E2B91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3790950"/>
            <a:ext cx="222408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B9330C-0CFE-475F-BB88-3C601C675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39624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062F15-EBBF-453F-8B5B-DE629B16E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4305300"/>
            <a:ext cx="18811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製品化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EFFC29-70DE-4A81-9E94-E42A082A0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7663" y="43815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A607E3-C702-4051-AFD1-C9CC7632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013" y="3790950"/>
            <a:ext cx="222408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257856-4318-46F4-98DA-9A73C1BD3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463" y="39624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690B39-3E1B-402A-A20E-9E331167D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463" y="4305300"/>
            <a:ext cx="18811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拡張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FED3C1-B13E-4F61-924F-D0CB6CCAB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276850"/>
            <a:ext cx="8286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Reusable IP, sector knowledge and operating playbooks compound across every project.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6ADCCE-9F0D-47B3-87B9-58EB8FF87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649355-5B1D-4FEF-91BC-583076B86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47BD6A-63A9-4B96-A389-2BD9AF8DE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JA / 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DAF34D-4D44-4694-9BF7-56CC7EB6F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26815782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1bd552cf704e56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D7407F-8696-40E7-B049-75EF8261E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42E3D8-9160-4B48-BD81-81392A63F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051964-56A4-4C5B-B3F4-399E3D78E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38200"/>
            <a:ext cx="581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ポートフォリオ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6B24DF-1B6C-49BA-B13E-10D1C480A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38250"/>
            <a:ext cx="5810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企業、人材、デジタル体験のための製品システム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62DD9E-E818-48FB-8962-2D69D79C3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5810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緊急性の高い課題から入り、運用、学習、応用インテリジェンスへ展開する設計です。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26B152-273C-47BF-AEE1-DD96C4DAC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195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4468E9-426B-4B85-A8A6-37894C4A1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290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Copiloto Pyme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A5A1A8-D096-4C7D-BF49-E9E9ED684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6195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1DBFC0-D341-4F3E-A110-D6199823F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290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Tecnotitan 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100D2A-3BA3-4E5E-8381-45DF63AAB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195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613135-D037-4073-B482-F92B35087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8290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Life Copilot モバイルアプリ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C3F043-031A-4CF1-9B41-50A7E9B0A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7CB4E3-F0B9-4DE1-8C3B-29AB331B4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815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Tecnotitan Engine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CB1148-201B-414A-A281-645B4871F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5720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A8C6E3-7147-42C0-967A-722AAC0AF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815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Tecnotitan Academy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DC6E64-ACDF-4DC5-8C95-022DE4220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5720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017D41-3DA7-4436-8658-1415E968B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7815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Tecnotitan AI Call Center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423E31-7993-4AB2-BA46-1B041415A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6679A7-6C5C-4B7E-8C2A-9C69B5AB2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8633A9-A759-4FD5-91CB-629E13617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JA / 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29CCE4-E432-4D22-BAEE-AAC910F8F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01092329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15e8299b5b405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B1E516-FC9E-4D36-90BC-E2CDF43AD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9BECD9-2DE6-4993-87DE-2213D3B94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2756FE-43D9-42D7-9A45-2A85149A6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33450"/>
            <a:ext cx="581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サービス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F38A45-40F3-4F49-857A-55B1CC188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5810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コンサルティングが収益と市場学習を加速します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7B33F9-0598-48F5-881C-C9391C06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5810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サービスは信頼を生み、実課題を発見し、実装を再利用可能な資産へ変えます。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AE619F-E2E5-4FFA-97FB-57259EA31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05250"/>
            <a:ext cx="220503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AEC7B2-42CA-49FB-A88F-6ED67E763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767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6928C2-AB4B-45EA-92E9-79AB1065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19600"/>
            <a:ext cx="186213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AI診断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7B224A-C3F5-4050-A1FB-205A43E08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5638" y="44958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1701CD-FE9E-4A78-9FE3-B62DC18EF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8988" y="3905250"/>
            <a:ext cx="220503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4156EF-6B18-4BDC-B356-AD64F2EC6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0438" y="40767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27ABC8-717A-45F8-B490-D1A7D272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0438" y="4419600"/>
            <a:ext cx="186213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技術ロードマップ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6CCAD9-9DF8-41F7-B635-DCCC82BFC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4958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274979-3262-44D5-A927-7E1F53D9E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3905250"/>
            <a:ext cx="220503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29AF40-4B34-4640-B2F6-CE8FB298B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40767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9074DA-7FA0-48B9-BB8E-A8F662A49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4419600"/>
            <a:ext cx="186213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実装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AF3A8F-1516-4B1B-992E-92FCF43CB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8613" y="44958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035E75-CAE5-4186-A7E1-DBB7BAEF4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1963" y="3905250"/>
            <a:ext cx="220503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F33E1B-ED46-430C-BE83-3BBA913E4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3413" y="40767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67FF77-989B-4F56-B3F3-0A0BD109D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3413" y="4419600"/>
            <a:ext cx="186213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導入とトレーニング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71C6A5-E9DD-44C4-B99C-AEBEB5AA0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429250"/>
            <a:ext cx="7905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Services are the market-sensing engine that turns demand into product decisions.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5293BD-E192-4320-AA4A-389B35579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8148FA-60ED-4AB3-A99F-F6AAC8E85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EA16CD-DC9E-4E7B-9877-5ED593CF0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JA / 06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AEACD0-ABF1-405F-A77A-903AA98F0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0705649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0e5e63b38740a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B02631-583F-4552-BBF1-0D24C8764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2894B4-AB6C-41CB-B3C6-841F4B96E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57B2E6-6E2D-4986-91B7-F1A47D8EC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1050"/>
            <a:ext cx="619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部門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13A62E-6139-455A-8B6E-E422D48B8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81100"/>
            <a:ext cx="6191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5つの部門がIP、データ、人材を共有します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F349FD-D186-4F5A-87E2-86B09C63A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09850"/>
            <a:ext cx="619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ソフトウェア、AI、ゲーム、ロボティクス、技術変革は孤立事業ではなく、共通アーキテクチャとして機能します。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1FD472-05CA-4754-A8FD-5AF9D6D5E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505200"/>
            <a:ext cx="22479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1117">
              <a:alpha val="93333"/>
            </a:srgbClr>
          </a:solidFill>
          <a:ln xmlns:a="http://schemas.openxmlformats.org/drawingml/2006/main" w="9525">
            <a:solidFill>
              <a:srgbClr val="55E6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6DDD90-D39C-4FFC-A270-D79229E5A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676650"/>
            <a:ext cx="1676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TECNOTITAN</a:t>
            </a:r>
          </a:p>
          <a:p xmlns:a="http://schemas.openxmlformats.org/drawingml/2006/main">
            <a:pPr algn="ctr">
              <a:defRPr sz="16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CORE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DC67BC-9069-46DE-8191-1C55B204F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133600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EB63F4-171A-46A1-A40C-7C5F67C3C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05050"/>
            <a:ext cx="1752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ソフトウェア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75D9BC-E812-4609-A8E1-E3514C894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4574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9B37E5-7582-4151-B630-302AB35BC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9664" y="3199821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128634-CF36-489C-B3AE-34C297C5C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114" y="3371271"/>
            <a:ext cx="1752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人工知能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46F4D3-134C-4FD0-AC57-79C13166F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523671"/>
            <a:ext cx="3098114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6E2B94-EB75-49AF-BBDE-289441B2E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290" y="4925004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09F5FB-F254-4A1D-A345-EB8820E20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740" y="5096454"/>
            <a:ext cx="1752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ゲーム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7D88D7-884D-48E2-A3CB-D63B0FB33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000500"/>
            <a:ext cx="191474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C9D4DB-688A-43EF-A575-CB19B1319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6810" y="4925004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DB7D34-2118-46CC-A51A-EC675ADE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260" y="5096454"/>
            <a:ext cx="1752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ロボティクス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EFADC9-7211-40BB-B54C-6F60C9C4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560" y="4000500"/>
            <a:ext cx="191474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9D7309-D8F2-4F02-B738-AF3A79ED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3436" y="3199821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0F643F-4C31-4231-AB55-BD1418665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4886" y="3371271"/>
            <a:ext cx="1752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技術コンサルティング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645760-7074-4490-AEB9-5F35730E9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1186" y="3523671"/>
            <a:ext cx="3098114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546B6F-6621-41B2-A2F3-92029B5AF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C2EA12-3865-4F59-9309-F611EA6B2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858EB1-726A-4F85-8EDC-D1F2F49EA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JA / 07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DF31DD-75C2-4C72-817A-90215C1A8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35167765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bc1aaa842a48fd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758B5A-18E6-4C25-972A-8ED7DC4F0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F68896-3C23-47B7-BD28-426FAFE68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3973B6-A38C-431E-98E8-40C01026E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6000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モデル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408AC3-C3F8-4F21-9231-63482532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76350"/>
            <a:ext cx="6000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現在はサービス収益、将来は拡張可能な製品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1648DC-EFF0-48CF-A966-007A15416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6000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モデルはコンサルティング、実装、サブスクリプション、ライセンス、アカデミー、将来の技術スピンオフを組み合わせます。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63A295-61DB-4340-8985-385083267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29050"/>
            <a:ext cx="2252663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9807E9-8978-461D-9D78-34DC69530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005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A82DA3-BF2E-4CF6-8978-2E14B2B9F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43400"/>
            <a:ext cx="190976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サービス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372D09-AB6E-45E6-A4B8-C6AC9BA50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063" y="44196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1BD553-252D-48E9-B8B7-222CDA451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413" y="3829050"/>
            <a:ext cx="2252663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11CC2F-ACA1-47D1-A68E-8221FB567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1863" y="40005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8B9805-9648-4E34-849A-DAE21100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1863" y="4343400"/>
            <a:ext cx="190976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SaaSとライセンス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D54DDE-0466-4C10-ACD6-1C8628C1D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1175" y="44196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C514F4-6510-4319-9357-DFC82C815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3829050"/>
            <a:ext cx="2252663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8C62E4-6869-4240-AB54-78F8B4694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40005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041715-ED8C-4D49-9F61-C7F721677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4343400"/>
            <a:ext cx="190976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アカデミー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22769A-37FC-428F-BB73-A6DB3EAF5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5288" y="44196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40C4F6-36F8-4BE6-A3BE-995DF1C23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8638" y="3829050"/>
            <a:ext cx="2252663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A2772B-4E0F-488C-92D5-2EFDE77AE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0088" y="40005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2F3A7F-07E4-402E-A221-CEBB6D7C1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0088" y="4343400"/>
            <a:ext cx="190976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Ventures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4CF09A-E01D-4F4B-BE12-6D61C95FF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391150"/>
            <a:ext cx="7905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Each layer can monetize independently while feeding data, references and reusable modules back into the platform.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5ED781-2A18-4EAF-A444-293F53163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F30715-9578-4095-9BD3-0D84FA9DA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01D118-E610-4F56-B828-C2776CAD3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JA / 08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2BD864-67E7-4D06-8DCE-3D16E7F67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35254298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2cae58bd754528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F1E652-CBBE-4EF1-8611-43C2E973A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E3C15A-56E2-4A2B-8696-5348A20F6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8CA42B-00D4-4B26-8023-A5F340DE5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571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市場展開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52E7BF-4A18-448F-A6CF-0DE975E9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76350"/>
            <a:ext cx="5715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運用課題から入り、プラットフォームで拡張します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0AF7D7-5973-495D-A8B1-D4EFECCCC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5715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Tecnotitanは企業向けAI・ソフトウェア案件から開始し、繰り返し発生する課題を解く製品へ展開できます。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ED5513-5757-4899-8015-9F1146CF7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447800"/>
            <a:ext cx="3486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B19C59-0170-4C93-BAC0-FFE6D06F2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16097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634BD8-C7BC-4B6C-9858-B77D2F1BF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90675"/>
            <a:ext cx="2609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ラテンアメリカを基盤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F25698-CF98-4657-915B-A9BA41FF2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247900"/>
            <a:ext cx="3486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2A7E33-28BE-4F1B-8D70-39C7D6924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4098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3C3332-E209-4D07-93A3-A6319BE4A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390775"/>
            <a:ext cx="2609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中堅企業と大企業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2DF834-32B7-4AC3-B826-F97EABFCF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048000"/>
            <a:ext cx="3486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D6AEB6-E5B3-45FA-AE09-5D9A6F652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2099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191EF6-6FDF-4C48-A702-1BBB03D63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90875"/>
            <a:ext cx="2609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グローバルパートナー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FF6F61-253F-426F-8D21-B36F8D777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848100"/>
            <a:ext cx="3486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0C9AFA-2C01-4183-931D-192B6EEF2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0100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61BFC4-CFCD-4D8C-BC06-88FA0BCDB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90975"/>
            <a:ext cx="2609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戦略投資家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E57B28-034F-424B-B0EF-2CE9B7159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76800"/>
            <a:ext cx="22288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3A58DC-CF07-4C23-9E1C-692B75B31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482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512FB5-06EA-4AFD-94CB-8661F94D8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91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Pilot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B2CBAF-15E3-4CDB-942E-36F134C4B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4673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9EE855-0400-4D4E-B0D7-B6FFAF21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876800"/>
            <a:ext cx="22288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F06ED85-D013-4C61-8A08-5EA712D72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0482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0E9BFE-28A0-4693-A48D-E3D91FCD7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391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Implementation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EB4B86-AEDD-4B34-9EF5-A24DD73BD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54673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B118E66-333D-425A-BA92-AA3036E39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876800"/>
            <a:ext cx="22288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CE7BC2-0AE2-4F46-88D6-0D858230A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50482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D8051C0-B36B-46AF-83C1-2A5D299D9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5391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Product expansion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C39FAD-9A41-4058-A40D-A483F9781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4673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332CD5C-4B10-4419-B17B-E057C99E7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876800"/>
            <a:ext cx="22288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B9EB5FA-8B38-4945-A27E-3908C0F11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0482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CCBBEB1-8BCD-4667-A44C-D312CEF88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391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Strategic partner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A4A5BFC-1A18-4F37-89F5-7234AE114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E14E932-2BBD-4EA5-A016-A4EF14895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2400223-9FB9-41F2-95B3-47FEEFD37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JA / 09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51A12FD-D82A-4922-9C32-C9D60564D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58611309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01fbe1d6d84eb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77BF74-7EB8-4C71-9CB4-DCB6B0A05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DCEDFE-A650-4B6A-8165-D3226F1A0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D28CBF-5A55-4918-8D3D-208D46C6C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95350"/>
            <a:ext cx="609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チーム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B19B95-9F7F-4729-95E0-A06C6E2BD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95400"/>
            <a:ext cx="6096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実行に集中するリーンな創業チーム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C08BEA-D786-4D99-801B-A04FA9C23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6096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David Arias GiraldoがCEOとしてビジョンを率いています。現在はフルタイムのコンサルタント1名とプログラマー2名がいます。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98102E-EF15-449B-9336-8F05006D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2424113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42137B-89FA-43BE-843D-AD495E38E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43350"/>
            <a:ext cx="20812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創業CEO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267FC8-CAF5-47BF-BDE8-F3E2B3A4A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1363" y="3733800"/>
            <a:ext cx="2424113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B51466-99DE-488C-94F1-DE560B1B8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2813" y="3943350"/>
            <a:ext cx="20812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コンサルティング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C0C1DC-55A9-4B98-9AFA-06D33A907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3733800"/>
            <a:ext cx="2424113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04F16B-EF6A-4F18-BA34-52FD4DFAC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943350"/>
            <a:ext cx="20812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エンジニアリング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70BCAA-5D15-434D-927D-3C2A0AC81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6288" y="3733800"/>
            <a:ext cx="2424113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AD55F8-5FB6-4807-89A9-065568BEE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7738" y="3943350"/>
            <a:ext cx="20812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次の採用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F29144-04B4-488D-8820-FF5AFF1BF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102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Hiring priorities: product engineering, AI delivery, sales development and investor relations.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0C881F-3B97-4AD5-AE49-AF7F04E46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DC1181-4D00-404A-A21A-04A322DA0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AEDD9C-978A-4B39-AFF3-FFE9CDFAD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JA / 10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CB2935-9A0A-4F8D-B5AB-CD5D2BE58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10047395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bc5b6a2ff942f8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7195B7-4E34-432D-8CCF-4007AF534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B3CCCA-3B9D-4C52-8172-21A8DBD96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0E810F-507A-4575-8605-C8D2F3C0E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590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ロードマップ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C9CC87-2B9C-4A35-B76D-966518B15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76350"/>
            <a:ext cx="5905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検証から地域テクノロジープラットフォームへ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A8C659-CEDF-489D-B33E-CA580FFCD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590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実案件、自社製品、内部自動化、商業拡大を優先し、investor-readyな状態を高めます。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99A9BB-550A-4BB9-872C-DBA9387B8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2806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4BB39E-F45C-47BF-BB49-1514E13CB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719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5DE491-4655-4823-ADB7-79C6C2C37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14850"/>
            <a:ext cx="2463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2026: 案件とMVP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FF8785-3B13-4C7B-A0F0-7AEFC385F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6850" y="45910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652EB3-EF5C-45B2-A758-0A92837B9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0200" y="4000500"/>
            <a:ext cx="2806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0682D6-BC0E-4BC4-BF06-ECA920EB5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50" y="41719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9ACB97-ED2B-40EB-96DA-F0A1BC71E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50" y="4514850"/>
            <a:ext cx="2463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2027: 製品とIP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EAB66E-EB40-4A86-ACF5-8A3825D1A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5000" y="45910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AB2AFC-FC4A-432B-A91E-613DE7324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8350" y="4000500"/>
            <a:ext cx="2806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E5DFEC-E7C5-49E9-9BCC-D7CA4615D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9800" y="41719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B7EE15-2770-4919-A25A-EA2EC251E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9800" y="4514850"/>
            <a:ext cx="2463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2028: 地域拡大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4562B4-45F0-4412-A06E-9E08594A7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DF552C-D4CF-41E1-9F5A-9F90C0C0F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54F983-E0A3-4D2B-A4FD-0F1222695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JA / 11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ED2A3C-841F-4B17-973B-CFA185E84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28992086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41cf69efa14f0f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A6446A-8807-4642-9493-4248CFB58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442235-FE49-4B74-9407-1251C409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E94F7F-531E-44D4-9DF7-3899F0705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47750"/>
            <a:ext cx="6572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投資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1BD826-B19F-43D5-9880-070E7B71D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47800"/>
            <a:ext cx="6572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製品、営業、人材を加速する資本とパートナーを求めています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BFB5AD-6E4B-41BC-8E70-79051800D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76550"/>
            <a:ext cx="6572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Tecnotitanはラテンアメリカ発でグローバルな野心を持つ複数部門型テクノロジー企業を構築しています。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EF71EF-B735-44B3-872E-36947EBDD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5430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672D0E-2D44-4183-AD45-F36DC7AC7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7049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D90B1A-32DD-45A5-BAEA-F880AA6D9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6859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製品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A23F62-8304-43B1-8937-06D5A460E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431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38B2DD-B123-4C6E-91EE-AB2A43F64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5050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06A6A3-ECE8-49AB-8C04-3847F6D0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860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営業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A96813-3A62-4B89-8228-7A32E329D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1432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1CA2E6-33F1-45E7-B053-2E274B464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051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D6FBBF-BEE7-4151-9249-3E2F0CA49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861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技術人材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8E5B3B-E6EF-40AF-8104-A04541A62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9433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0B0A0D-AD31-4785-AE78-75354BA0C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1052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66A1A5-E247-43B1-9EB1-26C4FE981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862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Data room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ED3C95-826B-42FF-B32C-A43FDEEAA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86350"/>
            <a:ext cx="581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0">
              <a:alpha val="86667"/>
            </a:srgbClr>
          </a:solidFill>
          <a:ln xmlns:a="http://schemas.openxmlformats.org/drawingml/2006/main" w="9525">
            <a:solidFill>
              <a:srgbClr val="55E6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C309A6-2B7D-467D-A257-4F566B6E0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314950"/>
            <a:ext cx="523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info@tecnotitan.com  |  www.tecnotitan.com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FCED78-6904-499B-8F6A-43838F4CC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4C3852-5D1D-497E-91DC-52DAC0386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8B8777-C84B-4A92-9FEE-EFCE0C55A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JA / 12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BD8062-35A9-4F00-9262-4E8561EAE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46878391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2026-06-06T03:55:28.9980000Z</dcterms:created>
  <dcterms:modified xsi:type="dcterms:W3CDTF">2026-06-06T03:55:28.9980000Z</dcterms:modified>
</coreProperties>
</file>