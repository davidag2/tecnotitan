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6cb2a0fe146df" /><Relationship Type="http://schemas.openxmlformats.org/officeDocument/2006/relationships/extended-properties" Target="/docProps/app.xml" Id="R1e06e6d052154c4c" /><Relationship Type="http://schemas.openxmlformats.org/officeDocument/2006/relationships/officeDocument" Target="/ppt/presentation.xml" Id="R27d9a3d22a0345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d6d436113945a2"/>
  </p:sldMasterIdLst>
  <p:notesMasterIdLst>
    <p:notesMasterId xmlns:r="http://schemas.openxmlformats.org/officeDocument/2006/relationships" r:id="Rcacff1833e0e443d"/>
  </p:notesMasterIdLst>
  <p:sldIdLst>
    <p:sldId xmlns:r="http://schemas.openxmlformats.org/officeDocument/2006/relationships" id="256" r:id="R87b537811e85493e"/>
    <p:sldId xmlns:r="http://schemas.openxmlformats.org/officeDocument/2006/relationships" id="257" r:id="R35d33728939e41ba"/>
    <p:sldId xmlns:r="http://schemas.openxmlformats.org/officeDocument/2006/relationships" id="258" r:id="R49c8bd9dbb214047"/>
    <p:sldId xmlns:r="http://schemas.openxmlformats.org/officeDocument/2006/relationships" id="259" r:id="R34674823bbde48cb"/>
    <p:sldId xmlns:r="http://schemas.openxmlformats.org/officeDocument/2006/relationships" id="260" r:id="Rcd0dfc8e494f444f"/>
    <p:sldId xmlns:r="http://schemas.openxmlformats.org/officeDocument/2006/relationships" id="261" r:id="Rce94a6eda16846fe"/>
    <p:sldId xmlns:r="http://schemas.openxmlformats.org/officeDocument/2006/relationships" id="262" r:id="R37cd296c564b4e4b"/>
    <p:sldId xmlns:r="http://schemas.openxmlformats.org/officeDocument/2006/relationships" id="263" r:id="R1de9d78a64b4413d"/>
    <p:sldId xmlns:r="http://schemas.openxmlformats.org/officeDocument/2006/relationships" id="264" r:id="R04221b7c5ecb44ae"/>
    <p:sldId xmlns:r="http://schemas.openxmlformats.org/officeDocument/2006/relationships" id="265" r:id="R68315b8be2314ee1"/>
    <p:sldId xmlns:r="http://schemas.openxmlformats.org/officeDocument/2006/relationships" id="266" r:id="Rd3a90f6b6fb948b5"/>
    <p:sldId xmlns:r="http://schemas.openxmlformats.org/officeDocument/2006/relationships" id="267" r:id="R35f98506fbff49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2a17a251534e08" /><Relationship Type="http://schemas.openxmlformats.org/officeDocument/2006/relationships/slideMaster" Target="/ppt/slideMasters/slideMaster1.xml" Id="Rbdd6d436113945a2" /><Relationship Type="http://schemas.openxmlformats.org/officeDocument/2006/relationships/notesMaster" Target="/ppt/notesMasters/notesMaster1.xml" Id="Rcacff1833e0e443d" /><Relationship Type="http://schemas.openxmlformats.org/officeDocument/2006/relationships/presProps" Target="/ppt/presProps.xml" Id="R2955fee53dcf441a" /><Relationship Type="http://schemas.openxmlformats.org/officeDocument/2006/relationships/viewProps" Target="/ppt/viewProps.xml" Id="R4d556073e9ba43e8" /><Relationship Type="http://schemas.openxmlformats.org/officeDocument/2006/relationships/tableStyles" Target="/ppt/tableStyles.xml" Id="Rdb9428b0561f4322" /><Relationship Type="http://schemas.openxmlformats.org/officeDocument/2006/relationships/slide" Target="/ppt/slides/slide1.xml" Id="R87b537811e85493e" /><Relationship Type="http://schemas.openxmlformats.org/officeDocument/2006/relationships/slide" Target="/ppt/slides/slide2.xml" Id="R35d33728939e41ba" /><Relationship Type="http://schemas.openxmlformats.org/officeDocument/2006/relationships/slide" Target="/ppt/slides/slide3.xml" Id="R49c8bd9dbb214047" /><Relationship Type="http://schemas.openxmlformats.org/officeDocument/2006/relationships/slide" Target="/ppt/slides/slide4.xml" Id="R34674823bbde48cb" /><Relationship Type="http://schemas.openxmlformats.org/officeDocument/2006/relationships/slide" Target="/ppt/slides/slide5.xml" Id="Rcd0dfc8e494f444f" /><Relationship Type="http://schemas.openxmlformats.org/officeDocument/2006/relationships/slide" Target="/ppt/slides/slide6.xml" Id="Rce94a6eda16846fe" /><Relationship Type="http://schemas.openxmlformats.org/officeDocument/2006/relationships/slide" Target="/ppt/slides/slide7.xml" Id="R37cd296c564b4e4b" /><Relationship Type="http://schemas.openxmlformats.org/officeDocument/2006/relationships/slide" Target="/ppt/slides/slide8.xml" Id="R1de9d78a64b4413d" /><Relationship Type="http://schemas.openxmlformats.org/officeDocument/2006/relationships/slide" Target="/ppt/slides/slide9.xml" Id="R04221b7c5ecb44ae" /><Relationship Type="http://schemas.openxmlformats.org/officeDocument/2006/relationships/slide" Target="/ppt/slides/slide10.xml" Id="R68315b8be2314ee1" /><Relationship Type="http://schemas.openxmlformats.org/officeDocument/2006/relationships/slide" Target="/ppt/slides/slide11.xml" Id="Rd3a90f6b6fb948b5" /><Relationship Type="http://schemas.openxmlformats.org/officeDocument/2006/relationships/slide" Target="/ppt/slides/slide12.xml" Id="R35f98506fbff49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dcf122584d44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16f70eff774e16" /><Relationship Type="http://schemas.openxmlformats.org/officeDocument/2006/relationships/notesMaster" Target="/ppt/notesMasters/notesMaster1.xml" Id="Rcd34ddae769b4c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b5b23bfda0436f" /><Relationship Type="http://schemas.openxmlformats.org/officeDocument/2006/relationships/notesMaster" Target="/ppt/notesMasters/notesMaster1.xml" Id="Ra6a81e59cfce4b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631e20ab5f4b98" /><Relationship Type="http://schemas.openxmlformats.org/officeDocument/2006/relationships/notesMaster" Target="/ppt/notesMasters/notesMaster1.xml" Id="Rc64b47717d9345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c413ed29944b50" /><Relationship Type="http://schemas.openxmlformats.org/officeDocument/2006/relationships/notesMaster" Target="/ppt/notesMasters/notesMaster1.xml" Id="Rf0f3c4028ae743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40bdb7f7d64950" /><Relationship Type="http://schemas.openxmlformats.org/officeDocument/2006/relationships/notesMaster" Target="/ppt/notesMasters/notesMaster1.xml" Id="R7fa4cd71e36946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e4f555cfd74d3b" /><Relationship Type="http://schemas.openxmlformats.org/officeDocument/2006/relationships/notesMaster" Target="/ppt/notesMasters/notesMaster1.xml" Id="R8c60cf1d935849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99c28336854a5f" /><Relationship Type="http://schemas.openxmlformats.org/officeDocument/2006/relationships/notesMaster" Target="/ppt/notesMasters/notesMaster1.xml" Id="R3437d781291341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db063c04314f29" /><Relationship Type="http://schemas.openxmlformats.org/officeDocument/2006/relationships/notesMaster" Target="/ppt/notesMasters/notesMaster1.xml" Id="R33c675ed3ca140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8154a5011b4731" /><Relationship Type="http://schemas.openxmlformats.org/officeDocument/2006/relationships/notesMaster" Target="/ppt/notesMasters/notesMaster1.xml" Id="R3fc82dfa6bd544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261823d4e14a81" /><Relationship Type="http://schemas.openxmlformats.org/officeDocument/2006/relationships/notesMaster" Target="/ppt/notesMasters/notesMaster1.xml" Id="Rd63614c9ca5c45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68b35da6df4e28" /><Relationship Type="http://schemas.openxmlformats.org/officeDocument/2006/relationships/notesMaster" Target="/ppt/notesMasters/notesMaster1.xml" Id="R72ed6867340b41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d79abcf0af4026" /><Relationship Type="http://schemas.openxmlformats.org/officeDocument/2006/relationships/notesMaster" Target="/ppt/notesMasters/notesMaster1.xml" Id="Ra7422728603c49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6373365114d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479668dc7f4005" /><Relationship Type="http://schemas.openxmlformats.org/officeDocument/2006/relationships/slideLayout" Target="/ppt/slideLayouts/slideLayout1.xml" Id="R3b3c8406578c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3c8406578c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6add4aa014de7" /><Relationship Type="http://schemas.openxmlformats.org/officeDocument/2006/relationships/image" Target="/ppt/media/image.jpeg" Id="R9b22d8d7d9eb439f" /><Relationship Type="http://schemas.openxmlformats.org/officeDocument/2006/relationships/notesSlide" Target="/ppt/notesSlides/notesSlide1.xml" Id="Rc862e7bdffdc4d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5602f517b474a" /><Relationship Type="http://schemas.openxmlformats.org/officeDocument/2006/relationships/image" Target="/ppt/media/image2.jpeg" Id="Rff4e7479c475433b" /><Relationship Type="http://schemas.openxmlformats.org/officeDocument/2006/relationships/notesSlide" Target="/ppt/notesSlides/notesSlide2.xml" Id="Rf96ac493f71a43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706ea135449b8" /><Relationship Type="http://schemas.openxmlformats.org/officeDocument/2006/relationships/image" Target="/ppt/media/image3.jpeg" Id="Rff0193b9bffd4577" /><Relationship Type="http://schemas.openxmlformats.org/officeDocument/2006/relationships/notesSlide" Target="/ppt/notesSlides/notesSlide3.xml" Id="R08219143132b4d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5815776634193" /><Relationship Type="http://schemas.openxmlformats.org/officeDocument/2006/relationships/image" Target="/ppt/media/image4.jpeg" Id="R50d40108562c4479" /><Relationship Type="http://schemas.openxmlformats.org/officeDocument/2006/relationships/notesSlide" Target="/ppt/notesSlides/notesSlide4.xml" Id="R9befda5c5a7c44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cb25e78cd458b" /><Relationship Type="http://schemas.openxmlformats.org/officeDocument/2006/relationships/image" Target="/ppt/media/image5.jpeg" Id="R72bfefb53ada4d97" /><Relationship Type="http://schemas.openxmlformats.org/officeDocument/2006/relationships/notesSlide" Target="/ppt/notesSlides/notesSlide5.xml" Id="Rce939de8f00742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90bdc5fc84a45" /><Relationship Type="http://schemas.openxmlformats.org/officeDocument/2006/relationships/image" Target="/ppt/media/image6.jpeg" Id="R199f10d09eda494e" /><Relationship Type="http://schemas.openxmlformats.org/officeDocument/2006/relationships/notesSlide" Target="/ppt/notesSlides/notesSlide6.xml" Id="Re91a976baca149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00c178c324690" /><Relationship Type="http://schemas.openxmlformats.org/officeDocument/2006/relationships/image" Target="/ppt/media/image7.jpeg" Id="R481145097c62442a" /><Relationship Type="http://schemas.openxmlformats.org/officeDocument/2006/relationships/notesSlide" Target="/ppt/notesSlides/notesSlide7.xml" Id="R69a92a0cf02942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be4795fd74e4b" /><Relationship Type="http://schemas.openxmlformats.org/officeDocument/2006/relationships/image" Target="/ppt/media/image8.jpeg" Id="R849b71b857f44e8a" /><Relationship Type="http://schemas.openxmlformats.org/officeDocument/2006/relationships/notesSlide" Target="/ppt/notesSlides/notesSlide8.xml" Id="Rb9961f4ff9ad49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9d23e2ccb42f3" /><Relationship Type="http://schemas.openxmlformats.org/officeDocument/2006/relationships/image" Target="/ppt/media/image9.jpeg" Id="R1f900740180547e3" /><Relationship Type="http://schemas.openxmlformats.org/officeDocument/2006/relationships/notesSlide" Target="/ppt/notesSlides/notesSlide9.xml" Id="R5ac1045dd77b45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a2850d58246c2" /><Relationship Type="http://schemas.openxmlformats.org/officeDocument/2006/relationships/image" Target="/ppt/media/image10.jpeg" Id="R8a83a1ade6c148ed" /><Relationship Type="http://schemas.openxmlformats.org/officeDocument/2006/relationships/notesSlide" Target="/ppt/notesSlides/notesSlide10.xml" Id="Rf3271b1e03c347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5c52a9ce14f8d" /><Relationship Type="http://schemas.openxmlformats.org/officeDocument/2006/relationships/image" Target="/ppt/media/image11.jpeg" Id="R5f84065f08b2465f" /><Relationship Type="http://schemas.openxmlformats.org/officeDocument/2006/relationships/notesSlide" Target="/ppt/notesSlides/notesSlide11.xml" Id="R0a99972ce1dc44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30b9777684a48" /><Relationship Type="http://schemas.openxmlformats.org/officeDocument/2006/relationships/image" Target="/ppt/media/image12.jpeg" Id="Rf2afa305f6ce4a31" /><Relationship Type="http://schemas.openxmlformats.org/officeDocument/2006/relationships/notesSlide" Target="/ppt/notesSlides/notesSlide12.xml" Id="Rff8a4108e22c49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2d8d7d9eb439f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E603A-9D7E-4362-B42B-15BA5A5F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9C834-BEF5-47B2-9872-8C6A2446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D164B-CEBB-4D63-8179-F0D0D59C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TECNOTITAN CORPORATE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262C8-D4C0-49FF-A579-D71F6D61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CE2F0-1651-4714-A9E8-2E13DDB5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6FF"/>
          </a:solidFill>
          <a:ln xmlns:a="http://schemas.openxmlformats.org/drawingml/2006/main" w="0">
            <a:solidFill>
              <a:srgbClr val="55E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E19B7-8BC7-4A64-9FE6-DE9140F0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657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Applied technology for companies that need to build the future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2AEC7-2C52-43DB-A73D-801938FF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Software, artificial intelligence, video games, robotics and technology transformation consulting from Colombia for global markets.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1C247-87C5-494C-B55B-B1452419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0">
              <a:alpha val="80000"/>
            </a:srgbClr>
          </a:solidFill>
          <a:ln xmlns:a="http://schemas.openxmlformats.org/drawingml/2006/main" w="9525">
            <a:solidFill>
              <a:srgbClr val="244D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4E26B-98DE-4591-8F0D-4C1AB2E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David Arias Giraldo, CEO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9E894-B7AE-4E8B-BCC1-5BD6860E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958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0">
              <a:alpha val="80000"/>
            </a:srgbClr>
          </a:solidFill>
          <a:ln xmlns:a="http://schemas.openxmlformats.org/drawingml/2006/main" w="9525">
            <a:solidFill>
              <a:srgbClr val="244D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380C2-23FA-42D8-BC0A-F7ECCE6D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006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Investor Deck /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F4C0F-53A2-493E-A4F5-DF3504AA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CAF44-4C9F-464A-B1AC-3B129160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32421-89CC-49E7-B198-E3BCA7BB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860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6 product lines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1ECAA-5126-4633-B9F3-CFE79CA8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C7965-4523-4BA1-91AD-1388D9E7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051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C5DF5-A1F9-4994-807E-80B46C60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861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5 technology divisions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53A8D-2B4A-480B-80CE-2D63EF25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39FDE-83D3-4D1C-9A38-06300B7D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052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41A48-9208-463D-8277-6200B0F3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862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Lean execution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7B27F-EDC5-4F42-A241-5410D5C4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95201-0FDB-460F-8BBA-42896FD3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A829E-1782-4865-873D-15515766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6AE8D0-4AA4-467C-BA37-49B848F9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4876341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e7479c475433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46790-18BE-4696-9BB6-1B7AD3A9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4F741-25D3-474E-8A1F-ABC4632E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7944C-A76F-4663-9F7D-338FC389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08B4D-5533-4036-A50C-785A4AFB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715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Companies need builders, not only advisors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E38D4-B0E3-4718-B51A-32A2F720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71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Real AI adoption requires diagnosis, software, data, automation and operating culture working as one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65720-BC6C-43BB-B93B-47BB2283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3187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5C177-3F23-4CE0-B278-55FA81D4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4E33A-A6F1-46F1-A984-B2FAD63F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84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AI + software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7069A-6813-4203-950C-5A0D9FD1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700" y="52197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36065-B757-422C-9898-D073CE4A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050" y="4629150"/>
            <a:ext cx="3187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16C418-E099-4FB7-BEEB-7CE28345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800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F432C-80DB-4725-A18F-44798D0A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143500"/>
            <a:ext cx="284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Interactive adoption experiences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DA59E-AC89-4D14-A2C6-99475F12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850" y="52197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8E39C-CD60-4868-8129-E3C730A2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4629150"/>
            <a:ext cx="3187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918CF-B3B8-4631-A599-3F6B1C7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4800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D6FDA-C4C5-42BB-BA1D-3F60E63B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50" y="5143500"/>
            <a:ext cx="284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Robotics and automation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0829A-63EB-422F-B4EE-3A3F1C25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3E88A-1B07-4530-9C03-1BF9E04F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F4EFD-B923-4976-9D9D-A61D0F79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BB52F-05A7-494A-AF1B-54D6BF2D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0802616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193b9bffd457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D48F3-8D76-4D6E-AF4C-013A3E90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766ED-BCE1-417A-984C-10CBA60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A43E3-C70C-4BB0-86DC-960D5D76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0167A-C61C-4F86-8D75-1D3E28B8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61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Technology transformation stalls when it lives in silos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8E970-BC9C-46F2-A9DB-F5CD0C3D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561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Many companies have manual workflows, underused data, pressure to implement AI and teams without a clear path from ideas to products.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013B6-C0A2-48C3-A74A-A4E64BE4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500D1-04C4-41AA-BC4C-23897F70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859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90AF6-91AE-421C-BB35-A9A70ACD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Repetitive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FAA18-C3C0-4996-AA64-764FA14A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241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B4DD0-E971-40F1-A445-2B9C0E8F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860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609F2-26D6-4385-95CC-258FD62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669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Data without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C5703-88B4-46FA-B427-B60EDD09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242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56214-3DB4-4822-9CBA-F95D6CA1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861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29C67-AB35-429B-81FF-7866295C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670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AI without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E64FE-FFA2-4E4E-AC6F-FE5B9F1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24300"/>
            <a:ext cx="3476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BE72C-5136-4A23-8B82-037A9731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862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E8738-535A-45DA-8FD6-CD5D1997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67175"/>
            <a:ext cx="2600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Talent without playbooks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06660-D6A4-49B5-8306-1123815B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7C7"/>
                </a:solidFill>
                <a:latin typeface="Aptos"/>
                <a:ea typeface="Aptos"/>
                <a:cs typeface="Aptos"/>
              </a:rPr>
              <a:t>Manual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85EFC-449D-41B1-87EF-AE16932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9525">
            <a:solidFill>
              <a:srgbClr val="1936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F3ACD-87D2-4B6B-8C56-882B8F34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E6FF"/>
          </a:solidFill>
          <a:ln xmlns:a="http://schemas.openxmlformats.org/drawingml/2006/main" w="0">
            <a:solidFill>
              <a:srgbClr val="55E6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B2A25-98CA-4855-B061-195A55A6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7C7"/>
                </a:solidFill>
                <a:latin typeface="Aptos"/>
                <a:ea typeface="Aptos"/>
                <a:cs typeface="Aptos"/>
              </a:rPr>
              <a:t>Data activation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6AE24-3DC6-4DA1-A323-69ACE320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9525">
            <a:solidFill>
              <a:srgbClr val="1936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744DC-E433-42C2-83F9-9733DB5A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F5A0"/>
          </a:solidFill>
          <a:ln xmlns:a="http://schemas.openxmlformats.org/drawingml/2006/main" w="0">
            <a:solidFill>
              <a:srgbClr val="41F5A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AE800-912D-449D-86DB-8A31409E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7C7"/>
                </a:solidFill>
                <a:latin typeface="Aptos"/>
                <a:ea typeface="Aptos"/>
                <a:cs typeface="Aptos"/>
              </a:rPr>
              <a:t>AI adoption gap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C80292-3E61-45D0-9AC1-61729BF9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5"/>
          </a:solidFill>
          <a:ln xmlns:a="http://schemas.openxmlformats.org/drawingml/2006/main" w="9525">
            <a:solidFill>
              <a:srgbClr val="1936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73490E-C3CC-49EF-8726-90624C73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2838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6B"/>
          </a:solidFill>
          <a:ln xmlns:a="http://schemas.openxmlformats.org/drawingml/2006/main" w="0">
            <a:solidFill>
              <a:srgbClr val="FFCF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F858B8-0377-4CCC-B217-1B6E8C74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6119FE-6660-49B1-B994-3029D6B3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315FFC-3E07-4CF5-9E63-32D2A10B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39DC7-03D6-4751-BE13-3A1F7DF9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2565743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40108562c4479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E8298-03BC-44D4-920C-ABAC36F2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59F03-E012-410F-8CA6-1DB3CE23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3DF95-81D9-4D78-A864-C559EBC2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B4F34-B384-4714-A3F0-4818E6A0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619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 turns consulting into product, and product into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2F4D4-1C73-48F9-BBBC-59737788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19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Every project feeds reusable modules, industry knowledge and capabilities that accelerate new solutions.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1CEFE-7DA5-4037-8BB1-A690A19D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0F00F-91DA-4740-BFD8-75015598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1BE7A-B52E-4B7C-AD39-4C394497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20800-7FE2-4F61-B519-1566F7E4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4381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DA7D7-F13E-4C95-814D-931CFBA1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51AB8-190F-4245-8E78-51D7AF40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47CE8-AEF8-41AF-9914-DD957750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68101-863F-40E5-9E1B-25405A37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81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CD450-BB7C-4406-80AE-9DC70A90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2AC48-EF3A-4742-835F-C7414233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47C1B-B317-4BBD-AD31-27CBD6BD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Productize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8CFC5-8CAD-4F99-8C73-C2CA401B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63" y="43815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8DE38-E88A-423B-AC03-0E019754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790950"/>
            <a:ext cx="222408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462C0-5E74-425A-B339-8DE076C2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92B75-C4C9-499F-BE86-7BF7C402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4305300"/>
            <a:ext cx="1881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B6B6D-FA2C-4A93-A980-D073C3EA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768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Reusable IP, sector knowledge and operating playbooks compound across every project.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95B6A-CD9A-49E3-A0C0-E60733B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1B322-685F-44C6-99B1-0784AAC3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105A1-D790-4C1F-A292-39F8F2DE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157A0-3935-43BF-9C06-A6536D2D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4235709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fefb53ada4d9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5CB5A-3FE3-4480-8914-E7066FD8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D6A90-50E9-4EC8-87DB-377479D0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F116F-BDB4-4469-9F5C-4510CDB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A1EF9-1BB3-4922-A2A8-18AA95D5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581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A product system for companies, talent and digital experiences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17F10-241A-46C3-9DBA-5566D412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The portfolio is designed to enter through urgent needs and expand into operations, learning and applied intelligence.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F7685-FADD-40DF-BE5E-2DB7DFF2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80491-E6C8-42BC-81D7-C639288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Copiloto Pyme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DC67A-45C9-4356-98CD-911C47E4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195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4AD37-6DBC-4411-BE8E-78760DD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3C177-E85D-4F7B-9F55-52199C24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3DE1B-9A6D-4C16-9D1E-33BA15A0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Life Copilot mobile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FB191-716B-4C55-9B3C-3B822ECC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55741-C174-440F-B030-3827F1BD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48E7B-C1E8-408A-8655-283041DB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720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4B472-639B-4E1D-BD1D-8A251284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Academy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3D64E-FCCF-4512-9EA0-86574DB2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327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90E06-0D00-4714-B525-6A3F60A1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8155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 AI Call Center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13F2D-09CF-4ECA-AB8C-69B43A2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9ABD6-6A61-43D1-92BE-DDDCD8C8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3C629-1CE5-4946-8F70-323CF454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9C46D-3D8A-4866-BDBE-37F17779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9380501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f10d09eda49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68621-20E7-4F4B-AF30-9993407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6C9AD-513C-4D39-ACAC-480E073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788F5-1F4D-48EB-874D-DBBF8A9A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74923-2CF2-40F2-9044-DE9E7996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581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Consulting accelerates revenue and market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34E27-5BA9-4A4F-9430-E72C300A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Services create trust, reveal real problems and convert implementations into repeatable assets.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DA037-6FB3-4264-90EE-6C19CBD0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50BEE-3B74-4FD4-8FE5-FA200A2B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AAB82-4C5A-4EDE-BD7A-E8D0CD0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AI diagnosis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83C34-93AA-4964-8AAB-F2229236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4495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5DA67-9753-45BD-9417-C939945F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E1E09-6B67-41BA-9239-F447D16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34050-3EC0-465D-A745-95C4C755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Technology 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855B7-F397-4486-9296-9C0303FC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95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7F78D-801C-4A95-808B-0BC7A388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EBAC5-C204-40AA-A35A-B2BFD9D5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C4F70-61D8-4F82-A054-172859E6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6B483-6A12-43AB-B042-BFFEB62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613" y="44958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D75F2-C289-4A69-A928-7CA2B283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963" y="3905250"/>
            <a:ext cx="2205038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2DD08-EF97-460A-862E-99F72831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40767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A0027-187B-42EC-9537-942CA83E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4419600"/>
            <a:ext cx="186213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Adoption and training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51463-01DB-4099-B0AC-D9AC8B35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29250"/>
            <a:ext cx="790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Services are the market-sensing engine that turns demand into product decisions.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55EAD-4E06-48E0-A1B2-DAFFCBF7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980FE-8B50-42C0-B72F-A539BCD0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9B75A-E5BA-4C55-B577-E3708D69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FECBE-AD5E-478F-A88D-5AADF33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4107335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145097c62442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D5440-C2D2-4C56-B7F6-D6052F4C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04238-8F14-47AC-A750-05F0476B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7E1EC-2B39-417D-9FEF-C0ABCBF9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DIVISIONS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1F6BD-9836-497D-A064-7EA140A9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619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Five divisions share IP, data and talent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C7FD0-1EBE-4304-9184-C504C593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19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Software, AI, video games, robotics and technology transformation operate as one architecture, not isolated businesses.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F2E70-24EC-46AA-B5A2-DC3E4823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117">
              <a:alpha val="93333"/>
            </a:srgbClr>
          </a:solidFill>
          <a:ln xmlns:a="http://schemas.openxmlformats.org/drawingml/2006/main" w="9525">
            <a:solidFill>
              <a:srgbClr val="55E6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D05C6-8DC9-4CAF-9C54-5043589B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76650"/>
            <a:ext cx="1676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TECNOTITAN</a:t>
            </a:r>
          </a:p>
          <a:p xmlns:a="http://schemas.openxmlformats.org/drawingml/2006/main">
            <a:pPr algn="ctr">
              <a:defRPr sz="16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5C8DC-83A8-4397-874F-EB7BF5D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336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1910D-DC5C-476D-8FFB-7BB53F92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3D2C9-397C-4757-82EC-3663CA07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1D000-58CB-4A2D-B46A-39BC3245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664" y="3199821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BE17A-AEB3-4BCE-93F8-E72F7CCC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114" y="3371271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Artificial 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3EDB1-E8B5-4725-A2A4-3F0B3DFB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3671"/>
            <a:ext cx="309811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C3BCC-0847-47B9-BF12-6C5F708C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290" y="4925004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4DEA9-9143-4050-8118-DB557B9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740" y="5096454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Video games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45829-2287-413E-95BA-3D961BF6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00500"/>
            <a:ext cx="19147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E4DB5-8A96-4B3B-B994-8454720F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810" y="4925004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2C3B3-B496-4072-8879-D4C26792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260" y="5096454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Robotics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13B91-397B-4B5B-BE4C-C8F2FEE5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560" y="4000500"/>
            <a:ext cx="19147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04884-6E9B-4AE3-B333-A6A96DBE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436" y="3199821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3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6B787-3128-44C2-9AC8-8BEAB063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886" y="3371271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Technology consulting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75AC8-C630-433E-99A0-2A1ABD9D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186" y="3523671"/>
            <a:ext cx="309811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63"/>
          </a:solidFill>
          <a:ln xmlns:a="http://schemas.openxmlformats.org/drawingml/2006/main" w="0">
            <a:solidFill>
              <a:srgbClr val="28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E25E2-FC5B-4DB6-B0A7-0D1DEFBD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571B9-43F6-487F-BCE7-399CD84A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605E81-F336-4114-8A44-72DA5884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AE27D-D274-42F0-8ECF-51092380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4277265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b71b857f44e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ADD8B-BDE4-4EBB-AEF3-2D1B27CF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DEA8F-AED5-4CC3-A9AF-EE63446C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EB4FA-DDEA-4131-9854-6344F75C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600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1E8AE-B2BA-4813-9EE8-A2FC0F5C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600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Service revenue today, scalable products tomorrow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2E940-C163-4D9A-9862-5C393763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600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The model combines consulting, implementation, subscriptions, licensing, academy programs and future technology spin-offs.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9A056-CA4F-48F3-8CA3-FA847866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01C13-8087-4028-B487-7552ED4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D00E5-F501-4AA8-87C0-54564460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D4C8D-F6BB-4472-B3E4-C1E3334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44196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283F8-9088-43D1-B6FD-B8390BF2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F7506-1900-4A34-B97E-AE8518F5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7595A-C0FF-4EBF-905A-0D82665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863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SaaS and licensing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7C796-D5E7-4860-927C-00FD82CF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4196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E79E1-D47B-4C27-B5B9-4F5F7F0B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F43AE-0F89-44DF-95BC-6C970EA0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5C8A8-EA7D-40CF-8193-4F9B22FC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Academy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2F431-669A-4AAE-B3D9-00415D9D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44196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165E3-BA17-49DE-A0AD-30C41F2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638" y="3829050"/>
            <a:ext cx="2252663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96C6D-0F08-400D-A7A7-A3B2362C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88" y="4000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5F393-A633-4157-AFBB-B4DBB1FA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088" y="4343400"/>
            <a:ext cx="190976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Ventures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0EF39-7ACE-4B9C-9EDB-F38EE0CE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911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Each layer can monetize independently while feeding data, references and reusable modules back into the platform.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5D4CF5-7268-412C-A2CF-2ACDD774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A4F8A-D4CE-41B1-9748-F13A3648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6A04C-2E05-4136-B8EC-69D17193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281D3-A68C-4E59-91B5-A7F2BB71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3743800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00740180547e3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C9D47-3E51-4A98-AE25-DD7B8FBC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EB7ED-89AC-4ED5-BC1D-AF1FCEAD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5A54D-B6EC-4ACA-86F6-0FAB2CE6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71B3C-9802-459D-816B-813F9B52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5715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Enter through operational pain, expand through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B1C2E-A039-4717-AB14-D49B8DF8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571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Tecnotitan can start with AI and software projects for companies, then expand with products that solve recurring use cases.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EDCB2-C0CF-4CC9-9F75-01B285BA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B186E-260E-45F4-BD67-84569ED0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097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3C82F-C02C-4801-9A19-50830856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906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LatAm as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1AC2D-9509-485D-B7D2-D03D8E43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52FA7-A7E1-42C8-89CF-1AD02C70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98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DB694-634C-4881-BB5C-22ACAEB5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Mid-market and enterprise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8DE07-D1E6-46E0-AC13-98AAACCC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480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12A53-FFC9-4D1C-9C08-B9CA60C5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099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85EC-EEF7-4D27-8285-E5FEF82D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908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Global partners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BEED2-B4CC-4E84-A32B-D5A785FB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48100"/>
            <a:ext cx="3486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E0A31-5044-4747-9411-55FF684C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1002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AC461-116D-4024-B19E-094F60F3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90975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Strategic investors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17D04-A196-4903-8FFA-B2733DB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89694-0FE6-450C-8455-A1BB67F5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7BA1F-2188-4388-A660-BA5910C6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EAD9C-5CC1-4310-8A81-F8D93D5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A6A56-0341-4ED1-9764-6F76303D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03120-4B01-4A5E-B3F7-592BD63C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6A69C-B5A1-4BD2-9689-1374A5AF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F16B3-3430-48D6-B1C1-77DC33EB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67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C44F51-5FBD-4ECF-8231-1874A172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45806-655E-4F10-B745-60A9B79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A4C665-F0BC-411D-8C96-2205EE12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Product expansion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85DB08-0CD7-4FF8-83F4-E57BE507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67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C00B84-9D02-446A-B163-45C6E7D6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76800"/>
            <a:ext cx="2228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6E8564-115C-47D1-A714-0BBDC2EA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482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222964-18D5-4235-B6B6-DD056010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91150"/>
            <a:ext cx="188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Strategic partner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C801C8-5F5C-4C5B-9FF3-4D41D84B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D4C23-7789-4C2D-B721-B47A3682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0A21BA-7608-4CE8-A858-24AD20EE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3A92BA-940E-446F-9762-6696FEB3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8623971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3a1ade6c148e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7F79E-E467-4F43-8B34-C3B20985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225D8-2FFD-4CE3-9929-79F5153C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BB3DE-92DD-49FD-9C94-F0D3062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09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2BADD-3901-4974-A5C9-A86F75DF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609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A lean founding team focused on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7A7D9-2466-4A7F-9B2E-16753221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09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David Arias Giraldo leads the vision as CEO. The company currently has one full-time consultant and two programmers.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CAB32-FC29-422F-8254-DF9A800D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A3F76-8C57-4730-BA18-72AE9A68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Founder CEO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EEBA2-84E2-4671-BE0F-FF80B1BA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BDCC3-399C-4B35-AC80-8B98F9E8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Consulting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69BB3-A7E7-46DD-AC66-4CAD8CD2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456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9837B-0EE9-4F7A-9278-3CEC63FD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CD95F-B216-4915-A364-973C2F0C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288" y="3733800"/>
            <a:ext cx="24241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1A4C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71153-05C3-439B-B501-B56906A7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738" y="3943350"/>
            <a:ext cx="208121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Next hires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97987-D17C-4653-BD49-CC2F49FB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Hiring priorities: product engineering, AI delivery, sales development and investor relations.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9AD51-1A8D-424A-AF1E-9FC10851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C321C-A896-4E23-A063-867CB718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18495-A394-4FEE-95FF-1425F176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41825-C47D-4E60-9844-E8BF6DB0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8158936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4065f08b2465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6D025-524C-41A6-BC2A-F0E877C5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E94E0-7493-4780-AD88-E755CA2F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D3284-961A-4396-8CAF-7B16C558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FB835-2CE2-4B9D-B7BD-20EEBF80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590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From validation to a regional technology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996B1-6B1A-4613-A4D6-3BA44368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The path prioritizes real cases, proprietary products, internal automation and commercial expansion with an investor-ready focus.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3AD46-623C-4313-AFF4-C5C3E3CC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280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3EE29-89C4-4895-83EA-2C7CC4F6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90269-FD74-4014-8C3B-BBB33B78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246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2026: cases and MVPs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11838-E539-4700-A5C6-AEF94836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850" y="45910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69E75-177C-4A05-9346-5DF1FA43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000500"/>
            <a:ext cx="280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2550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1AC6B-0A75-43B2-B6F6-15AE5A31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1719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ABECC-9D7D-449E-9E6F-844205C3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514850"/>
            <a:ext cx="246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2027: product and 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9BFDF-4C69-4FE1-B2B0-739AE6A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5910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C68"/>
          </a:solidFill>
          <a:ln xmlns:a="http://schemas.openxmlformats.org/drawingml/2006/main" w="0">
            <a:solidFill>
              <a:srgbClr val="2D5C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0F91B-2ECA-461D-8493-342EBCEA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350" y="4000500"/>
            <a:ext cx="2806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0">
              <a:alpha val="86667"/>
            </a:srgbClr>
          </a:solidFill>
          <a:ln xmlns:a="http://schemas.openxmlformats.org/drawingml/2006/main" w="9525">
            <a:solidFill>
              <a:srgbClr val="41F5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BC912-81AC-4162-A18B-E1941BD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1719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F5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F5A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92970-2068-432F-A643-4C261FEB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4514850"/>
            <a:ext cx="2463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2028: regional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5F8DF-1CD8-4FCA-8549-ECF75F8F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B2DA3-16C1-441A-B2EE-B806E1F9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8B7BF-23C8-4BE6-A111-9AFF331B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CB6AB-0E49-4536-83E9-8E650F16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2171526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fa305f6ce4a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C0C5B-7F3E-46D3-86DD-A258CB1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406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37144-FE88-427F-B2CE-C0B0C46E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5A5D3-0AC9-4D3A-AFD2-42AF11CA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INVESTMENT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CD0E-FB11-4517-B064-FBA76901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657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We seek capital and partners to accelerate product, sales and talent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6FDF8-FC97-4C89-8DA6-A673E05B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657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Tecnotitan is building a multi-division technology company with global ambition from Latin America.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06F4D-9D7B-464A-974B-F0D9D33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430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E56C5-BAE6-41A0-9564-CABD17DD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049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23962-6785-484A-933A-B1D180CE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ADDFD-206A-4CAF-8146-8DAB7332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E1C44-0F4E-41BD-8866-65A00023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050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4AC3B-A664-413F-8A87-54C2AE14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860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Sales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3EDEB-D637-46EB-9A65-71D6ADD7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27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E35299-21AB-428F-A3C1-A63ECE62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051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35A57-4E32-433D-9983-F6805D53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Technical talent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5C740-6CC6-460E-AA76-BB7981B5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C">
              <a:alpha val="80000"/>
            </a:srgbClr>
          </a:solidFill>
          <a:ln xmlns:a="http://schemas.openxmlformats.org/drawingml/2006/main" w="9525">
            <a:solidFill>
              <a:srgbClr val="1B44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88830-BBC4-4886-A744-E4CE8B8C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05275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A9813-F1D1-455F-ADDC-108F4284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86225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8FF"/>
                </a:solidFill>
                <a:latin typeface="Aptos"/>
                <a:ea typeface="Aptos"/>
                <a:cs typeface="Aptos"/>
              </a:rPr>
              <a:t>Data room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9FE91-35E5-428F-9FC1-31DDF32E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581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0">
              <a:alpha val="86667"/>
            </a:srgbClr>
          </a:solidFill>
          <a:ln xmlns:a="http://schemas.openxmlformats.org/drawingml/2006/main" w="9525">
            <a:solidFill>
              <a:srgbClr val="55E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8BC05-B631-4D9A-A09D-B5510DB1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1495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E6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E6FF"/>
                </a:solidFill>
                <a:latin typeface="Aptos"/>
                <a:ea typeface="Aptos"/>
                <a:cs typeface="Aptos"/>
              </a:rPr>
              <a:t>info@tecnotitan.com  |  www.tecnotitan.com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0DAA8-1691-4C59-AC8A-B00FADAB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AF8FF"/>
                </a:solidFill>
                <a:latin typeface="Aptos Display"/>
                <a:ea typeface="Aptos Display"/>
                <a:cs typeface="Aptos Display"/>
              </a:rPr>
              <a:t>TECNOTITAN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BC5BE-9F75-4877-B13C-5E2CBF05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7D6"/>
          </a:solidFill>
          <a:ln xmlns:a="http://schemas.openxmlformats.org/drawingml/2006/main" w="0">
            <a:solidFill>
              <a:srgbClr val="16B7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518E7-5151-4901-B1DE-A267555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19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7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7C7"/>
                </a:solidFill>
                <a:latin typeface="Aptos"/>
                <a:ea typeface="Aptos"/>
                <a:cs typeface="Aptos"/>
              </a:rPr>
              <a:t>EN / 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6161A-6C95-47FB-A139-5E519FF8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055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E7D8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7D8C"/>
                </a:solidFill>
                <a:latin typeface="Aptos"/>
                <a:ea typeface="Aptos"/>
                <a:cs typeface="Aptos"/>
              </a:rPr>
              <a:t>www.tecnotitan.com</a:t>
            </a:r>
          </a:p>
        </p:txBody>
      </p:sp>
    </p:spTree>
    <p:extLst>
      <p:ext uri="{BB962C8B-B14F-4D97-AF65-F5344CB8AC3E}">
        <p14:creationId xmlns:p14="http://schemas.microsoft.com/office/powerpoint/2010/main" val="1268318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2026-06-06T03:54:45.8460000Z</dcterms:created>
  <dcterms:modified xsi:type="dcterms:W3CDTF">2026-06-06T03:54:45.8460000Z</dcterms:modified>
</coreProperties>
</file>