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d506007a5954ecd" /><Relationship Type="http://schemas.openxmlformats.org/officeDocument/2006/relationships/extended-properties" Target="/docProps/app.xml" Id="Rf9fac84af2764646" /><Relationship Type="http://schemas.openxmlformats.org/officeDocument/2006/relationships/officeDocument" Target="/ppt/presentation.xml" Id="Reac1248639894d3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a6b809ee72e4814"/>
  </p:sldMasterIdLst>
  <p:notesMasterIdLst>
    <p:notesMasterId xmlns:r="http://schemas.openxmlformats.org/officeDocument/2006/relationships" r:id="R6f53c768487b4ecd"/>
  </p:notesMasterIdLst>
  <p:sldIdLst>
    <p:sldId xmlns:r="http://schemas.openxmlformats.org/officeDocument/2006/relationships" id="256" r:id="R1e5eb8ac9d374db3"/>
    <p:sldId xmlns:r="http://schemas.openxmlformats.org/officeDocument/2006/relationships" id="257" r:id="R3473569a82ee49cb"/>
    <p:sldId xmlns:r="http://schemas.openxmlformats.org/officeDocument/2006/relationships" id="258" r:id="Rfa5e722c78c24385"/>
    <p:sldId xmlns:r="http://schemas.openxmlformats.org/officeDocument/2006/relationships" id="259" r:id="R9d56e134a94e48aa"/>
    <p:sldId xmlns:r="http://schemas.openxmlformats.org/officeDocument/2006/relationships" id="260" r:id="Rdd49e76da49e4fc5"/>
    <p:sldId xmlns:r="http://schemas.openxmlformats.org/officeDocument/2006/relationships" id="261" r:id="R173043de6261493a"/>
    <p:sldId xmlns:r="http://schemas.openxmlformats.org/officeDocument/2006/relationships" id="262" r:id="R6aafbd7d787548bf"/>
    <p:sldId xmlns:r="http://schemas.openxmlformats.org/officeDocument/2006/relationships" id="263" r:id="Rc5e9b651c8ee4154"/>
    <p:sldId xmlns:r="http://schemas.openxmlformats.org/officeDocument/2006/relationships" id="264" r:id="R935675b77cca4cab"/>
    <p:sldId xmlns:r="http://schemas.openxmlformats.org/officeDocument/2006/relationships" id="265" r:id="Rb0fc462c26b44c97"/>
    <p:sldId xmlns:r="http://schemas.openxmlformats.org/officeDocument/2006/relationships" id="266" r:id="R1bf1d7e2ac6a47da"/>
    <p:sldId xmlns:r="http://schemas.openxmlformats.org/officeDocument/2006/relationships" id="267" r:id="R08883149d52e42e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2217fd5d7f346c0" /><Relationship Type="http://schemas.openxmlformats.org/officeDocument/2006/relationships/slideMaster" Target="/ppt/slideMasters/slideMaster1.xml" Id="R2a6b809ee72e4814" /><Relationship Type="http://schemas.openxmlformats.org/officeDocument/2006/relationships/notesMaster" Target="/ppt/notesMasters/notesMaster1.xml" Id="R6f53c768487b4ecd" /><Relationship Type="http://schemas.openxmlformats.org/officeDocument/2006/relationships/presProps" Target="/ppt/presProps.xml" Id="R3f936960de1b479b" /><Relationship Type="http://schemas.openxmlformats.org/officeDocument/2006/relationships/viewProps" Target="/ppt/viewProps.xml" Id="R237d13d3460c4d43" /><Relationship Type="http://schemas.openxmlformats.org/officeDocument/2006/relationships/tableStyles" Target="/ppt/tableStyles.xml" Id="R1344529c3b1648d1" /><Relationship Type="http://schemas.openxmlformats.org/officeDocument/2006/relationships/slide" Target="/ppt/slides/slide1.xml" Id="R1e5eb8ac9d374db3" /><Relationship Type="http://schemas.openxmlformats.org/officeDocument/2006/relationships/slide" Target="/ppt/slides/slide2.xml" Id="R3473569a82ee49cb" /><Relationship Type="http://schemas.openxmlformats.org/officeDocument/2006/relationships/slide" Target="/ppt/slides/slide3.xml" Id="Rfa5e722c78c24385" /><Relationship Type="http://schemas.openxmlformats.org/officeDocument/2006/relationships/slide" Target="/ppt/slides/slide4.xml" Id="R9d56e134a94e48aa" /><Relationship Type="http://schemas.openxmlformats.org/officeDocument/2006/relationships/slide" Target="/ppt/slides/slide5.xml" Id="Rdd49e76da49e4fc5" /><Relationship Type="http://schemas.openxmlformats.org/officeDocument/2006/relationships/slide" Target="/ppt/slides/slide6.xml" Id="R173043de6261493a" /><Relationship Type="http://schemas.openxmlformats.org/officeDocument/2006/relationships/slide" Target="/ppt/slides/slide7.xml" Id="R6aafbd7d787548bf" /><Relationship Type="http://schemas.openxmlformats.org/officeDocument/2006/relationships/slide" Target="/ppt/slides/slide8.xml" Id="Rc5e9b651c8ee4154" /><Relationship Type="http://schemas.openxmlformats.org/officeDocument/2006/relationships/slide" Target="/ppt/slides/slide9.xml" Id="R935675b77cca4cab" /><Relationship Type="http://schemas.openxmlformats.org/officeDocument/2006/relationships/slide" Target="/ppt/slides/slide10.xml" Id="Rb0fc462c26b44c97" /><Relationship Type="http://schemas.openxmlformats.org/officeDocument/2006/relationships/slide" Target="/ppt/slides/slide11.xml" Id="R1bf1d7e2ac6a47da" /><Relationship Type="http://schemas.openxmlformats.org/officeDocument/2006/relationships/slide" Target="/ppt/slides/slide12.xml" Id="R08883149d52e42e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5b4299ac03546a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ffbabace729495a" /><Relationship Type="http://schemas.openxmlformats.org/officeDocument/2006/relationships/notesMaster" Target="/ppt/notesMasters/notesMaster1.xml" Id="R616f81c4038e4fb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95a6a76ca264664" /><Relationship Type="http://schemas.openxmlformats.org/officeDocument/2006/relationships/notesMaster" Target="/ppt/notesMasters/notesMaster1.xml" Id="Rb3e6e0439b7a41f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c1cab06601b4da6" /><Relationship Type="http://schemas.openxmlformats.org/officeDocument/2006/relationships/notesMaster" Target="/ppt/notesMasters/notesMaster1.xml" Id="R2730f364e9734a9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4627c099d744736" /><Relationship Type="http://schemas.openxmlformats.org/officeDocument/2006/relationships/notesMaster" Target="/ppt/notesMasters/notesMaster1.xml" Id="Re0b081e1f8484d9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297e9fe09fd448b" /><Relationship Type="http://schemas.openxmlformats.org/officeDocument/2006/relationships/notesMaster" Target="/ppt/notesMasters/notesMaster1.xml" Id="Rff0a817ac9dc428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3851b025a9d448c" /><Relationship Type="http://schemas.openxmlformats.org/officeDocument/2006/relationships/notesMaster" Target="/ppt/notesMasters/notesMaster1.xml" Id="Rdde6b4f661954ae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8926a5d188445ce" /><Relationship Type="http://schemas.openxmlformats.org/officeDocument/2006/relationships/notesMaster" Target="/ppt/notesMasters/notesMaster1.xml" Id="R9f73cb39a28847f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e502c3bc45642ff" /><Relationship Type="http://schemas.openxmlformats.org/officeDocument/2006/relationships/notesMaster" Target="/ppt/notesMasters/notesMaster1.xml" Id="Rdf8efb28ce4e49c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d48438d37b74b3d" /><Relationship Type="http://schemas.openxmlformats.org/officeDocument/2006/relationships/notesMaster" Target="/ppt/notesMasters/notesMaster1.xml" Id="Re3285bed4c4b4d7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95be2be003843de" /><Relationship Type="http://schemas.openxmlformats.org/officeDocument/2006/relationships/notesMaster" Target="/ppt/notesMasters/notesMaster1.xml" Id="Rd3ea504e34b24c3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40d5d730e3e45bb" /><Relationship Type="http://schemas.openxmlformats.org/officeDocument/2006/relationships/notesMaster" Target="/ppt/notesMasters/notesMaster1.xml" Id="R452a7ba216eb49d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a3a2dc536a149a6" /><Relationship Type="http://schemas.openxmlformats.org/officeDocument/2006/relationships/notesMaster" Target="/ppt/notesMasters/notesMaster1.xml" Id="Raabaa1ddfbf1457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8bf218a85946d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41b27ea45aa4074" /><Relationship Type="http://schemas.openxmlformats.org/officeDocument/2006/relationships/slideLayout" Target="/ppt/slideLayouts/slideLayout1.xml" Id="Rda9209cac3704ca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9209cac3704ca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6759da1d9142fd" /><Relationship Type="http://schemas.openxmlformats.org/officeDocument/2006/relationships/image" Target="/ppt/media/image.jpeg" Id="Rfb936ced7a904376" /><Relationship Type="http://schemas.openxmlformats.org/officeDocument/2006/relationships/notesSlide" Target="/ppt/notesSlides/notesSlide1.xml" Id="R7cac561cb1cd406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4311576d7e481a" /><Relationship Type="http://schemas.openxmlformats.org/officeDocument/2006/relationships/image" Target="/ppt/media/image2.jpeg" Id="R4318e5283658473a" /><Relationship Type="http://schemas.openxmlformats.org/officeDocument/2006/relationships/notesSlide" Target="/ppt/notesSlides/notesSlide2.xml" Id="R8bac78b9c58c4b1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5a0ee7159d4001" /><Relationship Type="http://schemas.openxmlformats.org/officeDocument/2006/relationships/image" Target="/ppt/media/image3.jpeg" Id="Re98c9cb7ddae46af" /><Relationship Type="http://schemas.openxmlformats.org/officeDocument/2006/relationships/notesSlide" Target="/ppt/notesSlides/notesSlide3.xml" Id="R902d9a685b024a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e133d1d1304d71" /><Relationship Type="http://schemas.openxmlformats.org/officeDocument/2006/relationships/image" Target="/ppt/media/image4.jpeg" Id="R1f76bdfecb5b4725" /><Relationship Type="http://schemas.openxmlformats.org/officeDocument/2006/relationships/notesSlide" Target="/ppt/notesSlides/notesSlide4.xml" Id="Rb1114c6ae27146c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12d08d06fe40cb" /><Relationship Type="http://schemas.openxmlformats.org/officeDocument/2006/relationships/image" Target="/ppt/media/image5.jpeg" Id="Rcbe0aa9acfb64ad3" /><Relationship Type="http://schemas.openxmlformats.org/officeDocument/2006/relationships/notesSlide" Target="/ppt/notesSlides/notesSlide5.xml" Id="R1b95be22f75c44a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b2d618f1f94637" /><Relationship Type="http://schemas.openxmlformats.org/officeDocument/2006/relationships/image" Target="/ppt/media/image6.jpeg" Id="R0d866b4c22a540d6" /><Relationship Type="http://schemas.openxmlformats.org/officeDocument/2006/relationships/notesSlide" Target="/ppt/notesSlides/notesSlide6.xml" Id="Rddabc8a97d8c4ae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4b08e78166414c" /><Relationship Type="http://schemas.openxmlformats.org/officeDocument/2006/relationships/image" Target="/ppt/media/image7.jpeg" Id="Rad6fb19fffc14168" /><Relationship Type="http://schemas.openxmlformats.org/officeDocument/2006/relationships/notesSlide" Target="/ppt/notesSlides/notesSlide7.xml" Id="R777f934f6e39471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c47e536fb14c59" /><Relationship Type="http://schemas.openxmlformats.org/officeDocument/2006/relationships/image" Target="/ppt/media/image8.jpeg" Id="Rc9ee20fafd5f43bf" /><Relationship Type="http://schemas.openxmlformats.org/officeDocument/2006/relationships/notesSlide" Target="/ppt/notesSlides/notesSlide8.xml" Id="R8ff23f0d8e57463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deed702033479d" /><Relationship Type="http://schemas.openxmlformats.org/officeDocument/2006/relationships/image" Target="/ppt/media/image9.jpeg" Id="R6ab6c187ec6f4d7a" /><Relationship Type="http://schemas.openxmlformats.org/officeDocument/2006/relationships/notesSlide" Target="/ppt/notesSlides/notesSlide9.xml" Id="Rc417671e38d5439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cfd3c21ec54ed1" /><Relationship Type="http://schemas.openxmlformats.org/officeDocument/2006/relationships/image" Target="/ppt/media/image10.jpeg" Id="R2d7f7afc6adb417b" /><Relationship Type="http://schemas.openxmlformats.org/officeDocument/2006/relationships/notesSlide" Target="/ppt/notesSlides/notesSlide10.xml" Id="R186ff5365ddc42b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b047d9af184eec" /><Relationship Type="http://schemas.openxmlformats.org/officeDocument/2006/relationships/image" Target="/ppt/media/image11.jpeg" Id="Rabe13197a4ad4213" /><Relationship Type="http://schemas.openxmlformats.org/officeDocument/2006/relationships/notesSlide" Target="/ppt/notesSlides/notesSlide11.xml" Id="Rb9ecdbb54d6648a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6f6fb4e7e14f54" /><Relationship Type="http://schemas.openxmlformats.org/officeDocument/2006/relationships/image" Target="/ppt/media/image12.jpeg" Id="Ra2e8a2cab6404ecd" /><Relationship Type="http://schemas.openxmlformats.org/officeDocument/2006/relationships/notesSlide" Target="/ppt/notesSlides/notesSlide12.xml" Id="Rf6af322c4a79402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936ced7a904376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45C579-D5BF-4431-9739-D94694985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FD8FAB-3114-4F6A-A51A-4CAABEB51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64F6B2-2F1B-434C-9499-DD180D3DD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TECNOTITAN CORPORATE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86E351-8B0F-44BD-A708-5ED2F676B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590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28D994-6B6F-4161-AD3E-8DC173F03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14550"/>
            <a:ext cx="2000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E6FF"/>
          </a:solidFill>
          <a:ln xmlns:a="http://schemas.openxmlformats.org/drawingml/2006/main" w="0">
            <a:solidFill>
              <a:srgbClr val="55E6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6562FC-8999-432E-A510-3D7AF4691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33650"/>
            <a:ext cx="6572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Applied technology for companies that need to build the future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74BB6C-7038-415B-A80A-D2912ED45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619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Software, artificial intelligence, video games, robotics and technology transformation consulting from Colombia for global markets.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EA260A-8624-4BDC-B2B2-06CEC1A99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9587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0">
              <a:alpha val="80000"/>
            </a:srgbClr>
          </a:solidFill>
          <a:ln xmlns:a="http://schemas.openxmlformats.org/drawingml/2006/main" w="9525">
            <a:solidFill>
              <a:srgbClr val="244D5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18A926-6AAA-4F84-9007-818649DC3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00650"/>
            <a:ext cx="2266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David Arias Giraldo, CEO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13EA64-4313-4332-9205-F9FB3A9FA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095875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0">
              <a:alpha val="80000"/>
            </a:srgbClr>
          </a:solidFill>
          <a:ln xmlns:a="http://schemas.openxmlformats.org/drawingml/2006/main" w="9525">
            <a:solidFill>
              <a:srgbClr val="244D5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0A3DB4-9C03-45A3-B532-65A75D9A5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00650"/>
            <a:ext cx="2076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Investor Deck /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7214D9-1214-4826-96B9-016B8CCF3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431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EB5451-DBB0-41D3-BE20-C018F4EAF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050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6B4BB0-8FD6-4106-A33F-A5AEC9807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4860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6 product lines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4EA0F5-7530-4ED6-B01E-08E34A0F8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1432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044D08-CD4F-48B5-8EA0-235D783B3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051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F7A22A-B488-4CC2-979F-35FB2D2A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2861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5 technology divisions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46C760-5410-4157-AA21-EBE772161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9433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EB14CB-EE6A-4AE3-91BC-3B326E80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052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7BCF2B-796E-43D6-ACF4-EEE87075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862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Lean execution team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C4F0C2-21F8-424E-AA16-CD813E0E6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DD38EC-9718-4C9E-B1CA-AF6455108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82D226-7163-4491-BFE5-3B7507DE4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EN / 01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370C31-A326-4B4C-B87B-255328446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33356861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18e5283658473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BEA7E2-6B3F-43FA-9433-92F0E13BE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D2E186-23C7-4F24-BB85-93D332285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2C9397-7EC2-4801-9FFB-2B5A4250B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04900"/>
            <a:ext cx="571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THESIS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669E8C-315B-4032-B9E8-DD423BE69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5715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Companies need builders, not only advisors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FA9174-7F0E-4972-8466-25836227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33700"/>
            <a:ext cx="5715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Real AI adoption requires diagnosis, software, data, automation and operating culture working as one system.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C858AA-5109-4847-84F5-E02312D12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3187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9A6044-F009-4AF1-B75E-135BDBC9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00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5831C8-D164-4B16-8A7C-BD43DCAC2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143500"/>
            <a:ext cx="284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AI + software core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C53170-E3BE-4CD3-A3B4-7C4032D13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0" y="5219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654184-9D86-4004-8175-A63AD3CB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3050" y="4629150"/>
            <a:ext cx="3187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94F53A-CE3E-41C5-889C-1D0690DCA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4800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5D0F51-DCF0-4F4C-B57C-AF831C4ED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143500"/>
            <a:ext cx="284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Interactive adoption experiences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2AF909-8FC4-45BA-91DC-9A221F411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8850" y="5219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22AB35-BC8A-4452-9C5C-876DBE602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200" y="4629150"/>
            <a:ext cx="3187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A065A7-F099-4F27-B64D-45FD801C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3650" y="4800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EBE1AD-018B-4073-9548-171A81C10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3650" y="5143500"/>
            <a:ext cx="284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Robotics and automation frontier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290D69-F5E1-4BA1-8505-08E7417EA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39A189-D8AF-4AD9-BD6A-F93F03027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3E2901-17AE-49B4-998B-32E4BFD34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EN / 02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A8C8E1-7184-4A18-843D-3C4F7F4D3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21793746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8c9cb7ddae46a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1691F6-1FA1-460A-929D-1BAA4B61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37F00A-11A0-4045-B3E5-F54D17F60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7C2FF6-808E-4D3A-BD03-A1A8E2F09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28700"/>
            <a:ext cx="561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0980F4-52E9-4576-84AB-730F2B6D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5619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Technology transformation stalls when it lives in silos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F7D068-0672-4EAC-8051-39DF2C0AD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5619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Many companies have manual workflows, underused data, pressure to implement AI and teams without a clear path from ideas to products.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3F43B2-04B1-4E89-A25E-19F420FB5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5240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14246F-669E-450A-9681-5241B82E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16859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C59B88-88E2-4B51-A78C-4F025B2C6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668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Repetitive work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C24179-E05C-4EA8-A2BB-76B885D02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3241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A5BB3E-E80A-4FB6-A0D1-41D235FCF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4860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F55F57-A32D-4EC9-985C-2E43E071D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69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Data without action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610AA6-20A9-4478-B464-202104DA7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1242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172D46-998A-4DBA-84C5-F6682453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2861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8E37C6-313F-4922-A1D6-8612466D9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2670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AI without adoption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CB6BD8-0A5F-4672-9D9F-2DA8C1B55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9243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DA6552-3905-4D06-AB5D-938929EB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0862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710D8B-695E-4234-96C9-7F40F46CF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0671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Talent without playbooks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023C37-B0E2-4FE3-812C-859195644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B7C7"/>
                </a:solidFill>
                <a:latin typeface="Aptos"/>
                <a:ea typeface="Aptos"/>
                <a:cs typeface="Aptos"/>
              </a:rPr>
              <a:t>Manual workflows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FF4158-B7C9-4987-8C04-0BBAF80E4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5"/>
          </a:solidFill>
          <a:ln xmlns:a="http://schemas.openxmlformats.org/drawingml/2006/main" w="9525">
            <a:solidFill>
              <a:srgbClr val="19364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3902B9-685B-465E-B264-1D3F50051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2476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E6FF"/>
          </a:solidFill>
          <a:ln xmlns:a="http://schemas.openxmlformats.org/drawingml/2006/main" w="0">
            <a:solidFill>
              <a:srgbClr val="55E6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3B5D79-7052-45BE-ADDE-4DBD1C12B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B7C7"/>
                </a:solidFill>
                <a:latin typeface="Aptos"/>
                <a:ea typeface="Aptos"/>
                <a:cs typeface="Aptos"/>
              </a:rPr>
              <a:t>Data activation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506297-6852-4A87-9C5F-CA5606064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5"/>
          </a:solidFill>
          <a:ln xmlns:a="http://schemas.openxmlformats.org/drawingml/2006/main" w="9525">
            <a:solidFill>
              <a:srgbClr val="19364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2F593A-8D2D-4BDA-8E99-CCF3EB5CC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71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F5A0"/>
          </a:solidFill>
          <a:ln xmlns:a="http://schemas.openxmlformats.org/drawingml/2006/main" w="0">
            <a:solidFill>
              <a:srgbClr val="41F5A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B647FA-BB52-47E0-88CB-57BD21F4F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959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B7C7"/>
                </a:solidFill>
                <a:latin typeface="Aptos"/>
                <a:ea typeface="Aptos"/>
                <a:cs typeface="Aptos"/>
              </a:rPr>
              <a:t>AI adoption gap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A21B74-4B8E-4777-A6B9-46AAB3509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6265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5"/>
          </a:solidFill>
          <a:ln xmlns:a="http://schemas.openxmlformats.org/drawingml/2006/main" w="9525">
            <a:solidFill>
              <a:srgbClr val="19364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9853D6-4B88-42AC-B411-CE4028649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62650"/>
            <a:ext cx="28384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6B"/>
          </a:solidFill>
          <a:ln xmlns:a="http://schemas.openxmlformats.org/drawingml/2006/main" w="0">
            <a:solidFill>
              <a:srgbClr val="FFCF6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9859A8-A7AE-48CA-BD1B-6574B70C9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C58CF5-3D85-4A12-9DCB-5DDBE5B47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712F35C-7789-4DCE-9F17-AC8950A61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EN / 03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CB6A78E-70FB-4D1A-82C2-360A818A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31637750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76bdfecb5b4725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11B456-C345-4774-B56F-D1BB9D137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F8CFC1-FF4C-4B68-B418-65536A4A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103135-DADA-4DD4-B0B9-3AEDCC573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95350"/>
            <a:ext cx="619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PLATFORM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D621BB-9FBD-4345-98E5-423FD6A36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95400"/>
            <a:ext cx="6191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 turns consulting into product, and product into platform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F996A2-9B20-4C68-92A4-F927E29D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619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Every project feeds reusable modules, industry knowledge and capabilities that accelerate new solutions.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80A98C-7BF4-4AE6-9D36-C70F9ED49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E1E036-27EA-4D8C-A0DA-F8FB61ACD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94526F-2DD2-4F86-809E-9798DD4E9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Diagnose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142A1C-A7F6-4804-9D0A-4D2FAF3D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588" y="43815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5C8847-0B9F-43DE-ABF4-ACC5D47B4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9938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154572-35C9-4650-AD49-4123C07BD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E96119-F16A-4CF1-8298-3A5644BC5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Build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E08D87-73BE-46D1-87FA-D8DA43AD1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3815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A12603-00A4-4817-A0DA-1ED86933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FD0933-2695-4E8D-8FB8-33A58106A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BC2D28-5D19-4C01-BAFF-A7A9227B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Productize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81EF2F-E088-43AD-9336-A78063F42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7663" y="43815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F0E619-6009-48C0-893E-57045E37D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013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F72C5D-BA90-4223-B0A7-E1164B6D4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463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46EE3A-2D11-4DB2-9C37-3152BF3BD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463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Scale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453CCB-A734-497C-833F-C564E34E6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276850"/>
            <a:ext cx="828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Reusable IP, sector knowledge and operating playbooks compound across every project.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49E381-5950-468A-8C3D-90936CFC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813098-7C68-48D4-9077-C7418878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30891D-CBD8-4081-AFF7-D8807F45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EN / 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D44B53-9075-460B-B75C-F0CACCEA8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06400869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e0aa9acfb64ad3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01BE71-8571-4272-A446-A99018589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AA3B20-8ED8-4160-BF65-68E9D457F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875E7B-1369-405C-8157-31BA803AC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38200"/>
            <a:ext cx="581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PORTFOLIO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EC3186-EF50-4668-86E0-274EC586F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38250"/>
            <a:ext cx="5810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A product system for companies, talent and digital experiences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538910-43E4-4D7C-8100-8FDB5CFB0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5810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The portfolio is designed to enter through urgent needs and expand into operations, learning and applied intelligence.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92CE69-F746-49CB-A9EE-98A646B2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5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65B7B5-CC71-4356-A187-393915F52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290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Copiloto Pyme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C8DBF3-927A-4B75-A341-28ACE9664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6195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9EE698-6D3F-4FEB-B044-3CE2F3BF0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290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 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22DD1D-1872-474E-9587-1177FA7EB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195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5FEAF4-AC28-49A0-99F4-1D9C2A862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8290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Life Copilot mobile app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71CD91-00C2-4B33-8612-8D25AC310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14DD45-3E3A-4B3B-80B7-58BE22772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815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 Engine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1560D4-A8BC-4F0C-944E-851D5BC8D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5720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B4B6C3-8450-49C0-BAEB-2D0082CE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815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 Academy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C1ACDC-2CDC-4A20-949A-8F0EA42A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5720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38D27A-AA9C-4C6A-A1CB-0ACFD3FC2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7815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 AI Call Center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404DD8-5A2C-409F-99FE-7B0517D26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2080B7-3D45-4704-A282-AC0CD842C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977039-7582-46BF-8E70-F716DEF8C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EN / 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4595A0-35F8-4ED9-A9FF-CF3D0C951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4033893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866b4c22a540d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B69A38-AE44-4EE7-867A-165B4E50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AB4D7-742D-4192-BA39-FB72D16C9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8CB0E6-B1C3-4640-ADB9-313517F3B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33450"/>
            <a:ext cx="581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SERVICES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28129A-013D-4D6E-801E-319C5C8A6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5810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Consulting accelerates revenue and market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98C863-8E89-4885-AF78-18EF2CD1B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5810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Services create trust, reveal real problems and convert implementations into repeatable assets.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CFAEE0-F4C1-43DB-ABEF-E0D2C1854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FB190A-EB4B-4E99-992E-6FC722C83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611CF4-055A-4467-A436-5B2C4D12B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AI diagnosis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F085B9-687E-4869-AF62-F20CD74AF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5638" y="44958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25A765-6F68-427F-A7B4-D5CF2599D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8988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BADFE3-96A8-44E2-83E2-3AE0640C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0438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C4EE5C-143B-494B-9A05-137CCC98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0438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Technology roadmap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73603B-A801-4C4C-AA12-8AAA253A0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4958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6B0E89-1C13-4896-BEBC-03CD2AE38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F5D226-C69A-4E5D-9727-D43AFB9B3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F27AF9-73F7-4DA7-B1D4-42AAF1936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Implementation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0BE61-6DE6-4281-B52C-5184B3C55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613" y="44958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E8B2C5-6589-4ADF-8FF0-E3CE91D6D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1963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792000-793F-4E2F-9AFD-7084F7FF0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413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52805E-5F6F-4567-BA29-29C1B3B37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413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Adoption and training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CF797C-F80F-4766-BB23-49CBA0FF2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429250"/>
            <a:ext cx="7905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Services are the market-sensing engine that turns demand into product decisions.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BAEBDE-93D1-4CEF-9AC1-210F2446F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EE5716-134F-4C81-B7F0-1B8CFA850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C103A2-BBE3-4D30-B734-5F67198FA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EN / 06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BB1531-8497-49A0-82F1-10D2793D9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32804231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6fb19fffc1416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C861C1-0A61-4F2F-A137-82F047E9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F03FE4-F9B4-46A3-A464-DE46B5319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2ADE9C-D95C-4000-A521-1E6DD3906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619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DIVISIONS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38A923-7B93-4F0D-98A9-120D1956F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81100"/>
            <a:ext cx="6191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Five divisions share IP, data and talent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CEA40C-D552-4D3D-86C7-DA1DCD81A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09850"/>
            <a:ext cx="619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Software, AI, video games, robotics and technology transformation operate as one architecture, not isolated businesses.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E29944-6B30-4857-85A8-14E35EB9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71850"/>
            <a:ext cx="3143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1117">
              <a:alpha val="93333"/>
            </a:srgbClr>
          </a:solidFill>
          <a:ln xmlns:a="http://schemas.openxmlformats.org/drawingml/2006/main" w="19050">
            <a:solidFill>
              <a:srgbClr val="55E6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159329-6EBB-4383-BBD8-11A86D66D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581400"/>
            <a:ext cx="2266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</a:t>
            </a:r>
          </a:p>
          <a:p xmlns:a="http://schemas.openxmlformats.org/drawingml/2006/main">
            <a:pPr algn="ctr">
              <a:defRPr sz="180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514203-06AA-4B5E-AA20-AF174BC0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457700"/>
            <a:ext cx="384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Shared IP, data and reusable playbooks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F8C4D2-9A31-44E7-AEF1-912E6351D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0"/>
            <a:ext cx="2038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F5DFCA-F0FA-41E8-9B72-0B0D6DB9C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53050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Software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197852-A6AB-47CF-A367-B58E9D3DD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762500"/>
            <a:ext cx="19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50BAD5-A666-49F7-AA52-7D37E109F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143500"/>
            <a:ext cx="2038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50FE18-1478-4A82-A318-99E490E2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353050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Artificial intelligence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033A3E-3456-4892-9FD1-F364FB5E7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762500"/>
            <a:ext cx="19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85E714-78A3-4DCA-AA43-029B67459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143500"/>
            <a:ext cx="2038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E3544C-6EE0-4C19-9102-D2E57859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353050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Video games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AA5AEB-9537-4D3F-BCE6-8FE878AD3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762500"/>
            <a:ext cx="19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BB63FD-C3C1-4A57-9B20-E35E4AEFF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143500"/>
            <a:ext cx="2038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1FCE11-44DC-4E4C-BA7A-71CDABBB9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353050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Robotics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8D470A-6369-456E-95E7-D6D58CABA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762500"/>
            <a:ext cx="19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B2DFAA-3152-4264-A09D-A671C31DD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143500"/>
            <a:ext cx="2038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88E74A-9F9E-4E2B-9654-516F7979A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5353050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Technology consulting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3C58A8-21B2-4C6F-94D1-8FBE73D8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4762500"/>
            <a:ext cx="19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B58E49-DF82-43FA-8603-90CC0C8BF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762500"/>
            <a:ext cx="8686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9EDA6C-615B-42BC-B142-93814E57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9C4EFC-25BB-40DD-B583-BD9A1C407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9FEEE9-71B0-4069-B8AB-91A987EE3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EN / 07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ED960A-5D9C-47A4-B92B-3D211F6AE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36422158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ee20fafd5f43b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BEC5C6-4698-4ABC-A419-1CEED1EA2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0FC56C-F525-4869-999B-E8273CD9C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658055-1880-40C6-BCEE-9BFC187B6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600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B476FD-B1EE-4755-8519-01CDFBE39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76350"/>
            <a:ext cx="6000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Service revenue today, scalable products tomorrow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5CB8D7-E2A5-401C-93B4-0719CAEC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6000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The model combines consulting, implementation, subscriptions, licensing, academy programs and future technology spin-offs.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1A90D0-B430-49A2-B4E6-DCF04021D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FF3DBB-965F-4C1A-B935-48C6704BA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530180-7B3F-41BF-9329-A21C7E6E8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Services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CBBFDB-164A-4747-89F0-FA447E97F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4196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353077-E36C-4E5A-807F-DFF0E4AFF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413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F95D22-C3C1-44BD-8C74-424C1F062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863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8D43C1-AE79-4936-A7A2-65BE17DE7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863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SaaS and licensing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8A2176-001D-465D-ABFB-23B2CFD36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44196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BEF094-01D6-49DF-8C1D-198E7142C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0704C0-A7D4-4DBD-BC3B-9203CE057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09FAF0-4D69-4914-A3BA-9BD1B25FD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Academy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0CA3EC-00E7-4426-A1DD-4662DF45A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5288" y="44196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88E873-EE39-4364-96FB-A8B9A8E6B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8638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BECC94-1DB3-4CAF-9205-6132F8CF7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088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A6E6EE-6D4E-4056-830C-9A90F2DF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088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Ventures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582F19-6503-4F82-B808-5A4C83F1E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391150"/>
            <a:ext cx="7905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Each layer can monetize independently while feeding data, references and reusable modules back into the platform.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ADCD0B-1A76-4060-B4BC-48DD227ED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9B5B18-A5FE-4BE0-A8EB-994E165BA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0BCA4F-50FF-4E42-B52E-5E9FD35CD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EN / 08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D94B32-5758-43E9-BB2B-023A22D80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78058543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b6c187ec6f4d7a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CF58A0-F056-4B57-93D8-56B77B804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2BF351-2042-423C-971D-736C127CA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206497-4CD5-4D09-B4E1-A6B665024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571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GO-TO-MARKET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29C88A-B065-46DF-9ABB-8AE5B57E3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76350"/>
            <a:ext cx="5715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Enter through operational pain, expand through platform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E2FBE4-A530-4816-90D2-7CF45D6E9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5715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Tecnotitan can start with AI and software projects for companies, then expand with products that solve recurring use cases.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8EE0F6-DB27-42CA-83A5-B13488EE8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4478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2EA092-E86F-4181-9A65-F338FF40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6097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4237C5-75F6-44D3-A3EA-BFD966B0F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906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LatAm as base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43FB8D-C795-4434-8028-040ABCA23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2479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0F7B0E-7DEB-44FF-86F5-30A1C0570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4098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C43706-03C5-4051-B482-A7D202CA2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3907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Mid-market and enterprise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C190E6-53BF-4F5B-89CD-9D760786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480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DBEBBF-AF2B-4B4B-AFF2-E61628206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2099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1D0CD-45A0-4427-AADE-CF00D53B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908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Global partners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72CA79-0A1F-47FC-87DC-4BE2C0495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8481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44AA9E-0DC9-474B-839A-A64389ECC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0100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474CE6-B5D8-477E-AF51-8BF8BEFBE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909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Strategic investors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552234-456D-4925-953A-9AABB9F2C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344630-F362-4834-ABF1-972C94D48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FBE5A5-C1F2-43E7-A478-197EBEEC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Pilot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95787D-ACA8-4161-BA6A-9C994CE10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4673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E5F99C-5E78-4B8E-8D19-404F1F951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F99DA8-F665-4ECA-842D-167A4B7EC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75F4BC-F249-4199-BBEE-9BA6A524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Implementation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9E8277-61DE-46DE-9253-2F905E950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4673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48D63E-5ECA-404A-BB9C-E12E665CC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F828FB-B1A0-42B4-8C83-66931EA2B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20E8B3-5F82-450C-B6A0-2FF265370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Product expansion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105933-85CC-4375-AB39-F7517FC8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4673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3EC9BC9-6C65-4C9D-B41E-87883C968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93BE73-052C-4BCC-BBA5-B1631E34E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2466882-1BF8-4397-BD3B-C4BE4526F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Strategic partner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222B951-0748-45C4-9F75-7316CA86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B017F02-A54C-4014-89A4-593ED5D4C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80A021B-40E9-4985-9963-D3AFCB922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EN / 09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3D00DA5-844C-4F66-890E-89390BA96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11811621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7f7afc6adb417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7D3A9D-302D-4BCE-9332-D161FC13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9323BE-D0D4-41A5-A887-603AAA6F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492AA5-1135-485E-B81C-54605EA01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95350"/>
            <a:ext cx="609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TEAM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DD19AE-8928-4D23-A607-D250E6029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95400"/>
            <a:ext cx="6096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A lean founding team focused on execution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C88E91-73BE-4E8E-80B6-53CE2CA76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6096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David Arias Giraldo leads the vision as CEO. The company currently has one full-time consultant and two programmers.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F91035-7590-4ACB-949F-CC08D77B5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A73455-6626-448B-8B16-C2ECE97B3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Founder CEO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72A38F-9C83-4403-B3F5-EB9AD963E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1363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A41087-6F20-49FE-A133-431249A13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2813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Consulting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680A12-1722-48B0-A895-E8D94838E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B348EE-A3C7-4287-9292-65637EAE2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Engineering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C8CEC4-DB68-4FAC-8211-8EA5C2B42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6288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B1D2F9-6F10-4058-A56A-0534688A5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7738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Next hires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4C69A4-A8E8-4E8A-A677-A3E0C6976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102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Hiring priorities: product engineering, AI delivery, sales development and investor relations.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6709AD-21BF-454D-A6F4-ED919C09F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16E326-8D90-47FC-A722-99585117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508320-8341-4FAE-84C8-279FD9F9B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EN / 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B1426C-1EEA-421E-9DA8-EBF74AF2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52928048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e13197a4ad421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910558-3B26-463E-8DD6-025912E73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FEF815-BDB5-441E-A501-116B9E323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60D34E-9854-41EB-9D93-078BB7C94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ROADMAP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9F4333-C0BC-4723-B1FF-96733A6F4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76350"/>
            <a:ext cx="5905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From validation to a regional technology platform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8E8B55-5304-44D8-AF08-A1330A7C9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590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The path prioritizes real cases, proprietary products, internal automation and commercial expansion with an investor-ready focus.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C5E6C2-1459-4314-8E35-A58E58A1F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2806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576794-E4E5-487C-913D-304AF2C70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719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7150BF-D8C1-4F2E-8438-CF0885470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14850"/>
            <a:ext cx="2463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2026: cases and MVPs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EF6D4B-6D98-476D-BA14-3C2194085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6850" y="45910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D9E921-5309-4819-9684-AFE913C86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0200" y="4000500"/>
            <a:ext cx="2806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E10E55-1A27-412C-ABB9-393704D65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50" y="41719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68A004-1ADA-4040-A6D2-7F840C2B3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50" y="4514850"/>
            <a:ext cx="2463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2027: product and IP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38A43F-F1D0-42E3-ADA4-6A6567BDC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000" y="45910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776EC9-6CB3-4651-84FD-AF3C2121D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8350" y="4000500"/>
            <a:ext cx="2806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5B59B2-2D60-45E6-9C85-2607A1D22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9800" y="41719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0E82F1-5BF6-4D2C-8F9B-D797C08D2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9800" y="4514850"/>
            <a:ext cx="2463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2028: regional scale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D415EC-43CD-417C-B7E7-6FE50218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08C45B-86AA-40FA-B141-32B0F25FD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F40FB1-ECEE-4C7F-AEE5-239C1746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EN / 11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8C9301-B7E2-44BA-B44B-723F18380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3869344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e8a2cab6404ec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643679-49A6-40D1-BF4C-1B8CE0D69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A763F6-1E03-4AF7-84EE-A144E9156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280814-74F3-49B0-A17E-83DE5F57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47750"/>
            <a:ext cx="6572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INVESTMENT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8FE2C5-D157-4BDB-AC22-F37E9476D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6572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We seek capital and partners to accelerate product, sales and talent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EE7966-358B-42CA-9188-41C0E4CAE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76550"/>
            <a:ext cx="6572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Tecnotitan is building a multi-division technology company with global ambition from Latin America.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38BC7E-F0A1-4340-8B60-7C8D3A359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5430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0526B2-79F4-4E5C-A7D1-5C104162C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7049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9F7A88-67AF-41B8-9332-FFC3B4120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6859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Product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84DAD6-BCB5-493D-BF95-2C54DF144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431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376FE0-EA08-43E2-AB5E-3FA749D8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5050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229DD7-EABD-43F1-A702-0C4081877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860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Sales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21CF96-EE60-4250-93F4-48E3498AF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432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0A3202-3AB3-4E7E-82C3-65BF53D55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051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610230-957F-44B9-B98D-094961D65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861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Technical talent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933F91-10AF-4C88-862E-41113CE6B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9433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7EB154-BA55-4067-A3D1-E5FA0B7F8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1052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15DE0E-B55A-426E-835D-2D9588AC6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862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Data room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58273F-D614-482A-950F-88533F7A0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86350"/>
            <a:ext cx="581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0">
              <a:alpha val="86667"/>
            </a:srgbClr>
          </a:solidFill>
          <a:ln xmlns:a="http://schemas.openxmlformats.org/drawingml/2006/main" w="9525">
            <a:solidFill>
              <a:srgbClr val="55E6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F255A7-D91F-4946-B3A3-C281E2442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314950"/>
            <a:ext cx="523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info@tecnotitan.com  |  www.tecnotitan.com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131DDF-821D-455D-B1AF-F320A2C77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BA6FC1-A526-47FF-A8A4-B1DB7583A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07839E-3C89-44DD-B784-D9922FD13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EN / 12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6627F2-5087-4512-B348-3FFBB3529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2534487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2026-06-06T04:15:36.1620000Z</dcterms:created>
  <dcterms:modified xsi:type="dcterms:W3CDTF">2026-06-06T04:15:36.1620000Z</dcterms:modified>
</coreProperties>
</file>