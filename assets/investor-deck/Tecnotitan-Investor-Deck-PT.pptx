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2183cbd6b4f42b9" /><Relationship Type="http://schemas.openxmlformats.org/officeDocument/2006/relationships/extended-properties" Target="/docProps/app.xml" Id="Rd7249c7f56a04d82" /><Relationship Type="http://schemas.openxmlformats.org/officeDocument/2006/relationships/officeDocument" Target="/ppt/presentation.xml" Id="Rb699e94521f44e1e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f432d05a6f14b83"/>
  </p:sldMasterIdLst>
  <p:notesMasterIdLst>
    <p:notesMasterId xmlns:r="http://schemas.openxmlformats.org/officeDocument/2006/relationships" r:id="Ra11ee16271ad4d68"/>
  </p:notesMasterIdLst>
  <p:sldIdLst>
    <p:sldId xmlns:r="http://schemas.openxmlformats.org/officeDocument/2006/relationships" id="256" r:id="R584a9e64a32f4d23"/>
    <p:sldId xmlns:r="http://schemas.openxmlformats.org/officeDocument/2006/relationships" id="257" r:id="R51f8cede915f4a19"/>
    <p:sldId xmlns:r="http://schemas.openxmlformats.org/officeDocument/2006/relationships" id="258" r:id="R989e85e7fc1044a2"/>
    <p:sldId xmlns:r="http://schemas.openxmlformats.org/officeDocument/2006/relationships" id="259" r:id="R6ab771ae4e684694"/>
    <p:sldId xmlns:r="http://schemas.openxmlformats.org/officeDocument/2006/relationships" id="260" r:id="Rf0022138ce39453e"/>
    <p:sldId xmlns:r="http://schemas.openxmlformats.org/officeDocument/2006/relationships" id="261" r:id="R5274db2bccde4ca7"/>
    <p:sldId xmlns:r="http://schemas.openxmlformats.org/officeDocument/2006/relationships" id="262" r:id="Ra67e97260e364836"/>
    <p:sldId xmlns:r="http://schemas.openxmlformats.org/officeDocument/2006/relationships" id="263" r:id="Ref9bff16a5074e55"/>
    <p:sldId xmlns:r="http://schemas.openxmlformats.org/officeDocument/2006/relationships" id="264" r:id="R1b370d9f2979460e"/>
    <p:sldId xmlns:r="http://schemas.openxmlformats.org/officeDocument/2006/relationships" id="265" r:id="R280b61a6bf574197"/>
    <p:sldId xmlns:r="http://schemas.openxmlformats.org/officeDocument/2006/relationships" id="266" r:id="R77a66de17e184d1f"/>
    <p:sldId xmlns:r="http://schemas.openxmlformats.org/officeDocument/2006/relationships" id="267" r:id="R8f801576a3dd4587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ddfb2e76dd14824" /><Relationship Type="http://schemas.openxmlformats.org/officeDocument/2006/relationships/slideMaster" Target="/ppt/slideMasters/slideMaster1.xml" Id="R7f432d05a6f14b83" /><Relationship Type="http://schemas.openxmlformats.org/officeDocument/2006/relationships/notesMaster" Target="/ppt/notesMasters/notesMaster1.xml" Id="Ra11ee16271ad4d68" /><Relationship Type="http://schemas.openxmlformats.org/officeDocument/2006/relationships/presProps" Target="/ppt/presProps.xml" Id="Rb29d4554c8054709" /><Relationship Type="http://schemas.openxmlformats.org/officeDocument/2006/relationships/viewProps" Target="/ppt/viewProps.xml" Id="Ra9fdaadea3304a29" /><Relationship Type="http://schemas.openxmlformats.org/officeDocument/2006/relationships/tableStyles" Target="/ppt/tableStyles.xml" Id="R1aeb96a17af141db" /><Relationship Type="http://schemas.openxmlformats.org/officeDocument/2006/relationships/slide" Target="/ppt/slides/slide1.xml" Id="R584a9e64a32f4d23" /><Relationship Type="http://schemas.openxmlformats.org/officeDocument/2006/relationships/slide" Target="/ppt/slides/slide2.xml" Id="R51f8cede915f4a19" /><Relationship Type="http://schemas.openxmlformats.org/officeDocument/2006/relationships/slide" Target="/ppt/slides/slide3.xml" Id="R989e85e7fc1044a2" /><Relationship Type="http://schemas.openxmlformats.org/officeDocument/2006/relationships/slide" Target="/ppt/slides/slide4.xml" Id="R6ab771ae4e684694" /><Relationship Type="http://schemas.openxmlformats.org/officeDocument/2006/relationships/slide" Target="/ppt/slides/slide5.xml" Id="Rf0022138ce39453e" /><Relationship Type="http://schemas.openxmlformats.org/officeDocument/2006/relationships/slide" Target="/ppt/slides/slide6.xml" Id="R5274db2bccde4ca7" /><Relationship Type="http://schemas.openxmlformats.org/officeDocument/2006/relationships/slide" Target="/ppt/slides/slide7.xml" Id="Ra67e97260e364836" /><Relationship Type="http://schemas.openxmlformats.org/officeDocument/2006/relationships/slide" Target="/ppt/slides/slide8.xml" Id="Ref9bff16a5074e55" /><Relationship Type="http://schemas.openxmlformats.org/officeDocument/2006/relationships/slide" Target="/ppt/slides/slide9.xml" Id="R1b370d9f2979460e" /><Relationship Type="http://schemas.openxmlformats.org/officeDocument/2006/relationships/slide" Target="/ppt/slides/slide10.xml" Id="R280b61a6bf574197" /><Relationship Type="http://schemas.openxmlformats.org/officeDocument/2006/relationships/slide" Target="/ppt/slides/slide11.xml" Id="R77a66de17e184d1f" /><Relationship Type="http://schemas.openxmlformats.org/officeDocument/2006/relationships/slide" Target="/ppt/slides/slide12.xml" Id="R8f801576a3dd45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e232184f1c7b42b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a2d74a4e99f4e00" /><Relationship Type="http://schemas.openxmlformats.org/officeDocument/2006/relationships/notesMaster" Target="/ppt/notesMasters/notesMaster1.xml" Id="R913578777f0c479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b4c6f10ac4394a4d" /><Relationship Type="http://schemas.openxmlformats.org/officeDocument/2006/relationships/notesMaster" Target="/ppt/notesMasters/notesMaster1.xml" Id="Re25d971f44ea446e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886497c1de6455f" /><Relationship Type="http://schemas.openxmlformats.org/officeDocument/2006/relationships/notesMaster" Target="/ppt/notesMasters/notesMaster1.xml" Id="R6dfba101ed41424d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82465e6af8e6491f" /><Relationship Type="http://schemas.openxmlformats.org/officeDocument/2006/relationships/notesMaster" Target="/ppt/notesMasters/notesMaster1.xml" Id="R08a0a05c54cc43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cde846bdc36e4f98" /><Relationship Type="http://schemas.openxmlformats.org/officeDocument/2006/relationships/notesMaster" Target="/ppt/notesMasters/notesMaster1.xml" Id="R594a941ee43446bf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7d8316d7b3f4c2e" /><Relationship Type="http://schemas.openxmlformats.org/officeDocument/2006/relationships/notesMaster" Target="/ppt/notesMasters/notesMaster1.xml" Id="R07f5ff97db94411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230b15c3c044b07" /><Relationship Type="http://schemas.openxmlformats.org/officeDocument/2006/relationships/notesMaster" Target="/ppt/notesMasters/notesMaster1.xml" Id="Ra59e7e0b306949e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b3bbc7f22454813" /><Relationship Type="http://schemas.openxmlformats.org/officeDocument/2006/relationships/notesMaster" Target="/ppt/notesMasters/notesMaster1.xml" Id="R832ab4fd9b2649e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cef7347d3ca4d46" /><Relationship Type="http://schemas.openxmlformats.org/officeDocument/2006/relationships/notesMaster" Target="/ppt/notesMasters/notesMaster1.xml" Id="R38f550085996440d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3f7ce62bf4ef48af" /><Relationship Type="http://schemas.openxmlformats.org/officeDocument/2006/relationships/notesMaster" Target="/ppt/notesMasters/notesMaster1.xml" Id="R8af70ce2fe60440e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66c4353e12a491b" /><Relationship Type="http://schemas.openxmlformats.org/officeDocument/2006/relationships/notesMaster" Target="/ppt/notesMasters/notesMaster1.xml" Id="R0d29d3901cb8406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15ed574e8984f22" /><Relationship Type="http://schemas.openxmlformats.org/officeDocument/2006/relationships/notesMaster" Target="/ppt/notesMasters/notesMaster1.xml" Id="R30f23d8ca34e4ba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ee775585fd44671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1b48b1aaacd49b7" /><Relationship Type="http://schemas.openxmlformats.org/officeDocument/2006/relationships/slideLayout" Target="/ppt/slideLayouts/slideLayout1.xml" Id="R35040c80297b457e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040c80297b457e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9d0b4bcefaa47dc" /><Relationship Type="http://schemas.openxmlformats.org/officeDocument/2006/relationships/image" Target="/ppt/media/image.jpeg" Id="R5bb62d4f1f334111" /><Relationship Type="http://schemas.openxmlformats.org/officeDocument/2006/relationships/notesSlide" Target="/ppt/notesSlides/notesSlide1.xml" Id="Rfbaece42ef0a4565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b715bb9d5f4b7f" /><Relationship Type="http://schemas.openxmlformats.org/officeDocument/2006/relationships/image" Target="/ppt/media/image2.jpeg" Id="R9d736863464940b5" /><Relationship Type="http://schemas.openxmlformats.org/officeDocument/2006/relationships/notesSlide" Target="/ppt/notesSlides/notesSlide2.xml" Id="R8ae016b1a2e34c9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6d311a6d1f4ce8" /><Relationship Type="http://schemas.openxmlformats.org/officeDocument/2006/relationships/image" Target="/ppt/media/image3.jpeg" Id="R8d269997407f424d" /><Relationship Type="http://schemas.openxmlformats.org/officeDocument/2006/relationships/notesSlide" Target="/ppt/notesSlides/notesSlide3.xml" Id="R4ed43e32b91d46fd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2af1a32fe24985" /><Relationship Type="http://schemas.openxmlformats.org/officeDocument/2006/relationships/image" Target="/ppt/media/image4.jpeg" Id="R79e6838397a44327" /><Relationship Type="http://schemas.openxmlformats.org/officeDocument/2006/relationships/notesSlide" Target="/ppt/notesSlides/notesSlide4.xml" Id="R61e4f9e7f90549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0e17275bde486b" /><Relationship Type="http://schemas.openxmlformats.org/officeDocument/2006/relationships/image" Target="/ppt/media/image5.jpeg" Id="R3f9ce175e2b941a8" /><Relationship Type="http://schemas.openxmlformats.org/officeDocument/2006/relationships/notesSlide" Target="/ppt/notesSlides/notesSlide5.xml" Id="R8d978fe26f4b4e9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75dbced3e94e54" /><Relationship Type="http://schemas.openxmlformats.org/officeDocument/2006/relationships/image" Target="/ppt/media/image6.jpeg" Id="R2dd4115d6ccf44aa" /><Relationship Type="http://schemas.openxmlformats.org/officeDocument/2006/relationships/notesSlide" Target="/ppt/notesSlides/notesSlide6.xml" Id="Rbc189eb2d49c4b9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b689417ef854752" /><Relationship Type="http://schemas.openxmlformats.org/officeDocument/2006/relationships/image" Target="/ppt/media/image7.jpeg" Id="R52c543a7b85d40cb" /><Relationship Type="http://schemas.openxmlformats.org/officeDocument/2006/relationships/notesSlide" Target="/ppt/notesSlides/notesSlide7.xml" Id="R30f75ab89554458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f3789880764ad1" /><Relationship Type="http://schemas.openxmlformats.org/officeDocument/2006/relationships/image" Target="/ppt/media/image8.jpeg" Id="R35d4d6e2b2a94359" /><Relationship Type="http://schemas.openxmlformats.org/officeDocument/2006/relationships/notesSlide" Target="/ppt/notesSlides/notesSlide8.xml" Id="R1c5e07f04dc2482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a5b70bc1764161" /><Relationship Type="http://schemas.openxmlformats.org/officeDocument/2006/relationships/image" Target="/ppt/media/image9.jpeg" Id="Rd9e60495fbcb4b7d" /><Relationship Type="http://schemas.openxmlformats.org/officeDocument/2006/relationships/notesSlide" Target="/ppt/notesSlides/notesSlide9.xml" Id="R9f853848a66d47a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8c13f3cfcf04c2d" /><Relationship Type="http://schemas.openxmlformats.org/officeDocument/2006/relationships/image" Target="/ppt/media/image10.jpeg" Id="Reb9863b91dec4300" /><Relationship Type="http://schemas.openxmlformats.org/officeDocument/2006/relationships/notesSlide" Target="/ppt/notesSlides/notesSlide10.xml" Id="Rdc966340a14e4b4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c9ea3a4b7824c44" /><Relationship Type="http://schemas.openxmlformats.org/officeDocument/2006/relationships/image" Target="/ppt/media/image11.jpeg" Id="Rc90c9532aa614e20" /><Relationship Type="http://schemas.openxmlformats.org/officeDocument/2006/relationships/notesSlide" Target="/ppt/notesSlides/notesSlide11.xml" Id="R365082be42154338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ac0e740e8224e2a" /><Relationship Type="http://schemas.openxmlformats.org/officeDocument/2006/relationships/image" Target="/ppt/media/image12.jpeg" Id="R858f5045c6ff48c5" /><Relationship Type="http://schemas.openxmlformats.org/officeDocument/2006/relationships/notesSlide" Target="/ppt/notesSlides/notesSlide12.xml" Id="R61aafd7b05614eb1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b62d4f1f334111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EE2D69-F08B-463C-9844-80838F09C1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D294C6-BFD1-4051-8519-38984BB63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CB0BDE-4449-48DB-8774-6F678472D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49530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TECNOTITAN CORPORATE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6D2BB6-EC47-4901-AC07-55F1C974C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9055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40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207C12-012D-4AED-A20E-D7721FC39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14550"/>
            <a:ext cx="20002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378A55-3C7D-4E5E-B6EF-25018D411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33650"/>
            <a:ext cx="6572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550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Tecnologia aplicada para empresas que precisam construir o futuro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E93532-C798-449D-9532-CCC794F13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57625"/>
            <a:ext cx="619125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inteligência artificial, videogames, robótica e consultoria de transformação tecnológica da Colômbia para mercados globais.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51E6CB-760B-44A7-83A8-681D140A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95875"/>
            <a:ext cx="2571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E6F850-E5D6-40A4-B854-B78F8AA1A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5200650"/>
            <a:ext cx="22669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David Arias Giraldo, CEO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FF6F375-01FC-4458-B233-377DCCDD9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5200" y="5095875"/>
            <a:ext cx="23812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0000"/>
            </a:srgbClr>
          </a:solidFill>
          <a:ln xmlns:a="http://schemas.openxmlformats.org/drawingml/2006/main" w="9525">
            <a:solidFill>
              <a:srgbClr val="244D5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2C21D23-9EBC-46D8-B3D4-18DE11032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00650"/>
            <a:ext cx="20764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Investor Deck / 2026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A61519-B430-47E9-8AE8-A7D905995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A94A7B-5E0C-42A0-BF2D-A577A6129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507C989-4148-47D0-9F5A-06B6F82A9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6 linhas de produto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8728E5-0B19-4000-8201-DC903DBFE9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5DF2673-35AF-4671-A58D-2B4ADE96E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F1C7B0-5214-4CCC-B062-64884705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5 divisões tecnológicas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F39B563-AE27-410E-B3E3-3F4A12CBF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D98A345-3038-4470-86B2-5BADA84E37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DE362E-5FE2-44E2-A936-B7E1D76771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Equipe lean em execução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7F0B14F-3956-47AB-9910-0B629AB2B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27DBDA0-797C-4D97-9EA4-22473DB6C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72998BF-3FFE-44B9-99E5-0D19B7C21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01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B037D47-33B1-4FA5-8249-779E6FE38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78508138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d736863464940b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437F2-8CFB-425D-B992-2382EC737E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EF3248E-031A-4C10-9C5F-F053AADB7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E6AA8B-D59E-4116-9629-E3B15756B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049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TESE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DAB92F-34BF-4A97-9922-CBF33E6F1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5049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Empresas precisam de builders, não apenas consultores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D3559F-26E7-4059-A142-1D87FE101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337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adoção real de IA exige diagnóstico, software, dados, automação e cultura operacional trabalhando como um sistema.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4257BA9-72E4-4677-8A3C-99C0F777F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6C108A5-F990-4E4D-853A-EAFB632639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7DECF-65A3-4C49-910C-C55C349D1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+ software como núcleo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F483360-69B4-4030-91F6-71DB63489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4970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F8892B1-9276-4B5E-9834-4530057E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305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EAEB68-2DD0-4BA9-B7A5-F187BE5EB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42EE073-8126-4686-8919-5558E7719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Experiências interativas de adoção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5277C-AE79-478F-B4BC-27CE29DFCE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08850" y="52197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C92B42A-691D-432F-8B91-E8ADD2B0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2200" y="4629150"/>
            <a:ext cx="3187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C5034-6AAE-4778-B5FA-BAFF8DE43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48006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429E68-65AF-4E75-8E55-903ED5B4C3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13650" y="5143500"/>
            <a:ext cx="2844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 e automação como fronteira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2A5B0C-624D-4707-AB46-018C215B0B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AC9A7A-F701-42FF-8958-C376E8992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79466E-FE47-418C-9765-AFE9B2CFD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D418CF-54B5-4421-AAD0-6E08BE1E7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51078566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69997407f424d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8DAB6EC-A8B2-46DB-B08D-AC644AFF24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01DA4B8-6307-4435-B432-57859103D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C88AF1-2464-4814-9CE8-34CCCE1F7F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5619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PROBLEMA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A2A55-41C8-4EA8-ADDB-4758B97CE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28750"/>
            <a:ext cx="5619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transformação tecnológica trava quando vive em silos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C59D78B-332E-4BCE-9E0B-83D55ECB9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57500"/>
            <a:ext cx="5619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Muitas empresas têm processos manuais, dados subutilizados, pressão para implementar IA e equipes sem um caminho claro de ideias a produtos.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575B659-4A67-4A9A-A066-DCE1EE010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15240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F203B7-D75E-4BD5-9C04-F5FEB4EFC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1685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6D5FD3-B3AA-403F-B902-FDC2B20DC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668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Trabalho repetitivo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71AFE6-4C43-4024-8525-2A7C33075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23241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C56983-C73B-4AA1-873E-6985E13514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2486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4C4CF0-D630-496F-9723-A279DBDB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69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Dados sem ação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3343E8-7230-482D-9CA7-1E75DC5198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1242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0260F2-8EBD-4274-A856-69DE64ECB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32861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DF274F1-4071-4621-B5F9-47816F9DA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2670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IA sem adoção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F98CC6E-15F9-4F87-B619-21A14A154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91375" y="3924300"/>
            <a:ext cx="347662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188936-224A-41CA-A854-C894BEF50E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62825" y="40862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F642F58-A8DD-476F-9D8F-F632456C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067175"/>
            <a:ext cx="2600325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sem playbooks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B6FB6BF-B797-4479-8779-2950DEB90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6291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Manual workflows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DF6DBD-13B0-4B94-BFA0-284D59F73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5B6015-48F4-4384-BA4E-4FFF567CE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95850"/>
            <a:ext cx="2476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5E6FF"/>
          </a:solidFill>
          <a:ln xmlns:a="http://schemas.openxmlformats.org/drawingml/2006/main" w="0">
            <a:solidFill>
              <a:srgbClr val="55E6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6B829C5-B75F-4C25-930F-B0386D865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Data activation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7051AD-5EEC-4904-9FAF-BE56F495A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FE4D4A-3A26-4EFA-8E6E-D93EB6BD4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7145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1F5A0"/>
          </a:solidFill>
          <a:ln xmlns:a="http://schemas.openxmlformats.org/drawingml/2006/main" w="0">
            <a:solidFill>
              <a:srgbClr val="41F5A0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F459438-F7F0-419E-91F7-D7E2F4FE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95950"/>
            <a:ext cx="34290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A8B7C7"/>
                </a:solidFill>
                <a:latin typeface="Aptos"/>
                <a:ea typeface="Aptos"/>
                <a:cs typeface="Aptos"/>
              </a:rPr>
              <a:t>AI adoption gap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8B15516-23B4-4C19-9287-B60788DE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3429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5"/>
          </a:solidFill>
          <a:ln xmlns:a="http://schemas.openxmlformats.org/drawingml/2006/main" w="9525">
            <a:solidFill>
              <a:srgbClr val="19364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9DC264-BC91-478A-AEBD-5AECA4317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62650"/>
            <a:ext cx="283845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CF6B"/>
          </a:solidFill>
          <a:ln xmlns:a="http://schemas.openxmlformats.org/drawingml/2006/main" w="0">
            <a:solidFill>
              <a:srgbClr val="FFCF6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33E257D-FB22-4AB9-B695-CE6DC81DF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B6D2CC8-A0B9-4593-A4D3-576C2CC390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A76805-203F-4611-A8AC-54934DF25E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03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4BC68A-667E-499D-B198-EE3216062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247668284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e6838397a44327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E63564-E449-4831-81AA-7E4CAC8A2D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C06D42-77C5-422D-823C-E6A8F1CCB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F9FCE2-9EA7-40E5-9654-6B79A4FD8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PLATAFORMA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22ADA8-6D21-417B-B270-B1DDFEED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A Tecnotitan transforma consultoria em produto, e produto em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61ADCB0-15A9-45D8-B9FC-6D236AE6A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Cada projeto alimenta módulos reutilizáveis, conhecimento setorial e capacidades que aceleram novas soluções.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73184B-A720-47B5-9513-FD5E3671E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431BDE-7ECB-4B50-B9E9-830B185668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DD7BCE-B6EA-4AB7-95C2-A8A0B5C44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Diagnosticar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652351-E65E-4FCA-9A20-163EE9B47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76588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92F4F79-BD4D-42BA-A6CB-2C6F5A128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9938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31DFC7-E1D9-4CEF-83FA-F8B418411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D0922B-CCC7-4D9A-9265-93A4F00BC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Construir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EBF7B-972A-420B-AD51-2F6C38B2C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F204044-8E15-4358-ACF9-2E1D327E8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A8F9E-EE54-454B-96E8-02CDC941D6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F6DC70-BB39-4066-9F3B-21183879C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Productizar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613135C-0926-4091-BC21-08482629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7663" y="43815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D559DFE-676E-41B8-BA9A-46378EB98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1013" y="3790950"/>
            <a:ext cx="222408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8609AC-70AF-4135-8815-38AA8E2BF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39624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DCA58F5-B47C-4EE2-A498-FB9D7B347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463" y="4305300"/>
            <a:ext cx="188118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Escalar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7EE19C-641F-4130-A914-793ABC8B5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276850"/>
            <a:ext cx="8286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Reusable IP, sector knowledge and operating playbooks compound across every project.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5F87D9-B660-4D46-80C8-4ECB8F558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33B7851-9F83-4FD8-92EA-C18D4341F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DF5BCE8-F2AF-483B-8E90-9F58B01C4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04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12AAD5-C843-48CA-865A-3D854D044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15777584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f9ce175e2b941a8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67C59A9-1E2A-47A3-8B3F-85EB236D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1B8AED-ACDE-4219-9F4B-0558AE426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C340F-04BB-49CF-9C28-EC9B44AAB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3820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PORTFÓLIO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A09AA-78B3-474E-AE88-DADEA2F9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3825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Um sistema de produtos para empresas, talentos e experiências digitais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DC6655-9300-4213-B3EC-1163756CC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6700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 portfólio foi desenhado para entrar por necessidades urgentes e expandir para operação, aprendizado e inteligência aplicada.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185A337-D89E-43FB-BEF7-26E7FBFDD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C041387-FBF5-4BDA-BCDE-AF3C1C0751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Copiloto Pyme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ACB80A-0D96-494F-817E-613F8811D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08FAAA-A8C0-4FA3-9563-1016F6187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407996-D344-4CC6-838B-9D581326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36195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D27BA8-B7F6-4818-9646-90D26E36A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8290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Life Copilot app móvel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DC14E4-2374-4619-92D7-9441E2034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B8F342D-2C93-4D72-ADCB-E885D85A2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 Engine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34039-B3FF-4AAB-89EC-51B5B7F16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6D373F8-CEBB-46C8-84ED-192103B7C5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 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BA41CA-1C13-4042-8DDB-D6C7410E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4572000"/>
            <a:ext cx="32766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9D67728-384E-4C2A-836A-0FC16111B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81550"/>
            <a:ext cx="29337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Call Center AI 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EC376F8-20B8-4CA5-8EF9-56586A8CB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3BCEC9-673E-4F25-ADAA-45D910F49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18D53E-6C35-43C3-922C-BE8DFA87C8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DF8FBD-102A-4910-A1E0-C759D1B68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69447631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4115d6ccf44aa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EDE407-3DC0-49C3-8E04-90C3B7271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0446AF-21AD-4E2E-9D90-2FA4D0556D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0CB58B-9FCB-46D6-BDEF-660309949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933450"/>
            <a:ext cx="5810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SERVIÇOS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52C0BA-C5CE-4D08-87C3-5896851E0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33500"/>
            <a:ext cx="5810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Consultoria acelera receita e aprendizado de mercado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745EDE8-B6BF-4FBA-ADA1-73C66FFFA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62250"/>
            <a:ext cx="5810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Os serviços geram confiança, revelam problemas reais e convertem implementações em ativos repetíveis.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3FFCF6-36AB-435D-9EF4-1B26658DC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3797EF-0D24-4EA8-BFD6-B6D6029244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6284E7-06CF-4A36-A2AE-B00B510F3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Diagnóstico de IA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68F286-B757-4B79-A733-914DF6D87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95638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0B1C19-98C3-4E6C-B312-B8C1163A2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8988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045FC58-F6C8-41E1-832D-046079B745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292A92-4741-4158-AD67-639F6024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00438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Roadmap tecnológico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D7EEDE4-F221-42E1-84CF-232BFB9033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8E978-3A0E-426C-8802-5AB58B979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05475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1B33E9-8D5A-4420-BA71-5399C108E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860E2C-C609-4438-AFB0-D9EFCB4FB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76925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Implementação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DE48579-09CA-4C1D-BEE3-760C209F9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8613" y="44958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F896C1C-BADB-493F-ACEB-78F505CDE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1963" y="3905250"/>
            <a:ext cx="2205038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221AC9-9BC5-4F1D-9E8E-5C09E2AA6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0767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B4D1EBE-5352-402A-BC53-B4759C9B3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3413" y="4419600"/>
            <a:ext cx="1862138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Adoção e treinamento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6CD4A5-9212-434D-94E7-F44655BE6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5450" y="5429250"/>
            <a:ext cx="79057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Services are the market-sensing engine that turns demand into product decisions.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4DCC1E7-9883-4112-95A2-4C1D99B7A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13CA3E-F7C6-40F2-BF64-D765745FD5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501FFE1-BE1C-4233-B0E5-C06B68F08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93FC29-6C75-45E8-94D7-684EBC27C9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12492852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2c543a7b85d40cb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7C93472-9918-4F73-9E0A-A43B055B0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32DA335-000E-4C6F-9D3D-7A94A822C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BE558D-E3DD-486C-B06F-95A544589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781050"/>
            <a:ext cx="6191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DIVISÕES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CC7172-2216-49CD-A63F-17D921C7C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81100"/>
            <a:ext cx="6191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Cinco divisões compartilham IP, dados e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EB91B4-4EA9-4CF0-8EA5-A7A139191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09850"/>
            <a:ext cx="6191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Software, IA, videogames, robótica e transformação tecnológica operam como uma arquitetura comum, não negócios isolados.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96F9D80-73D4-4400-8B0B-21E8FA27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371850"/>
            <a:ext cx="3143250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1117">
              <a:alpha val="93333"/>
            </a:srgbClr>
          </a:solidFill>
          <a:ln xmlns:a="http://schemas.openxmlformats.org/drawingml/2006/main" w="19050">
            <a:solidFill>
              <a:srgbClr val="55E6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33FD78D-DDD2-4CF1-A1C5-21B5BB0A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3581400"/>
            <a:ext cx="226695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TECNOTITAN</a:t>
            </a:r>
          </a:p>
          <a:p xmlns:a="http://schemas.openxmlformats.org/drawingml/2006/main">
            <a:pPr algn="ctr">
              <a:defRPr sz="180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CORE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B38D06-1918-4637-9C95-C63F6366E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57700"/>
            <a:ext cx="38481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Shared IP, data and reusable playbooks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C65C832-929F-43CA-9C73-E940435D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E7C5D7-E540-4C21-88C0-614DC52FE5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Software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80E9BE-DA3E-4C20-A157-26B3E3D741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CD41D80-AE52-4AAE-8454-86DE882A1F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D1E4D6-387C-4259-B2E8-FE3622780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Inteligência artificial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F263634-54D2-4D6C-A898-02E18E774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078422-CE92-4C84-A088-84FC6B372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C14248B-4D41-4DEC-A1E3-CEECCDEB9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Videogames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43C426-3936-46ED-8DFA-55E9B80FA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5A66B8-E35A-4374-8C6C-4B1494752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BC87C2F-F195-4292-A4BB-FF48CF04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Robótica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F00C404-6FB6-4E05-8B6F-3AF8A5E795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02BD343-7D26-41AD-9BBA-8B9A7EE55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10700" y="5143500"/>
            <a:ext cx="20383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A23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EEF4E7C-385D-40C1-AEBF-3776088BB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353050"/>
            <a:ext cx="17716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Consultoria tecnológica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719D576-98DF-4891-9DEE-7875436D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0350" y="4762500"/>
            <a:ext cx="190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DBC8FF-2890-4DD4-84F3-F685CFF91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43075" y="4762500"/>
            <a:ext cx="868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85563"/>
          </a:solidFill>
          <a:ln xmlns:a="http://schemas.openxmlformats.org/drawingml/2006/main" w="0">
            <a:solidFill>
              <a:srgbClr val="285563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BE9F497-CDB1-4B34-B8DC-DF9164DB0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21A331-7E9C-4022-83C0-96B6C3D68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42551E-8A3F-4207-A88D-596221A1A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07B0FA-5D05-4D25-9D0C-CDE5B2FE3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038212782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5d4d6e2b2a9435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C8DC50-2556-428A-B56C-B49B7FFA3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52D76E4-7CCE-4B6A-9796-9E1D4F8B3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B38D47-CBA5-4871-8D37-C52024047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60007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MODELO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D4CAB6-A97A-44E5-ACBD-4A8B5F91B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60007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Receita de serviços hoje, produtos escaláveis amanhã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D1A1EF-E5F7-473B-AC2C-EE64AD023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6000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O modelo combina consultoria, implementação, assinaturas, licenciamento, academia e futuros spin-offs tecnológicos.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CE5CFE-3D76-4082-ABD3-0E185908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D1AE4-D1CB-48DD-8E83-09F1C29ED1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8E3A5C-1461-46B3-9115-74D3CF15C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Serviços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E5FFB2-231C-46D3-9ABA-5F4A5DD6C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7063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176368A-BD16-4935-9ABE-1C17CD95B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0413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80E31E7-36D9-4C84-B5B1-BC3B3A196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049E0A-8B4A-472C-AB81-8CDE88E9E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1863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SaaS e licenças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590825A-AB2E-43C3-83BC-14906B89A9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1175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77B43E-AF26-4306-95B4-A052784E1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525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2B6C479-DB8A-4BFD-A3B8-402BA688A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82979A-5A6B-4B6B-BC90-64CE371A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5975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Academia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EF7A60-51D2-4479-BC1A-CC02819C5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15288" y="441960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27F0FB8-CC5A-4A88-808D-FE4C53447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8638" y="3829050"/>
            <a:ext cx="2252663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14D310-1221-4A84-95F7-D0E45C1FF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00050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A8A1339-1AAF-4A95-B890-45E40ECBF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0088" y="4343400"/>
            <a:ext cx="1909763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Ventures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6AF67F2-95C7-43C6-83A4-8195EEFBD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391150"/>
            <a:ext cx="7905750" cy="438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Each layer can monetize independently while feeding data, references and reusable modules back into the platform.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9A4C9F7-136B-4378-BD1D-50D7A776C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D5A0027-8717-439C-B02E-11D1B4D38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23C3D7-34E4-4A0B-8729-EB655A3C0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08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681422-890D-4425-AFD4-0A282263C2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56429587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9e60495fbcb4b7d"/>
          <a:srcRect xmlns:a="http://schemas.openxmlformats.org/drawingml/2006/main" l="0" t="7813" r="0" b="78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CB42836-2DFB-4110-81D1-0C57E9895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FC168AD-9FDD-4DAD-99E9-CF0BF52B4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76F907-458C-46EB-B424-5A731B098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715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GO-TO-MARKET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081465-198D-4B3C-8970-295A07815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715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Entrar pela dor operacional, expandir pela plataforma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2134BA-E5B4-47C4-97A1-81F2A3192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715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Tecnotitan pode começar com projetos de IA e software para empresas e expandir com produtos que resolvem casos recorrentes.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CF87F8C-0C90-4ED8-84E6-B06FC6AD0F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14478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0FD46C-6157-486A-96B3-B1045EEA4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16097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2273D0-49D3-436B-B607-E7B1C473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15906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LatAm como base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62A147-31A1-45C5-9EF4-8B5522129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22479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07CA6F-C7C7-45C9-B17D-C2790AF52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24098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112CC5F-614A-454B-A4CF-0039F13DF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23907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Médias empresas e corporativos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A1FA3EF-3422-4FD2-9833-0F9CF40AA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0480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C64A3E1-788C-439E-BB16-92F2AA5ADA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32099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003B3-C205-4EFA-8752-6EEAAC4BC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1908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Parceiros globais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454DADF-FC04-453D-BC12-200554A95B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848100"/>
            <a:ext cx="34861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8FB7F72-F2CB-4E69-8BCC-31DEF8A8F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91400" y="401002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8A2DB8D-5A4F-4E5E-8CF9-D8D7388FA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86700" y="3990975"/>
            <a:ext cx="26098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Investidores estratégicos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FCF55FD-04E1-441D-BEB9-81C5784A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B166E74-7BE4-42D0-804E-2CB35B77A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0FEA1BC-D6CD-4C96-B95A-42A7EB7BC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Pilot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83560F1-BE2A-42F7-8B34-1387E9EAC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D88C060-61FD-4C3F-B54E-319FCA735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8C7D1C-D18B-4662-8386-4DF2A4361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B217E73-8DB5-48C8-88C1-06707D968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80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Implementation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331B08-159F-4A87-9F00-FBC25EA1C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E06610-B75F-4EA4-ACF3-D5A7E8DDD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0234F08-E67D-4CA8-A8AA-DBCE4DB5E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6844F5B-2542-4F3B-9757-42E277FD2B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Product expansion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93B71F-C871-47A0-99FD-82E596B58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4673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9C0307D-2F0F-4134-939B-131530C33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876800"/>
            <a:ext cx="222885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7699EB-1ECE-441A-9669-30069EE06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0482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80B6C96-D10E-4835-ADC6-B555D4EA2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391150"/>
            <a:ext cx="188595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Strategic partner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FE80DE1-E491-4F79-BDBE-3D599B0D4C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76007D-CA3D-4051-A0A9-2A740A8A1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140188-2742-49F9-ABC2-D3B88C1FF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09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8D6FD2A-FE8B-419F-B360-F1EEC10B5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935402461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b9863b91dec430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62F2DD-7AEC-4247-BDB0-14372A208F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FD4C55-5659-4A23-AEDF-591F9E0DF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4CC30-5FB5-49BB-A285-FF630D3A7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95350"/>
            <a:ext cx="60960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EQUIPE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822535-B8A8-40F6-9355-2869EAD20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95400"/>
            <a:ext cx="60960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Equipe fundadora lean com foco em execução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CF6ABC-AA4E-4753-A3E6-DC59806CD5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60960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David Arias Giraldo lidera a visão como CEO. Hoje a empresa conta com uma consultora em tempo integral e dois programadores.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7E90AFE-C153-4DA0-BD86-8F37DFD3C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8D2D7D-077F-4028-BC37-3EF088DF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CEO fundador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01D68-2B4D-481A-95D2-19C8C3349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81363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7646BB4-2639-41B2-AA62-2380CD99C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52813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Consultoria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3E8515-A124-42DA-A270-5418FBC29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38825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4566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E8CA3A4-4C96-4524-B8AA-EF0FF1BCA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Engenharia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8A31608-432E-4DFF-ABFE-082D862233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6288" y="3733800"/>
            <a:ext cx="2424113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1A4C5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6C14D4-5071-4A4C-B2D9-686A02019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67738" y="3943350"/>
            <a:ext cx="2081213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Próximas contratações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3B23F6D-109A-45C7-B090-47A7B0A0E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10200"/>
            <a:ext cx="9334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3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Hiring priorities: product engineering, AI delivery, sales development and investor relations.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3C4A5D-126C-4348-B663-27F7CFA5C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62CD0DB-9237-4DB5-9F64-024102D69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082E61-189B-4804-AB00-E41BBB232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10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27688E9-B5C8-4971-A0D6-36E24DE22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517367312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90c9532aa614e20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D66CAF4-02B4-47F0-91E6-EBF2D95E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814039-ABD4-4121-81E8-E5E40DEA85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CA7258-9475-4066-9EA1-7C63011D86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76300"/>
            <a:ext cx="59055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ROADMAP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0BCCD60-A0E7-4283-957A-05118814D0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276350"/>
            <a:ext cx="590550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Da validação a uma plataforma tecnológica regional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52F12B-0E18-470C-8134-561536AB3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05100"/>
            <a:ext cx="590550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rota prioriza casos reais, produtos próprios, automação interna e expansão comercial com foco investor-ready.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432CB7-5A6F-4A99-9E02-E5313AF7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CA7EF6-B074-4649-A698-C77FF64D3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932CBDA-ABBF-45E9-B2EB-6C2F508353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2026: casos e MVPs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9F5216-39A6-4E74-88F0-FEE8E30D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685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C5D0931-51B8-471E-BB27-D93D8B51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020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25505B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7A6131-A153-4BA1-994D-D5A4423A6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A96818-9814-46A1-B3C2-D7387E273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165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2027: produto e 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20C778-23BB-441E-AF82-552A04519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5000" y="4591050"/>
            <a:ext cx="95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D5C68"/>
          </a:solidFill>
          <a:ln xmlns:a="http://schemas.openxmlformats.org/drawingml/2006/main" w="0">
            <a:solidFill>
              <a:srgbClr val="2D5C6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AF3A9FE-8D02-49B1-8766-619FB7234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18350" y="4000500"/>
            <a:ext cx="28067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820">
              <a:alpha val="86667"/>
            </a:srgbClr>
          </a:solidFill>
          <a:ln xmlns:a="http://schemas.openxmlformats.org/drawingml/2006/main" w="9525">
            <a:solidFill>
              <a:srgbClr val="41F5A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32BD45E-F218-448C-8884-4F35540093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171950"/>
            <a:ext cx="41910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41F5A0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41F5A0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67724-C413-400E-A270-D73625CAD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9800" y="4514850"/>
            <a:ext cx="2463800" cy="457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2028: escala regional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3B9C9B0-1EEC-4904-9369-E72EE31A3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D3F5D70-5589-4075-B3C8-08A607E4C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4C5250E-82A3-4F4F-8CF0-640199D56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718B159-94B6-4FA3-BA08-1730A6AE5F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1847778701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8f5045c6ff48c5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CFAC70-2266-400F-83B7-178E15BC5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20406">
              <a:alpha val="8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EB88FA-4EC9-4CAD-99A4-5FFF5BAF3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71016">
              <a:alpha val="4000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1366F3-D542-4047-A77C-29DAB3D25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47750"/>
            <a:ext cx="657225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INVESTIMENTO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450212E-4F44-4671-B626-E05857721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447800"/>
            <a:ext cx="6572250" cy="1257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27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Buscamos capital e aliados para acelerar produto, vendas e talento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D707184-0DB0-4142-A05D-F0EF5E50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876550"/>
            <a:ext cx="65722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425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A Tecnotitan está construindo uma empresa tecnológica multidivisão com ambição global a partir da América Latina.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BE7236-70DA-4F39-B234-E73F476E98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5430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BE17A23-69F9-434E-B30C-F84CE69C9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17049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DB9B843-22D1-444D-964C-A0C3E3D5E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6859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Produto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1A9EE2-9126-446C-8A6E-0EC48962E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3431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44A8FA-30F2-45EB-9E9A-F4E71EF35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25050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AF193F6-85D2-4BF0-AAB3-38EE469849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24860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Vendas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5056B6-4088-4276-8718-4586902F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1E27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F3AD8F4-AB9D-4CD2-9443-82CA9922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33051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5CE7A4-F4E7-4AFD-8574-251B1EC9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2861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Talento técnico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E0E0558-EA99-431A-BCF6-1CCB4170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943350"/>
            <a:ext cx="314325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8151C">
              <a:alpha val="80000"/>
            </a:srgbClr>
          </a:solidFill>
          <a:ln xmlns:a="http://schemas.openxmlformats.org/drawingml/2006/main" w="9525">
            <a:solidFill>
              <a:srgbClr val="1B445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BD4009-D9AE-46B9-BB63-15B1A51E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96200" y="4105275"/>
            <a:ext cx="400050" cy="19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3B8361B-2887-4068-B0F5-4C205CEF9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086225"/>
            <a:ext cx="226695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EAF8FF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EAF8FF"/>
                </a:solidFill>
                <a:latin typeface="Aptos"/>
                <a:ea typeface="Aptos"/>
                <a:cs typeface="Aptos"/>
              </a:rPr>
              <a:t>Data room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FA6D37C-E2A0-47C6-BB95-7CF0E3A40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086350"/>
            <a:ext cx="58102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61820">
              <a:alpha val="86667"/>
            </a:srgbClr>
          </a:solidFill>
          <a:ln xmlns:a="http://schemas.openxmlformats.org/drawingml/2006/main" w="9525">
            <a:solidFill>
              <a:srgbClr val="55E6FF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EB8998-F025-4C48-97D9-853E68111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5314950"/>
            <a:ext cx="5238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55E6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55E6FF"/>
                </a:solidFill>
                <a:latin typeface="Aptos"/>
                <a:ea typeface="Aptos"/>
                <a:cs typeface="Aptos"/>
              </a:rPr>
              <a:t>info@tecnotitan.com  |  www.tecnotitan.com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E556A1-C39A-4DAB-A1D7-F53208090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2000250" cy="247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defRPr>
            </a:pPr>
            <a:r>
              <a:rPr sz="1275" b="1">
                <a:solidFill>
                  <a:srgbClr val="EAF8FF"/>
                </a:solidFill>
                <a:latin typeface="Aptos Display"/>
                <a:ea typeface="Aptos Display"/>
                <a:cs typeface="Aptos Display"/>
              </a:rPr>
              <a:t>TECNOTITAN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297FB0-9C24-49F1-971E-4E7ED2983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47700"/>
            <a:ext cx="1219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6B7D6"/>
          </a:solidFill>
          <a:ln xmlns:a="http://schemas.openxmlformats.org/drawingml/2006/main" w="0">
            <a:solidFill>
              <a:srgbClr val="16B7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71D8EA-E047-4326-9F07-937B5AA04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96550" y="361950"/>
            <a:ext cx="1066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1050" b="0">
                <a:solidFill>
                  <a:srgbClr val="A8B7C7"/>
                </a:solidFill>
                <a:latin typeface="Aptos"/>
                <a:ea typeface="Aptos"/>
                <a:cs typeface="Aptos"/>
              </a:defRPr>
            </a:pPr>
            <a:r>
              <a:rPr sz="1050" b="0">
                <a:solidFill>
                  <a:srgbClr val="A8B7C7"/>
                </a:solidFill>
                <a:latin typeface="Aptos"/>
                <a:ea typeface="Aptos"/>
                <a:cs typeface="Aptos"/>
              </a:rPr>
              <a:t>PT / 12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3A1EEB-57A6-48F4-BDA4-57D344023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0" y="6305550"/>
            <a:ext cx="2209800" cy="209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0000">
              <a:alpha val="0"/>
            </a:srgbClr>
          </a:solidFill>
          <a:ln xmlns:a="http://schemas.openxmlformats.org/drawingml/2006/main" w="0">
            <a:solidFill>
              <a:srgbClr val="000000">
                <a:alpha val="0"/>
              </a:srgbClr>
            </a:solidFill>
            <a:prstDash val="solid"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r">
              <a:defRPr sz="975" b="0">
                <a:solidFill>
                  <a:srgbClr val="6E7D8C"/>
                </a:solidFill>
                <a:latin typeface="Aptos"/>
                <a:ea typeface="Aptos"/>
                <a:cs typeface="Aptos"/>
              </a:defRPr>
            </a:pPr>
            <a:r>
              <a:rPr sz="975" b="0">
                <a:solidFill>
                  <a:srgbClr val="6E7D8C"/>
                </a:solidFill>
                <a:latin typeface="Aptos"/>
                <a:ea typeface="Aptos"/>
                <a:cs typeface="Aptos"/>
              </a:rPr>
              <a:t>www.tecnotitan.com</a:t>
            </a:r>
          </a:p>
        </p:txBody>
      </p:sp>
    </p:spTree>
    <p:extLst>
      <p:ext uri="{BB962C8B-B14F-4D97-AF65-F5344CB8AC3E}">
        <p14:creationId xmlns:p14="http://schemas.microsoft.com/office/powerpoint/2010/main" val="2113888146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2026-06-06T04:15:50.9520000Z</dcterms:created>
  <dcterms:modified xsi:type="dcterms:W3CDTF">2026-06-06T04:15:50.9520000Z</dcterms:modified>
</coreProperties>
</file>